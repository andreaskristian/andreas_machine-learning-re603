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10287000" cx="18288000"/>
  <p:notesSz cx="6858000" cy="9144000"/>
  <p:embeddedFontLst>
    <p:embeddedFont>
      <p:font typeface="Raleway"/>
      <p:regular r:id="rId45"/>
      <p:bold r:id="rId46"/>
      <p:italic r:id="rId47"/>
      <p:boldItalic r:id="rId48"/>
    </p:embeddedFont>
    <p:embeddedFont>
      <p:font typeface="Montserrat"/>
      <p:bold r:id="rId49"/>
      <p:boldItalic r:id="rId50"/>
    </p:embeddedFont>
    <p:embeddedFont>
      <p:font typeface="Open Sans ExtraBold"/>
      <p:bold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gL2J32KHmNbTVd3H2dKggnlGrm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aleway-bold.fntdata"/><Relationship Id="rId45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Italic.fntdata"/><Relationship Id="rId47" Type="http://schemas.openxmlformats.org/officeDocument/2006/relationships/font" Target="fonts/Raleway-italic.fntdata"/><Relationship Id="rId49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ExtraBold-bold.fntdata"/><Relationship Id="rId50" Type="http://schemas.openxmlformats.org/officeDocument/2006/relationships/font" Target="fonts/Montserrat-boldItalic.fntdata"/><Relationship Id="rId53" Type="http://customschemas.google.com/relationships/presentationmetadata" Target="metadata"/><Relationship Id="rId52" Type="http://schemas.openxmlformats.org/officeDocument/2006/relationships/font" Target="fonts/OpenSansExtra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Montserrat"/>
              <a:buNone/>
            </a:pPr>
            <a:r>
              <a:rPr lang="en-US" sz="1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4.jp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7.png"/><Relationship Id="rId5" Type="http://schemas.openxmlformats.org/officeDocument/2006/relationships/image" Target="../media/image43.png"/><Relationship Id="rId6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39.png"/><Relationship Id="rId5" Type="http://schemas.openxmlformats.org/officeDocument/2006/relationships/image" Target="../media/image44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953969"/>
            <a:ext cx="18288000" cy="11240970"/>
          </a:xfrm>
          <a:custGeom>
            <a:rect b="b" l="l" r="r" t="t"/>
            <a:pathLst>
              <a:path extrusionOk="0" h="12194939" w="18288000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305748" y="323497"/>
            <a:ext cx="1690679" cy="1410406"/>
          </a:xfrm>
          <a:custGeom>
            <a:rect b="b" l="l" r="r" t="t"/>
            <a:pathLst>
              <a:path extrusionOk="0" h="1410406" w="1690679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0" y="9771383"/>
            <a:ext cx="18288000" cy="515616"/>
            <a:chOff x="0" y="-38100"/>
            <a:chExt cx="3793620" cy="326159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793620" cy="288059"/>
            </a:xfrm>
            <a:custGeom>
              <a:rect b="b" l="l" r="r" t="t"/>
              <a:pathLst>
                <a:path extrusionOk="0" h="288059" w="3793620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/>
          <p:nvPr/>
        </p:nvSpPr>
        <p:spPr>
          <a:xfrm>
            <a:off x="1996427" y="395391"/>
            <a:ext cx="154333" cy="1266619"/>
          </a:xfrm>
          <a:custGeom>
            <a:rect b="b" l="l" r="r" t="t"/>
            <a:pathLst>
              <a:path extrusionOk="0" h="1266619" w="154333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01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246411" y="3239655"/>
            <a:ext cx="1379517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EDA and Feature Engineering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4740434" y="4694049"/>
            <a:ext cx="8807132" cy="188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6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Week 2</a:t>
            </a:r>
            <a:endParaRPr/>
          </a:p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6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D4 Robotics Engineering Study Program</a:t>
            </a:r>
            <a:endParaRPr/>
          </a:p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6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Department of Electrical Engineering</a:t>
            </a:r>
            <a:endParaRPr/>
          </a:p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6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Politeknik Negeri Batam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Politeknik</a:t>
            </a:r>
            <a:endParaRPr/>
          </a:p>
          <a:p>
            <a:pPr indent="0" lvl="0" marL="0" marR="0" rtl="0" algn="l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4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Negeri Batam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4110593" y="7475884"/>
            <a:ext cx="9753969" cy="432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6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  <a:endParaRPr/>
          </a:p>
        </p:txBody>
      </p:sp>
      <p:cxnSp>
        <p:nvCxnSpPr>
          <p:cNvPr id="102" name="Google Shape;102;p1"/>
          <p:cNvCxnSpPr/>
          <p:nvPr/>
        </p:nvCxnSpPr>
        <p:spPr>
          <a:xfrm>
            <a:off x="5897880" y="7082061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8377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13955786" y="-435680"/>
            <a:ext cx="4632524" cy="10996052"/>
            <a:chOff x="0" y="-47625"/>
            <a:chExt cx="1220089" cy="289608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220089" cy="2848455"/>
            </a:xfrm>
            <a:custGeom>
              <a:rect b="b" l="l" r="r" t="t"/>
              <a:pathLst>
                <a:path extrusionOk="0" h="2848455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 rot="-5400000">
            <a:off x="11952046" y="3265440"/>
            <a:ext cx="7715094" cy="3707614"/>
          </a:xfrm>
          <a:custGeom>
            <a:rect b="b" l="l" r="r" t="t"/>
            <a:pathLst>
              <a:path extrusionOk="0" h="3707614" w="771509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9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469115" y="1104918"/>
            <a:ext cx="11402445" cy="939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3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Course Learning Outcome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24600" y="2171700"/>
            <a:ext cx="12645962" cy="3261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2971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E3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Membersihkan data (mengatasi missing values &amp; outliers).</a:t>
            </a:r>
            <a:endParaRPr/>
          </a:p>
          <a:p>
            <a:pPr indent="-342900" lvl="1" marL="62971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E3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Menganalisis data dengan statistik deskriptif.</a:t>
            </a:r>
            <a:endParaRPr/>
          </a:p>
          <a:p>
            <a:pPr indent="-342900" lvl="1" marL="62971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E3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Membuat visualisasi data menggunakan Matplotlib &amp; Seaborn.</a:t>
            </a:r>
            <a:endParaRPr/>
          </a:p>
          <a:p>
            <a:pPr indent="-342900" lvl="1" marL="62971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E3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Mengevaluasi hubungan antar fitur dengan correlation heatmap &amp; pairplot.</a:t>
            </a:r>
            <a:endParaRPr/>
          </a:p>
          <a:p>
            <a:pPr indent="-342900" lvl="1" marL="62971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E3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Mengubah data kategori menjadi numerik (One-Hot &amp; Label Encoding).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231517" y="7828486"/>
            <a:ext cx="526554" cy="700115"/>
            <a:chOff x="0" y="-38100"/>
            <a:chExt cx="119806" cy="159296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19806" cy="121196"/>
            </a:xfrm>
            <a:custGeom>
              <a:rect b="b" l="l" r="r" t="t"/>
              <a:pathLst>
                <a:path extrusionOk="0" h="121196" w="11980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/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231517" y="8690149"/>
            <a:ext cx="526554" cy="700115"/>
            <a:chOff x="0" y="-38100"/>
            <a:chExt cx="119806" cy="159296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19806" cy="121196"/>
            </a:xfrm>
            <a:custGeom>
              <a:rect b="b" l="l" r="r" t="t"/>
              <a:pathLst>
                <a:path extrusionOk="0" h="121196" w="11980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/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1261997" y="5954344"/>
            <a:ext cx="4967583" cy="77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35" u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Table of 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896002" y="7961207"/>
            <a:ext cx="9307394" cy="522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EDA in Python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896002" y="8834142"/>
            <a:ext cx="7789172" cy="522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261997" y="6703052"/>
            <a:ext cx="5444548" cy="103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92" u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Contents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3"/>
          <p:cNvGrpSpPr/>
          <p:nvPr/>
        </p:nvGrpSpPr>
        <p:grpSpPr>
          <a:xfrm>
            <a:off x="13955786" y="-435680"/>
            <a:ext cx="4632524" cy="10996052"/>
            <a:chOff x="0" y="-47625"/>
            <a:chExt cx="1220089" cy="2896080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1220089" cy="2848455"/>
            </a:xfrm>
            <a:custGeom>
              <a:rect b="b" l="l" r="r" t="t"/>
              <a:pathLst>
                <a:path extrusionOk="0" h="2848455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/>
          <p:nvPr/>
        </p:nvSpPr>
        <p:spPr>
          <a:xfrm rot="-5400000">
            <a:off x="11952046" y="3265440"/>
            <a:ext cx="7715094" cy="3707614"/>
          </a:xfrm>
          <a:custGeom>
            <a:rect b="b" l="l" r="r" t="t"/>
            <a:pathLst>
              <a:path extrusionOk="0" h="3707614" w="771509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9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35" u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259652" y="5143500"/>
            <a:ext cx="5444548" cy="957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in Python</a:t>
            </a:r>
            <a:endParaRPr b="1" sz="6792" u="none" strike="noStrike">
              <a:solidFill>
                <a:srgbClr val="0837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2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4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334883" cy="2709333"/>
            </a:xfrm>
            <a:custGeom>
              <a:rect b="b" l="l" r="r" t="t"/>
              <a:pathLst>
                <a:path extrusionOk="0" h="2709333" w="33488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99">
              <a:solidFill>
                <a:srgbClr val="FDFDFD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066800" y="952500"/>
            <a:ext cx="15392400" cy="2693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"Kenapa model Machine Learning bisa gagal memberikan hasil yang baik?"</a:t>
            </a:r>
            <a:endParaRPr b="1" i="1" sz="60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Bar chart with solid fill"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5974259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 chart with solid fill" id="150" name="Google Shape;1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4343" y="6438900"/>
            <a:ext cx="24003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llseye with solid fill" id="151" name="Google Shape;1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2386" y="6438900"/>
            <a:ext cx="2400299" cy="240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2867025" y="3832142"/>
            <a:ext cx="11353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Karena data yang kotor dan tidak dipahami dengan baik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2895600" y="5053087"/>
            <a:ext cx="11353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Solusi: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3086100" y="9022259"/>
            <a:ext cx="11353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EDA dan Feature Engineering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5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334883" cy="2709333"/>
            </a:xfrm>
            <a:custGeom>
              <a:rect b="b" l="l" r="r" t="t"/>
              <a:pathLst>
                <a:path extrusionOk="0" h="2709333" w="33488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5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99">
              <a:solidFill>
                <a:srgbClr val="FDFDFD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Apa itu EDA?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762125" y="2675684"/>
            <a:ext cx="15591442" cy="5744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 (EDA) adalah proses analisis awal untuk memahami karakteristik dataset sebelum melakukan pemodelan lebih lanjut.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Tujuan EDA: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Memahami distribusi data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Mendeteksi outlier atau missing values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Menemukan korelasi antar variabel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Mengidentifikasi pola dalam dataset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6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173" name="Google Shape;173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6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176" name="Google Shape;176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6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4980" lvl="1" marL="94996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8377C"/>
              </a:buClr>
              <a:buSzPts val="4400"/>
              <a:buFont typeface="Montserrat"/>
              <a:buAutoNum type="arabicPeriod"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Langkah-Langkah Pada EDA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51416" y="1963307"/>
            <a:ext cx="16012500" cy="7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Definisi Masalah</a:t>
            </a:r>
            <a:b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Menentukan tujuan analisis, memahami status data, menetapkan jadwal, serta melakukan analisis biaya/manfaat untuk membuat rencana pelaksanaan.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Persiapan Data</a:t>
            </a:r>
            <a:b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Menentukan sumber data, memahami karakteristiknya, membersihkan data, menghapus data yang tidak relevan, serta membagi data sesuai kebutuhan analisis.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Analisis Data</a:t>
            </a:r>
            <a:b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Menggunakan statistik deskriptif dan teknik analisis seperti korelasi, pengelompokan, serta model prediktif untuk menemukan pola dalam data.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Pengembangan dan Representasi Hasil</a:t>
            </a:r>
            <a:b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Menyajikan hasil analisis dalam bentuk grafik, tabel, atau diagram agar mudah dipahami oleh pemangku kepentingan.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7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187" name="Google Shape;187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7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190" name="Google Shape;190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7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2. Pendahuluan EDA</a:t>
            </a:r>
            <a:endParaRPr b="1" i="0" sz="4400" u="none" cap="none" strike="noStrike">
              <a:solidFill>
                <a:srgbClr val="0837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numpy - freeCodeCamp.org"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6019" y="7197654"/>
            <a:ext cx="2389281" cy="10698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Introduction to pandas — Python's Data Analysis Library | by Gaurav Garg  | Python in Plain English" id="195" name="Google Shape;19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7412540"/>
            <a:ext cx="1952625" cy="815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 Matplotlib Charts for Visualizing Your Data with Python | by Mohsin  Shaikh | GoPenAI" id="196" name="Google Shape;19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6854" y="7299307"/>
            <a:ext cx="1952625" cy="1117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6854" y="8643266"/>
            <a:ext cx="2235330" cy="1117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7"/>
          <p:cNvGrpSpPr/>
          <p:nvPr/>
        </p:nvGrpSpPr>
        <p:grpSpPr>
          <a:xfrm>
            <a:off x="1776960" y="2020945"/>
            <a:ext cx="14439863" cy="5036322"/>
            <a:chOff x="786360" y="1645"/>
            <a:chExt cx="14439863" cy="5036322"/>
          </a:xfrm>
        </p:grpSpPr>
        <p:sp>
          <p:nvSpPr>
            <p:cNvPr id="199" name="Google Shape;199;p7"/>
            <p:cNvSpPr/>
            <p:nvPr/>
          </p:nvSpPr>
          <p:spPr>
            <a:xfrm>
              <a:off x="7838386" y="1920804"/>
              <a:ext cx="5540877" cy="87898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7"/>
                  </a:lnTo>
                  <a:lnTo>
                    <a:pt x="120000" y="81777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00" name="Google Shape;200;p7"/>
            <p:cNvSpPr/>
            <p:nvPr/>
          </p:nvSpPr>
          <p:spPr>
            <a:xfrm>
              <a:off x="7838386" y="1920804"/>
              <a:ext cx="1846959" cy="87898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7"/>
                  </a:lnTo>
                  <a:lnTo>
                    <a:pt x="120000" y="81777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01" name="Google Shape;201;p7"/>
            <p:cNvSpPr/>
            <p:nvPr/>
          </p:nvSpPr>
          <p:spPr>
            <a:xfrm>
              <a:off x="5991427" y="1920804"/>
              <a:ext cx="1846959" cy="878984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7"/>
                  </a:lnTo>
                  <a:lnTo>
                    <a:pt x="0" y="81777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02" name="Google Shape;202;p7"/>
            <p:cNvSpPr/>
            <p:nvPr/>
          </p:nvSpPr>
          <p:spPr>
            <a:xfrm>
              <a:off x="2297508" y="1920804"/>
              <a:ext cx="5540877" cy="878984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7"/>
                  </a:lnTo>
                  <a:lnTo>
                    <a:pt x="0" y="81777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03" name="Google Shape;203;p7"/>
            <p:cNvSpPr/>
            <p:nvPr/>
          </p:nvSpPr>
          <p:spPr>
            <a:xfrm>
              <a:off x="6327238" y="1645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6663048" y="320666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6719258" y="376876"/>
              <a:ext cx="2909877" cy="1806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Untuk melakukan EDA, kita menggunakan library berikut:</a:t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786360" y="279978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1122170" y="311880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1178380" y="3175019"/>
              <a:ext cx="2909877" cy="1806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NumPy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Operasi numerik dan array multidimensi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4480278" y="279978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4816089" y="311880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4872299" y="3175019"/>
              <a:ext cx="2909877" cy="1806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pandas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Manipulasi dan analisis data</a:t>
              </a: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174197" y="279978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510008" y="311880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 txBox="1"/>
            <p:nvPr/>
          </p:nvSpPr>
          <p:spPr>
            <a:xfrm>
              <a:off x="8566218" y="3175019"/>
              <a:ext cx="2909877" cy="1806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Matplotlib dan Seaborn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Visualisasi data</a:t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1868116" y="279978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12203926" y="3118809"/>
              <a:ext cx="3022297" cy="191915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12260136" y="3175019"/>
              <a:ext cx="2909877" cy="1806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SciPy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8" name="Google Shape;21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34357" y="7197654"/>
            <a:ext cx="1486351" cy="148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8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225" name="Google Shape;225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228" name="Google Shape;228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8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27616" y="848382"/>
            <a:ext cx="10602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2. NumPy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751416" y="1605930"/>
            <a:ext cx="14183784" cy="121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mengimpor numpy, kita akan menggunakan kode berikut: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Berikut adalah beberapa fungsi NumPy yang sering digunakan dalam EDA:</a:t>
            </a:r>
            <a:endParaRPr/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82600" y="1191198"/>
            <a:ext cx="4883796" cy="12489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 txBox="1"/>
          <p:nvPr/>
        </p:nvSpPr>
        <p:spPr>
          <a:xfrm>
            <a:off x="751416" y="3231691"/>
            <a:ext cx="3652922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np.array()</a:t>
            </a:r>
            <a:endParaRPr b="1" sz="233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725789" y="4002008"/>
            <a:ext cx="4990253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np.mean(array)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719927" y="4812948"/>
            <a:ext cx="3652922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np.median(array)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719927" y="5534505"/>
            <a:ext cx="4990253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np.std(array)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717427" y="6296883"/>
            <a:ext cx="3652921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np.var(array)</a:t>
            </a:r>
            <a:endParaRPr b="1" sz="233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719927" y="7072367"/>
            <a:ext cx="4990253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np.min(array)</a:t>
            </a:r>
            <a:endParaRPr b="1" sz="233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719927" y="7889489"/>
            <a:ext cx="4990253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np.max(array)</a:t>
            </a:r>
            <a:endParaRPr b="1" sz="233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688119" y="8659995"/>
            <a:ext cx="4990253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np.sum(array)</a:t>
            </a:r>
            <a:endParaRPr b="1" sz="233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717426" y="9405829"/>
            <a:ext cx="8655173" cy="461665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np.where(condition, value_if_true, value_if_false)</a:t>
            </a:r>
            <a:endParaRPr b="1" sz="233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9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249" name="Google Shape;249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9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252" name="Google Shape;252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9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3. Pandas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751416" y="2098175"/>
            <a:ext cx="17079384" cy="121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adalah library utama yang digunakan untuk memproses, menganalisis, dan memahami data. Berikut adalah fungsi-fungsi </a:t>
            </a: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/>
          </a:p>
        </p:txBody>
      </p:sp>
      <p:sp>
        <p:nvSpPr>
          <p:cNvPr id="257" name="Google Shape;257;p9"/>
          <p:cNvSpPr txBox="1"/>
          <p:nvPr/>
        </p:nvSpPr>
        <p:spPr>
          <a:xfrm>
            <a:off x="1988880" y="4110901"/>
            <a:ext cx="10812720" cy="2245871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pd.read_csv('file.csv’) =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Membaca file CSV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pd.read_excel('file.xlsx’)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Membaca file Excel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pd.read_json('file.json’)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Membaca file JSON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pd.read_sql(query, connection)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Membaca data dari database SQL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1208616" y="3422565"/>
            <a:ext cx="11897784" cy="5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Membaca Data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1971295" y="7065889"/>
            <a:ext cx="10812720" cy="2799869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df.head(n)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Menampilkan n baris pertama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df.tail(n)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Menampilkan n baris terakhir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df.sample(n)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Menampilkan n baris secara acak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df.info()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Menampilkan ringkasan informasi dataset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df.describe()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Statistik deskriptif untuk kolom numerik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1191031" y="6377553"/>
            <a:ext cx="11897784" cy="5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Melihat Gambaran Pada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0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0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0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3. Pandas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2063363" y="2750908"/>
            <a:ext cx="10812720" cy="1691873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df.isnull().sum()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Mengecek jumlah missing values per kolom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df.dropna()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Menghapus baris yang memiliki missing values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df.fillna(value)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Mengisi missing values dengan nilai tertentu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283099" y="2062572"/>
            <a:ext cx="11897784" cy="5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Menangani Missing Value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2063363" y="5374636"/>
            <a:ext cx="10812720" cy="1137876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df.duplicated()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Mengecek duplikasi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df.drop_duplicates()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Menghapus duplikasi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283099" y="4686300"/>
            <a:ext cx="11897784" cy="5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Menangani Duplikasi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2063363" y="7393429"/>
            <a:ext cx="10812720" cy="2245871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df['kolom’]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Mengakses satu kolom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df[['kolom1', 'kolom2’]]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Mengakses beberapa kolom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df.iloc[row, col]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Akses berdasarkan indeks baris dan kolom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df.loc[df['Age'] &gt; 30] =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Filter data berdasarkan kondisi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1283099" y="6705093"/>
            <a:ext cx="11897784" cy="573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5. Seleksi dan Filter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 txBox="1"/>
          <p:nvPr/>
        </p:nvSpPr>
        <p:spPr>
          <a:xfrm>
            <a:off x="10851684" y="1161685"/>
            <a:ext cx="6172200" cy="1719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1" marL="47498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4. Matplotlib dan Seaborn</a:t>
            </a:r>
            <a:endParaRPr/>
          </a:p>
        </p:txBody>
      </p:sp>
      <p:grpSp>
        <p:nvGrpSpPr>
          <p:cNvPr id="286" name="Google Shape;286;p11"/>
          <p:cNvGrpSpPr/>
          <p:nvPr/>
        </p:nvGrpSpPr>
        <p:grpSpPr>
          <a:xfrm>
            <a:off x="-3571" y="0"/>
            <a:ext cx="185042" cy="10287000"/>
            <a:chOff x="12068638" y="0"/>
            <a:chExt cx="123362" cy="6858000"/>
          </a:xfrm>
        </p:grpSpPr>
        <p:sp>
          <p:nvSpPr>
            <p:cNvPr id="287" name="Google Shape;287;p11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27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9" name="Google Shape;2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5330161"/>
            <a:ext cx="4114800" cy="357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1429" y="5330161"/>
            <a:ext cx="4114800" cy="293179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10851684" y="3510333"/>
            <a:ext cx="6172200" cy="5470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Visualisasi Data digunakan untuk mengomunikasikan informasi agar lebih jelas dan efisien kepada pengguna dengan menggunakan grafik, table, dan bagan. </a:t>
            </a:r>
            <a:endParaRPr/>
          </a:p>
          <a:p>
            <a:pPr indent="-228600" lvl="0" marL="457200" marR="0" rtl="0" algn="just">
              <a:lnSpc>
                <a:spcPct val="15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visualization membantu kita dalam menganalisis data berskala besar secara lebih sederhana. </a:t>
            </a:r>
            <a:endParaRPr/>
          </a:p>
          <a:p>
            <a:pPr indent="-228600" lvl="0" marL="457200" marR="0" rtl="0" algn="just">
              <a:lnSpc>
                <a:spcPct val="15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visualization membuat data kompleks lebih mudah diakses, dimengerti, dan dapat digunakan.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304" y="1104918"/>
            <a:ext cx="5586025" cy="3960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thon Data Visualization With Seaborn &amp; Matplotlib | Built In" id="294" name="Google Shape;29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6304" y="1714500"/>
            <a:ext cx="3167934" cy="3043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1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01" name="Google Shape;301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04" name="Google Shape;304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12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4. Matplotlib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1904999" y="1727180"/>
            <a:ext cx="14038357" cy="3353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Matplotlib adalah pustaka grafik tingkat rendah dalam bahasa python yang berfungsi sebagai utilitas visualisasi.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Matplotlib diciptakan oleh John D. Hunter.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Matplotlib bersifat open source dan kita dapat menggunakannya secara bebas.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Matplotlib sebagian besar ditulis dalam bahasa python, beberapa segmen ditulis dalam bahasa C, Objective-C, dan Javascript untuk kompatibilitas Platform.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751416" y="5205953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4. Seaborn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1904999" y="6084751"/>
            <a:ext cx="5943601" cy="27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Seaborn adalah library untuk membuat grafik statistik di Python. Seaborn dibangun di atas matplotlib dan terintegrasi dengan struktur data di Pandas.</a:t>
            </a:r>
            <a:endParaRPr/>
          </a:p>
        </p:txBody>
      </p:sp>
      <p:pic>
        <p:nvPicPr>
          <p:cNvPr id="311" name="Google Shape;3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2968" y="5825161"/>
            <a:ext cx="5486400" cy="397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3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18" name="Google Shape;31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3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21" name="Google Shape;32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3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Line Plot</a:t>
            </a:r>
            <a:endParaRPr/>
          </a:p>
        </p:txBody>
      </p:sp>
      <p:grpSp>
        <p:nvGrpSpPr>
          <p:cNvPr id="325" name="Google Shape;325;p13"/>
          <p:cNvGrpSpPr/>
          <p:nvPr/>
        </p:nvGrpSpPr>
        <p:grpSpPr>
          <a:xfrm>
            <a:off x="1761650" y="2281517"/>
            <a:ext cx="6629980" cy="4396862"/>
            <a:chOff x="2428683" y="1710208"/>
            <a:chExt cx="8719608" cy="3223951"/>
          </a:xfrm>
        </p:grpSpPr>
        <p:sp>
          <p:nvSpPr>
            <p:cNvPr id="326" name="Google Shape;326;p13"/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8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fmla="val 5494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matplotlib.pyplot as plt</a:t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plt.plot([1.6, 2.7])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28" name="Google Shape;3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5199" y="1805613"/>
            <a:ext cx="8327675" cy="534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4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35" name="Google Shape;33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14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38" name="Google Shape;33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14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Pie Chart</a:t>
            </a:r>
            <a:endParaRPr/>
          </a:p>
        </p:txBody>
      </p:sp>
      <p:grpSp>
        <p:nvGrpSpPr>
          <p:cNvPr id="342" name="Google Shape;342;p14"/>
          <p:cNvGrpSpPr/>
          <p:nvPr/>
        </p:nvGrpSpPr>
        <p:grpSpPr>
          <a:xfrm>
            <a:off x="1828800" y="2705100"/>
            <a:ext cx="6588453" cy="4516143"/>
            <a:chOff x="2428683" y="1710208"/>
            <a:chExt cx="8719608" cy="3223951"/>
          </a:xfrm>
        </p:grpSpPr>
        <p:sp>
          <p:nvSpPr>
            <p:cNvPr id="343" name="Google Shape;343;p14"/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8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fmla="val 5494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matplotlib.pyplot as plt</a:t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 matplotlib.gridspec import GridSpec</a:t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plt.figure(figsize=(8,8))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labels = 'Frogs', 'Hogs', 'Dogs', 'Logs'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fracs = [15, 30, 45, 10]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explode = (0, 0.05, 0, 0)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plt.pie(fracs, labels=labels, autopct='%1.1f%%', shadow=True)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plt.show()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45" name="Google Shape;345;p14"/>
          <p:cNvPicPr preferRelativeResize="0"/>
          <p:nvPr/>
        </p:nvPicPr>
        <p:blipFill rotWithShape="1">
          <a:blip r:embed="rId4">
            <a:alphaModFix/>
          </a:blip>
          <a:srcRect b="0" l="0" r="9491" t="0"/>
          <a:stretch/>
        </p:blipFill>
        <p:spPr>
          <a:xfrm>
            <a:off x="9144000" y="1282924"/>
            <a:ext cx="7620665" cy="7034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15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52" name="Google Shape;35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55" name="Google Shape;355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15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Histogram</a:t>
            </a: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>
            <a:off x="1046575" y="2349084"/>
            <a:ext cx="7153718" cy="4516143"/>
            <a:chOff x="2428683" y="1710208"/>
            <a:chExt cx="8719608" cy="3223951"/>
          </a:xfrm>
        </p:grpSpPr>
        <p:sp>
          <p:nvSpPr>
            <p:cNvPr id="360" name="Google Shape;360;p15"/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8">
                <a:solidFill>
                  <a:srgbClr val="49442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fmla="val 5494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mu, sigma = 100, 15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 = mu + sigma * numpy.random.randn(10000)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n, bins, patches = plt.hist(x, 50, normed=1, facecolor='g', alpha=0.75)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plt.xlabel('Smarts')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plt.ylabel('Probability')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plt.title('Histogram of IQ')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plt.text(60,.025,r'$\mu=100,\ \sigma=15$')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plt.axis([40, 160, 0, 0.03])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plt.grid(True)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plt.show()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62" name="Google Shape;3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0" y="1595575"/>
            <a:ext cx="9116227" cy="5989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6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69" name="Google Shape;36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72" name="Google Shape;37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6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Categorical Scatterplots: swarmplots</a:t>
            </a:r>
            <a:endParaRPr b="1" i="0" sz="4400" u="none" cap="none" strike="noStrike">
              <a:solidFill>
                <a:srgbClr val="0837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6" name="Google Shape;376;p16"/>
          <p:cNvGrpSpPr/>
          <p:nvPr/>
        </p:nvGrpSpPr>
        <p:grpSpPr>
          <a:xfrm>
            <a:off x="1548814" y="2916555"/>
            <a:ext cx="6299785" cy="3856316"/>
            <a:chOff x="2428683" y="1710208"/>
            <a:chExt cx="8719608" cy="3223951"/>
          </a:xfrm>
        </p:grpSpPr>
        <p:sp>
          <p:nvSpPr>
            <p:cNvPr id="377" name="Google Shape;377;p16"/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8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fmla="val 5494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sns.swarmplot(x="day", y="total_bill", hue="sex", data=tips);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79" name="Google Shape;3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1937668"/>
            <a:ext cx="8959704" cy="581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17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86" name="Google Shape;386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17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389" name="Google Shape;38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17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Boxplot</a:t>
            </a:r>
            <a:endParaRPr/>
          </a:p>
        </p:txBody>
      </p:sp>
      <p:grpSp>
        <p:nvGrpSpPr>
          <p:cNvPr id="393" name="Google Shape;393;p17"/>
          <p:cNvGrpSpPr/>
          <p:nvPr/>
        </p:nvGrpSpPr>
        <p:grpSpPr>
          <a:xfrm>
            <a:off x="2217852" y="2498496"/>
            <a:ext cx="5302750" cy="3844290"/>
            <a:chOff x="2428683" y="1710208"/>
            <a:chExt cx="8719608" cy="3223951"/>
          </a:xfrm>
        </p:grpSpPr>
        <p:sp>
          <p:nvSpPr>
            <p:cNvPr id="394" name="Google Shape;394;p17"/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8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fmla="val 5494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tips["weekend"] = tips["day"].isin(["Sat", "Sun"])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sns.boxplot(x="day", y="total_bill", hue="weekend", data=tips, dodge=False);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26262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96" name="Google Shape;3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2157879"/>
            <a:ext cx="8144880" cy="542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403" name="Google Shape;403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406" name="Google Shape;40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8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Heatmap</a:t>
            </a:r>
            <a:endParaRPr/>
          </a:p>
        </p:txBody>
      </p:sp>
      <p:grpSp>
        <p:nvGrpSpPr>
          <p:cNvPr id="410" name="Google Shape;410;p18"/>
          <p:cNvGrpSpPr/>
          <p:nvPr/>
        </p:nvGrpSpPr>
        <p:grpSpPr>
          <a:xfrm>
            <a:off x="2514600" y="2664943"/>
            <a:ext cx="5302750" cy="3844290"/>
            <a:chOff x="2428683" y="1710208"/>
            <a:chExt cx="8719608" cy="3223951"/>
          </a:xfrm>
        </p:grpSpPr>
        <p:sp>
          <p:nvSpPr>
            <p:cNvPr id="411" name="Google Shape;411;p18"/>
            <p:cNvSpPr/>
            <p:nvPr/>
          </p:nvSpPr>
          <p:spPr>
            <a:xfrm>
              <a:off x="2428683" y="1756225"/>
              <a:ext cx="8387761" cy="3131918"/>
            </a:xfrm>
            <a:prstGeom prst="rect">
              <a:avLst/>
            </a:prstGeom>
            <a:solidFill>
              <a:srgbClr val="3660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8">
                <a:solidFill>
                  <a:srgbClr val="1CADE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2629276" y="1710208"/>
              <a:ext cx="8519015" cy="3223951"/>
            </a:xfrm>
            <a:prstGeom prst="roundRect">
              <a:avLst>
                <a:gd fmla="val 5494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6262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sns.heatmap([df.y, df.x], annot=True, fmt="d")</a:t>
              </a:r>
              <a:endParaRPr/>
            </a:p>
          </p:txBody>
        </p:sp>
      </p:grpSp>
      <p:pic>
        <p:nvPicPr>
          <p:cNvPr id="413" name="Google Shape;4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3308" y="1772300"/>
            <a:ext cx="7840263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19"/>
          <p:cNvGrpSpPr/>
          <p:nvPr/>
        </p:nvGrpSpPr>
        <p:grpSpPr>
          <a:xfrm>
            <a:off x="13955786" y="-435680"/>
            <a:ext cx="4632524" cy="10996052"/>
            <a:chOff x="0" y="-47625"/>
            <a:chExt cx="1220089" cy="2896080"/>
          </a:xfrm>
        </p:grpSpPr>
        <p:sp>
          <p:nvSpPr>
            <p:cNvPr id="420" name="Google Shape;420;p19"/>
            <p:cNvSpPr/>
            <p:nvPr/>
          </p:nvSpPr>
          <p:spPr>
            <a:xfrm>
              <a:off x="0" y="0"/>
              <a:ext cx="1220089" cy="2848455"/>
            </a:xfrm>
            <a:custGeom>
              <a:rect b="b" l="l" r="r" t="t"/>
              <a:pathLst>
                <a:path extrusionOk="0" h="2848455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9"/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19"/>
          <p:cNvSpPr/>
          <p:nvPr/>
        </p:nvSpPr>
        <p:spPr>
          <a:xfrm rot="-5400000">
            <a:off x="11952046" y="3265440"/>
            <a:ext cx="7715094" cy="3707614"/>
          </a:xfrm>
          <a:custGeom>
            <a:rect b="b" l="l" r="r" t="t"/>
            <a:pathLst>
              <a:path extrusionOk="0" h="3707614" w="771509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9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35" u="none" strike="noStrik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Feature</a:t>
            </a:r>
            <a:endParaRPr/>
          </a:p>
        </p:txBody>
      </p:sp>
      <p:sp>
        <p:nvSpPr>
          <p:cNvPr id="424" name="Google Shape;424;p19"/>
          <p:cNvSpPr txBox="1"/>
          <p:nvPr/>
        </p:nvSpPr>
        <p:spPr>
          <a:xfrm>
            <a:off x="1259652" y="5143500"/>
            <a:ext cx="6131748" cy="957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Engineering</a:t>
            </a:r>
            <a:endParaRPr b="1" sz="6792" u="none" strike="noStrike">
              <a:solidFill>
                <a:srgbClr val="0837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2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0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433" name="Google Shape;433;p20"/>
            <p:cNvSpPr/>
            <p:nvPr/>
          </p:nvSpPr>
          <p:spPr>
            <a:xfrm>
              <a:off x="0" y="0"/>
              <a:ext cx="334883" cy="2709333"/>
            </a:xfrm>
            <a:custGeom>
              <a:rect b="b" l="l" r="r" t="t"/>
              <a:pathLst>
                <a:path extrusionOk="0" h="2709333" w="33488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0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20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99">
              <a:solidFill>
                <a:srgbClr val="FDFDFD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Alur Fitur Engineering?</a:t>
            </a:r>
            <a:endParaRPr/>
          </a:p>
        </p:txBody>
      </p:sp>
      <p:pic>
        <p:nvPicPr>
          <p:cNvPr id="438" name="Google Shape;4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908586"/>
            <a:ext cx="15833621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21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445" name="Google Shape;445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21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448" name="Google Shape;448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p21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1. Handle Duplikat</a:t>
            </a:r>
            <a:endParaRPr b="1" i="0" sz="4400" u="none" cap="none" strike="noStrike">
              <a:solidFill>
                <a:srgbClr val="0837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846969" y="1805240"/>
            <a:ext cx="1576463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tidak bisa memproses data yang duplikat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Maka harus dipilih salah satunya saja -&gt; Handling Duplikat</a:t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3" name="Google Shape;4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969" y="3033714"/>
            <a:ext cx="16017695" cy="131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460" name="Google Shape;460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2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463" name="Google Shape;463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5" name="Google Shape;465;p22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2. Teori Outlier</a:t>
            </a:r>
            <a:endParaRPr/>
          </a:p>
        </p:txBody>
      </p:sp>
      <p:pic>
        <p:nvPicPr>
          <p:cNvPr id="467" name="Google Shape;4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416" y="1795206"/>
            <a:ext cx="17022613" cy="5939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3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474" name="Google Shape;474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p23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477" name="Google Shape;47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" name="Google Shape;479;p23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Teori Outlier</a:t>
            </a:r>
            <a:endParaRPr/>
          </a:p>
        </p:txBody>
      </p:sp>
      <p:sp>
        <p:nvSpPr>
          <p:cNvPr id="481" name="Google Shape;481;p23"/>
          <p:cNvSpPr txBox="1"/>
          <p:nvPr/>
        </p:nvSpPr>
        <p:spPr>
          <a:xfrm>
            <a:off x="1143000" y="1804256"/>
            <a:ext cx="1576463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Outlier</a:t>
            </a: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 Nilai pencilan (Nilai yang tidak wajar muncul diluar rentang ‘keumuman’ distribusi tertentu)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121035"/>
            <a:ext cx="5866734" cy="536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3"/>
          <p:cNvSpPr txBox="1"/>
          <p:nvPr/>
        </p:nvSpPr>
        <p:spPr>
          <a:xfrm>
            <a:off x="8039768" y="4218843"/>
            <a:ext cx="6477000" cy="260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Jika titik biru berada pada garis merah maka distribusinya normal, jika tidak maka pengaruh dari outlier.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24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490" name="Google Shape;490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p24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493" name="Google Shape;493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5" name="Google Shape;495;p24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Handling Outlier</a:t>
            </a:r>
            <a:endParaRPr/>
          </a:p>
        </p:txBody>
      </p:sp>
      <p:sp>
        <p:nvSpPr>
          <p:cNvPr id="497" name="Google Shape;497;p24"/>
          <p:cNvSpPr txBox="1"/>
          <p:nvPr/>
        </p:nvSpPr>
        <p:spPr>
          <a:xfrm>
            <a:off x="1277237" y="2107091"/>
            <a:ext cx="5684563" cy="76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Montserrat"/>
              <a:buNone/>
            </a:pPr>
            <a:r>
              <a:rPr b="1" lang="en-US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IQR : Inter Quartile Range</a:t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4"/>
          <p:cNvSpPr txBox="1"/>
          <p:nvPr/>
        </p:nvSpPr>
        <p:spPr>
          <a:xfrm>
            <a:off x="10686163" y="3774036"/>
            <a:ext cx="6324600" cy="554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39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marR="0" rtl="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Perspektif Bisnis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marR="0" rtl="0" algn="just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Bergantung pada kasus bisnis dari dataset yang dimiliki. Contoh :</a:t>
            </a:r>
            <a:endParaRPr/>
          </a:p>
          <a:p>
            <a:pPr indent="0" lvl="0" marL="12700" marR="0" rtl="0" algn="just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1. Usia penumpang kapal laut minimal 3 tahun sampai dengan umur berapapun, maka diluar rentang itu dianggap outlier dan diganti dengan masing-masing batas nilai aturan bisnis yang berlaku.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9" name="Google Shape;49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7237" y="3203486"/>
            <a:ext cx="8570042" cy="376881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4"/>
          <p:cNvSpPr/>
          <p:nvPr/>
        </p:nvSpPr>
        <p:spPr>
          <a:xfrm>
            <a:off x="366403" y="2184256"/>
            <a:ext cx="770026" cy="770026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 txBox="1"/>
          <p:nvPr/>
        </p:nvSpPr>
        <p:spPr>
          <a:xfrm>
            <a:off x="533400" y="2324100"/>
            <a:ext cx="45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/>
          </a:p>
        </p:txBody>
      </p:sp>
      <p:sp>
        <p:nvSpPr>
          <p:cNvPr id="502" name="Google Shape;502;p24"/>
          <p:cNvSpPr/>
          <p:nvPr/>
        </p:nvSpPr>
        <p:spPr>
          <a:xfrm>
            <a:off x="10738341" y="3838309"/>
            <a:ext cx="770026" cy="770026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 txBox="1"/>
          <p:nvPr/>
        </p:nvSpPr>
        <p:spPr>
          <a:xfrm>
            <a:off x="10905338" y="3978153"/>
            <a:ext cx="45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1344" y="5413598"/>
            <a:ext cx="8898508" cy="32861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0" name="Google Shape;510;p25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511" name="Google Shape;511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514" name="Google Shape;514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25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Handling Outlier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1277237" y="2107091"/>
            <a:ext cx="5684563" cy="76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Montserrat"/>
              <a:buNone/>
            </a:pPr>
            <a:r>
              <a:rPr b="1" lang="en-US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IQR : Inter Quartile Range</a:t>
            </a:r>
            <a:endParaRPr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9" name="Google Shape;51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833" y="3045887"/>
            <a:ext cx="8288198" cy="3644867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5"/>
          <p:cNvSpPr/>
          <p:nvPr/>
        </p:nvSpPr>
        <p:spPr>
          <a:xfrm>
            <a:off x="366403" y="2184256"/>
            <a:ext cx="770026" cy="770026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 txBox="1"/>
          <p:nvPr/>
        </p:nvSpPr>
        <p:spPr>
          <a:xfrm>
            <a:off x="533400" y="2324100"/>
            <a:ext cx="457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6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528" name="Google Shape;528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0" name="Google Shape;530;p26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531" name="Google Shape;531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3" name="Google Shape;533;p26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3. Missing Value</a:t>
            </a:r>
            <a:endParaRPr/>
          </a:p>
        </p:txBody>
      </p:sp>
      <p:sp>
        <p:nvSpPr>
          <p:cNvPr id="535" name="Google Shape;535;p26"/>
          <p:cNvSpPr txBox="1"/>
          <p:nvPr/>
        </p:nvSpPr>
        <p:spPr>
          <a:xfrm>
            <a:off x="1860584" y="1895312"/>
            <a:ext cx="15055815" cy="19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just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Missing Value Merupakan </a:t>
            </a:r>
            <a:r>
              <a:rPr lang="en-US" sz="2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nilai yang hilang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 suatu kolom, namun tidak hanya sebatas itu. Untuk </a:t>
            </a:r>
            <a:r>
              <a:rPr lang="en-US" sz="2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nilai yang tidak 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sesuai tapi </a:t>
            </a:r>
            <a:r>
              <a:rPr lang="en-US" sz="2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muncul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didalam suatu kolom tertentu juga bisa dianggap sebagai missing value. Misal tipenya kategorikal tapi isinya ada yang berupa angka dan juga sebaliknya.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6" name="Google Shape;5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061" y="4094663"/>
            <a:ext cx="6358539" cy="4158173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6"/>
          <p:cNvSpPr txBox="1"/>
          <p:nvPr/>
        </p:nvSpPr>
        <p:spPr>
          <a:xfrm>
            <a:off x="1860584" y="8650886"/>
            <a:ext cx="162589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Missing Value diatas :</a:t>
            </a:r>
            <a:r>
              <a:rPr lang="en-US" sz="2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-1 dan Unknown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-&gt; Padahal tipe datanya kategorikal Campuran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27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544" name="Google Shape;544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p27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547" name="Google Shape;547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9" name="Google Shape;549;p27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Jenis Missing Value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1277237" y="2115779"/>
            <a:ext cx="7409563" cy="3352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Missing Value yang Jelas (Explicit Missing)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NaN (Not a Number) – format standar di pandas/numpy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None – tipe data Python untuk nilai kosong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null – sering muncul di database SQL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Na – sering digunakan di file CSV atau Excel</a:t>
            </a:r>
            <a:endParaRPr/>
          </a:p>
        </p:txBody>
      </p:sp>
      <p:sp>
        <p:nvSpPr>
          <p:cNvPr id="552" name="Google Shape;552;p27"/>
          <p:cNvSpPr txBox="1"/>
          <p:nvPr/>
        </p:nvSpPr>
        <p:spPr>
          <a:xfrm>
            <a:off x="1277237" y="5804872"/>
            <a:ext cx="7409563" cy="27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Missing Value yang Dikodekan Secara Manual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-1, 9999, atau 0 untuk data numerik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"Unknown", "Tidak Tahu", "?" untuk data kategorikal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27"/>
          <p:cNvSpPr txBox="1"/>
          <p:nvPr/>
        </p:nvSpPr>
        <p:spPr>
          <a:xfrm>
            <a:off x="9601200" y="2115779"/>
            <a:ext cx="7409563" cy="390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Missing Value karena Format yang Tidak Sesuai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Spasi kosong (" ") → dianggap sebagai string, bukan NaN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Karakter khusus ("NULL", "#N/A")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Tipe data tidak sesuai (misalnya angka dalam bentuk string)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28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560" name="Google Shape;560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28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563" name="Google Shape;563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" name="Google Shape;565;p28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Handling Missing Value</a:t>
            </a:r>
            <a:endParaRPr/>
          </a:p>
        </p:txBody>
      </p:sp>
      <p:sp>
        <p:nvSpPr>
          <p:cNvPr id="567" name="Google Shape;567;p28"/>
          <p:cNvSpPr txBox="1"/>
          <p:nvPr/>
        </p:nvSpPr>
        <p:spPr>
          <a:xfrm>
            <a:off x="1391020" y="4972747"/>
            <a:ext cx="7981580" cy="1705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just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1. Jika </a:t>
            </a: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numerikal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kolom maka handle menggunakan nilai </a:t>
            </a: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median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dari data train, lalu aplikasikan ke data train dan ke data test di kolom bersangkutan.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28"/>
          <p:cNvSpPr txBox="1"/>
          <p:nvPr/>
        </p:nvSpPr>
        <p:spPr>
          <a:xfrm>
            <a:off x="1391020" y="6823659"/>
            <a:ext cx="7981580" cy="1761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2. Jika kolom </a:t>
            </a: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kategorikal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maka handle menggunakan nilai </a:t>
            </a: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modus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dari data train, lalu aplikasikan ke data train dan ke data test di kolom bersangkutan.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28"/>
          <p:cNvSpPr txBox="1"/>
          <p:nvPr/>
        </p:nvSpPr>
        <p:spPr>
          <a:xfrm>
            <a:off x="1277237" y="2115779"/>
            <a:ext cx="8095363" cy="279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Cek terlebih dahulu, nilai unik di tiap kolom. Kemudian cek berapa persen missing value tiap kolom. Secara Statistik jika &gt; 20% maka drop kolomnya, jika dibawah itu maka handling dengan cara :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0" name="Google Shape;5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8909" y="2839200"/>
            <a:ext cx="6525097" cy="4267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29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577" name="Google Shape;577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580" name="Google Shape;580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2" name="Google Shape;582;p29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9"/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Handling Missing Value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1277237" y="2115779"/>
            <a:ext cx="11295763" cy="72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Kenapa untuk Data Numerik Menggunakan Median?</a:t>
            </a:r>
            <a:endParaRPr/>
          </a:p>
        </p:txBody>
      </p:sp>
      <p:pic>
        <p:nvPicPr>
          <p:cNvPr id="585" name="Google Shape;5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7236" y="3238500"/>
            <a:ext cx="6338453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9"/>
          <p:cNvSpPr txBox="1"/>
          <p:nvPr/>
        </p:nvSpPr>
        <p:spPr>
          <a:xfrm>
            <a:off x="1277236" y="4846858"/>
            <a:ext cx="15334364" cy="441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dengan mean, maka Mean terlalu tinggi karena dipengaruhi oleh outlier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1000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Median :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urutkan: [10, 12, 14, 1000], median = (12 + 14) / 2 = 13 → masih representatif.</a:t>
            </a:r>
            <a:endParaRPr/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Note: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Jika distribusi data </a:t>
            </a: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normal (tidak ada outlier)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mean juga bisa digunakan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sebagai pengganti.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Google Shape;592;p30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593" name="Google Shape;593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5" name="Google Shape;595;p30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596" name="Google Shape;596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8" name="Google Shape;598;p30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 txBox="1"/>
          <p:nvPr/>
        </p:nvSpPr>
        <p:spPr>
          <a:xfrm>
            <a:off x="766657" y="104731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Handling Missing Value</a:t>
            </a:r>
            <a:endParaRPr/>
          </a:p>
        </p:txBody>
      </p:sp>
      <p:sp>
        <p:nvSpPr>
          <p:cNvPr id="600" name="Google Shape;600;p30"/>
          <p:cNvSpPr txBox="1"/>
          <p:nvPr/>
        </p:nvSpPr>
        <p:spPr>
          <a:xfrm>
            <a:off x="1143000" y="1852451"/>
            <a:ext cx="14935200" cy="3677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Kenapa untuk Data Kategorik Menggunakan Mode/modus?</a:t>
            </a:r>
            <a:endParaRPr/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Alasan utama: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 atau Modus adalah nilai yang paling sering muncul, sehingga mewakili tren data.</a:t>
            </a:r>
            <a:endParaRPr/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Contoh:</a:t>
            </a:r>
            <a:endParaRPr/>
          </a:p>
          <a:p>
            <a:pPr indent="0" lvl="0" marL="127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1" name="Google Shape;6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2999" y="4880365"/>
            <a:ext cx="8001001" cy="1225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31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608" name="Google Shape;608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" name="Google Shape;610;p31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11" name="Google Shape;611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p31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1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4. Encoder</a:t>
            </a:r>
            <a:endParaRPr/>
          </a:p>
        </p:txBody>
      </p:sp>
      <p:sp>
        <p:nvSpPr>
          <p:cNvPr id="615" name="Google Shape;615;p31"/>
          <p:cNvSpPr txBox="1"/>
          <p:nvPr/>
        </p:nvSpPr>
        <p:spPr>
          <a:xfrm>
            <a:off x="1828800" y="1915232"/>
            <a:ext cx="14706600" cy="1137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Data Kategorikal itu perlu dilakukan encoding supaya berubah menjadi numerik data dengan pendekatan teknik tertentu, supaya bisa diolah di Machine Learning. Ada 3 jenis tipe Kategori :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1828800" y="3405785"/>
            <a:ext cx="14706600" cy="3907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55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nominal tidak memiliki tingkatan.</a:t>
            </a:r>
            <a:endParaRPr/>
          </a:p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Contoh : gender, Tipe Lokasi kerja, dst</a:t>
            </a:r>
            <a:endParaRPr/>
          </a:p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Data Ordinal : Data ordinal adalah data diskrit yang </a:t>
            </a:r>
            <a:endParaRPr/>
          </a:p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mengandung urutan. </a:t>
            </a:r>
            <a:endParaRPr/>
          </a:p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Contoh : Tingkatan pendidikan, tingkatan level jabatan dst.</a:t>
            </a:r>
            <a:endParaRPr/>
          </a:p>
          <a:p>
            <a:pPr indent="0" lvl="0" marL="127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Data Kardinalitas : tipe kategorik yang memiliki nilai yang banyak </a:t>
            </a:r>
            <a:r>
              <a:rPr i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(perspektif)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 unik di dalam suatu kolom dan bersifat nominal tidak memiliki tingkatan.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2" y="4404337"/>
            <a:ext cx="7523780" cy="12657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3" name="Google Shape;623;p32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624" name="Google Shape;624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3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27" name="Google Shape;627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9" name="Google Shape;629;p32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2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/>
          </a:p>
        </p:txBody>
      </p:sp>
      <p:sp>
        <p:nvSpPr>
          <p:cNvPr id="631" name="Google Shape;631;p32"/>
          <p:cNvSpPr txBox="1"/>
          <p:nvPr/>
        </p:nvSpPr>
        <p:spPr>
          <a:xfrm>
            <a:off x="2549080" y="7036225"/>
            <a:ext cx="4424217" cy="222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Label Encoder : </a:t>
            </a:r>
            <a:endParaRPr/>
          </a:p>
          <a:p>
            <a:pPr indent="0" lvl="0" marL="12700" marR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a. Yes -&gt; 1, No -&gt; 0</a:t>
            </a:r>
            <a:endParaRPr/>
          </a:p>
          <a:p>
            <a:pPr indent="0" lvl="0" marL="12700" marR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b. Tingkat Pendidikan :</a:t>
            </a:r>
            <a:endParaRPr/>
          </a:p>
          <a:p>
            <a:pPr indent="0" lvl="0" marL="12700" marR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SMP -&gt; 1, SMA -&gt; 2, S1 -&gt; 3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1639230" y="1736144"/>
            <a:ext cx="711058" cy="711058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E36C0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2"/>
          <p:cNvSpPr txBox="1"/>
          <p:nvPr/>
        </p:nvSpPr>
        <p:spPr>
          <a:xfrm>
            <a:off x="1941666" y="1921918"/>
            <a:ext cx="106500" cy="37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32"/>
          <p:cNvSpPr txBox="1"/>
          <p:nvPr/>
        </p:nvSpPr>
        <p:spPr>
          <a:xfrm>
            <a:off x="9747356" y="7056279"/>
            <a:ext cx="141816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5" name="Google Shape;635;p32"/>
          <p:cNvSpPr txBox="1"/>
          <p:nvPr/>
        </p:nvSpPr>
        <p:spPr>
          <a:xfrm>
            <a:off x="2350288" y="1858915"/>
            <a:ext cx="5498312" cy="48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44450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One Hot Encoding (OHE) :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6" name="Google Shape;63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9080" y="2468614"/>
            <a:ext cx="1141597" cy="23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2"/>
          <p:cNvSpPr/>
          <p:nvPr/>
        </p:nvSpPr>
        <p:spPr>
          <a:xfrm>
            <a:off x="4080881" y="3626391"/>
            <a:ext cx="766022" cy="2601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7107" y="2423279"/>
            <a:ext cx="4342442" cy="2412467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2"/>
          <p:cNvSpPr txBox="1"/>
          <p:nvPr/>
        </p:nvSpPr>
        <p:spPr>
          <a:xfrm>
            <a:off x="2414035" y="4849963"/>
            <a:ext cx="7165513" cy="16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4445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Notes : Nilai kategorik di data train dan test haruslah sama, jika tidak maka akan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Machine Learningnya.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32"/>
          <p:cNvSpPr txBox="1"/>
          <p:nvPr/>
        </p:nvSpPr>
        <p:spPr>
          <a:xfrm>
            <a:off x="11315619" y="1921918"/>
            <a:ext cx="4720108" cy="2129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44450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Mean Encoding : </a:t>
            </a:r>
            <a:endParaRPr/>
          </a:p>
          <a:p>
            <a:pPr indent="0" lvl="0" marL="12700" marR="44450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Montserrat"/>
              <a:buNone/>
            </a:pP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Nilai rata-rata pada ratio nilai di suatu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kolom kategorik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yang bergantung dengan ratio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kolom</a:t>
            </a:r>
            <a:r>
              <a:rPr lang="en-US" sz="2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endParaRPr sz="2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1" name="Google Shape;641;p32"/>
          <p:cNvSpPr/>
          <p:nvPr/>
        </p:nvSpPr>
        <p:spPr>
          <a:xfrm>
            <a:off x="1639230" y="6836104"/>
            <a:ext cx="711058" cy="711058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E36C0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2"/>
          <p:cNvSpPr txBox="1"/>
          <p:nvPr/>
        </p:nvSpPr>
        <p:spPr>
          <a:xfrm>
            <a:off x="1941666" y="7021878"/>
            <a:ext cx="106500" cy="37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10424162" y="1736144"/>
            <a:ext cx="711058" cy="711058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E36C0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2"/>
          <p:cNvSpPr txBox="1"/>
          <p:nvPr/>
        </p:nvSpPr>
        <p:spPr>
          <a:xfrm>
            <a:off x="10726598" y="1921918"/>
            <a:ext cx="106500" cy="37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</a:pPr>
            <a:r>
              <a:rPr b="1"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33"/>
          <p:cNvGrpSpPr/>
          <p:nvPr/>
        </p:nvGrpSpPr>
        <p:grpSpPr>
          <a:xfrm>
            <a:off x="15466603" y="8290589"/>
            <a:ext cx="7523764" cy="7523764"/>
            <a:chOff x="0" y="0"/>
            <a:chExt cx="812800" cy="812800"/>
          </a:xfrm>
        </p:grpSpPr>
        <p:sp>
          <p:nvSpPr>
            <p:cNvPr id="651" name="Google Shape;651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3" name="Google Shape;653;p33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54" name="Google Shape;654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6" name="Google Shape;656;p33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5. Skala Fitur</a:t>
            </a:r>
            <a:endParaRPr/>
          </a:p>
        </p:txBody>
      </p:sp>
      <p:sp>
        <p:nvSpPr>
          <p:cNvPr id="658" name="Google Shape;658;p33"/>
          <p:cNvSpPr txBox="1"/>
          <p:nvPr/>
        </p:nvSpPr>
        <p:spPr>
          <a:xfrm>
            <a:off x="1066800" y="1694512"/>
            <a:ext cx="16230600" cy="1137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Tujuan dari feature scaling adalah untuk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mengubah skala nilai-nilai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dalam fitur (kolom) data sehingga mereka memiliki rentang atau skala yang serupa.</a:t>
            </a:r>
            <a:endParaRPr/>
          </a:p>
        </p:txBody>
      </p:sp>
      <p:sp>
        <p:nvSpPr>
          <p:cNvPr id="659" name="Google Shape;659;p33"/>
          <p:cNvSpPr txBox="1"/>
          <p:nvPr/>
        </p:nvSpPr>
        <p:spPr>
          <a:xfrm>
            <a:off x="1066800" y="3036450"/>
            <a:ext cx="7543800" cy="2245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StandardScaler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Transformasi nilai sehingga memiliki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rata-rata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nol (0) dan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standar deviasi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satu (1).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0" name="Google Shape;6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4994" y="5146509"/>
            <a:ext cx="3803049" cy="131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4994" y="6568808"/>
            <a:ext cx="7483093" cy="185129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3"/>
          <p:cNvSpPr txBox="1"/>
          <p:nvPr/>
        </p:nvSpPr>
        <p:spPr>
          <a:xfrm>
            <a:off x="8839200" y="3073755"/>
            <a:ext cx="7543800" cy="16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MinMaxScaler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Kolom hasil transformasi berada dalam rentang tertentu, seringkali </a:t>
            </a:r>
            <a:r>
              <a:rPr lang="en-US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antara 0 dan 1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3" name="Google Shape;66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9200" y="5143499"/>
            <a:ext cx="6373222" cy="131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39200" y="6568807"/>
            <a:ext cx="6629400" cy="1908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oogle Shape;670;p34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671" name="Google Shape;671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34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74" name="Google Shape;674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6" name="Google Shape;676;p34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4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5. Skala Fitur</a:t>
            </a:r>
            <a:endParaRPr/>
          </a:p>
        </p:txBody>
      </p:sp>
      <p:sp>
        <p:nvSpPr>
          <p:cNvPr id="678" name="Google Shape;678;p34"/>
          <p:cNvSpPr txBox="1"/>
          <p:nvPr/>
        </p:nvSpPr>
        <p:spPr>
          <a:xfrm>
            <a:off x="4267200" y="1943100"/>
            <a:ext cx="11456021" cy="81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lang="en-US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Kapan memakai </a:t>
            </a:r>
            <a:r>
              <a:rPr b="1" lang="en-US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standarscaller </a:t>
            </a:r>
            <a:r>
              <a:rPr lang="en-US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??</a:t>
            </a:r>
            <a:endParaRPr/>
          </a:p>
        </p:txBody>
      </p:sp>
      <p:sp>
        <p:nvSpPr>
          <p:cNvPr id="679" name="Google Shape;679;p34"/>
          <p:cNvSpPr txBox="1"/>
          <p:nvPr/>
        </p:nvSpPr>
        <p:spPr>
          <a:xfrm>
            <a:off x="1447800" y="3262084"/>
            <a:ext cx="14782800" cy="556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 Scaler (Z-Score Scaling)</a:t>
            </a: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Biasanya digunakan saat 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</a:t>
            </a: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ingin menjaga distribusi data tetap mendekati distribusi normal (dengan rata-rata nol dan deviasi standar satu).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Cocok untuk algoritma yang bergantung pada perbedaan jarak antar data, seperti regresi logistik, SVM, dan k-means clustering.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Berguna saat data memiliki outlier yang signifikan, karena scaling dengan z-score lebih tahan terhadap outlier.</a:t>
            </a:r>
            <a:endParaRPr/>
          </a:p>
          <a:p>
            <a:pPr indent="-1905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Kekurangan: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Tidak membatasi nilai dalam rentang tertentu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sehingga interpretasi angka lebih sulit.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35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686" name="Google Shape;686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8" name="Google Shape;688;p35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89" name="Google Shape;689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29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1" name="Google Shape;691;p35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5"/>
          <p:cNvSpPr txBox="1"/>
          <p:nvPr/>
        </p:nvSpPr>
        <p:spPr>
          <a:xfrm>
            <a:off x="751416" y="848382"/>
            <a:ext cx="14107584" cy="61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4749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5. Skala Fitur</a:t>
            </a:r>
            <a:endParaRPr/>
          </a:p>
        </p:txBody>
      </p:sp>
      <p:sp>
        <p:nvSpPr>
          <p:cNvPr id="693" name="Google Shape;693;p35"/>
          <p:cNvSpPr txBox="1"/>
          <p:nvPr/>
        </p:nvSpPr>
        <p:spPr>
          <a:xfrm>
            <a:off x="4267200" y="1943100"/>
            <a:ext cx="11456021" cy="81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Montserrat"/>
              <a:buNone/>
            </a:pPr>
            <a:r>
              <a:rPr lang="en-US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Kapan memakai </a:t>
            </a:r>
            <a:r>
              <a:rPr b="1" lang="en-US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minmaxscaler </a:t>
            </a:r>
            <a:r>
              <a:rPr lang="en-US" sz="4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??</a:t>
            </a:r>
            <a:endParaRPr/>
          </a:p>
        </p:txBody>
      </p:sp>
      <p:sp>
        <p:nvSpPr>
          <p:cNvPr id="694" name="Google Shape;694;p35"/>
          <p:cNvSpPr txBox="1"/>
          <p:nvPr/>
        </p:nvSpPr>
        <p:spPr>
          <a:xfrm>
            <a:off x="1905000" y="3234411"/>
            <a:ext cx="13652811" cy="612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Min-Max Scaler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Biasanya digunakan ketika kita ingin mengubah data ke rentang tertentu, seperti [0, 1] atau [-1, 1].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Cocok untuk algoritma yang tidak bergantung pada distribusi data atau jarak antar data, seperti decision trees, random forests, dan neural networks.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Berguna saat data Anda tidak memiliki asumsi distribusi normal atau kita ingin menjaga interpretabilitas rentang asli data.</a:t>
            </a:r>
            <a:endParaRPr/>
          </a:p>
          <a:p>
            <a:pPr indent="-1905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Kekurangan: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Sangat sensitif terhadap outlier</a:t>
            </a: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karena rentang min &amp; max sangat dipengaruhi oleh nilai ekstrem.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Google Shape;700;p36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701" name="Google Shape;701;p36"/>
            <p:cNvSpPr/>
            <p:nvPr/>
          </p:nvSpPr>
          <p:spPr>
            <a:xfrm>
              <a:off x="0" y="0"/>
              <a:ext cx="334883" cy="2709333"/>
            </a:xfrm>
            <a:custGeom>
              <a:rect b="b" l="l" r="r" t="t"/>
              <a:pathLst>
                <a:path extrusionOk="0" h="2709333" w="33488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6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3" name="Google Shape;703;p36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6"/>
          <p:cNvSpPr txBox="1"/>
          <p:nvPr/>
        </p:nvSpPr>
        <p:spPr>
          <a:xfrm>
            <a:off x="751417" y="4186831"/>
            <a:ext cx="16014230" cy="187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Next Topic: Introduction to Regression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oogle Shape;710;p37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711" name="Google Shape;711;p37"/>
            <p:cNvSpPr/>
            <p:nvPr/>
          </p:nvSpPr>
          <p:spPr>
            <a:xfrm>
              <a:off x="0" y="0"/>
              <a:ext cx="334883" cy="2709333"/>
            </a:xfrm>
            <a:custGeom>
              <a:rect b="b" l="l" r="r" t="t"/>
              <a:pathLst>
                <a:path extrusionOk="0" h="2709333" w="33488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7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3" name="Google Shape;713;p37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7"/>
          <p:cNvSpPr txBox="1"/>
          <p:nvPr/>
        </p:nvSpPr>
        <p:spPr>
          <a:xfrm>
            <a:off x="1139750" y="817667"/>
            <a:ext cx="1601423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Ringkasan</a:t>
            </a:r>
            <a:endParaRPr b="1" sz="6092">
              <a:solidFill>
                <a:srgbClr val="08377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5" name="Google Shape;715;p37"/>
          <p:cNvSpPr txBox="1"/>
          <p:nvPr/>
        </p:nvSpPr>
        <p:spPr>
          <a:xfrm>
            <a:off x="1600200" y="2247900"/>
            <a:ext cx="13652811" cy="7370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EDA membantu memahami data sebelum diproses lebih lanjut.</a:t>
            </a:r>
            <a:endParaRPr/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 penting untuk meningkatkan performa model.</a:t>
            </a:r>
            <a:endParaRPr/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Duplikat, outlier, missing value, encoding, dan scaling harus diperhatikan.</a:t>
            </a:r>
            <a:endParaRPr/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Visualisasi membantu kita melihat perubahan data sebelum &amp; sesudah preprocessing.</a:t>
            </a:r>
            <a:endParaRPr/>
          </a:p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Tanpa Feature Engineering, model ML bisa bekerja dengan buruk. </a:t>
            </a:r>
            <a:endParaRPr/>
          </a:p>
          <a:p>
            <a:pPr indent="-3048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📌Penutup:</a:t>
            </a:r>
            <a:br>
              <a:rPr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"Jadi, sebelum buru-buru membangun model Machine Learning, pastikan kita memahami dan membersihkan data dengan baik!"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38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721" name="Google Shape;721;p38"/>
            <p:cNvSpPr/>
            <p:nvPr/>
          </p:nvSpPr>
          <p:spPr>
            <a:xfrm>
              <a:off x="0" y="0"/>
              <a:ext cx="334883" cy="2709333"/>
            </a:xfrm>
            <a:custGeom>
              <a:rect b="b" l="l" r="r" t="t"/>
              <a:pathLst>
                <a:path extrusionOk="0" h="2709333" w="33488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8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38"/>
          <p:cNvSpPr/>
          <p:nvPr/>
        </p:nvSpPr>
        <p:spPr>
          <a:xfrm>
            <a:off x="225597" y="158093"/>
            <a:ext cx="1051640" cy="946825"/>
          </a:xfrm>
          <a:custGeom>
            <a:rect b="b" l="l" r="r" t="t"/>
            <a:pathLst>
              <a:path extrusionOk="0" h="946825" w="1051640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61" r="-39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8"/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2">
                <a:solidFill>
                  <a:srgbClr val="08377C"/>
                </a:solidFill>
                <a:latin typeface="Montserrat"/>
                <a:ea typeface="Montserrat"/>
                <a:cs typeface="Montserrat"/>
                <a:sym typeface="Montserrat"/>
              </a:rPr>
              <a:t>Reference</a:t>
            </a:r>
            <a:endParaRPr/>
          </a:p>
        </p:txBody>
      </p:sp>
      <p:sp>
        <p:nvSpPr>
          <p:cNvPr id="725" name="Google Shape;725;p38"/>
          <p:cNvSpPr txBox="1"/>
          <p:nvPr/>
        </p:nvSpPr>
        <p:spPr>
          <a:xfrm>
            <a:off x="767595" y="2919347"/>
            <a:ext cx="15844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400"/>
              <a:buFont typeface="Calibri"/>
              <a:buAutoNum type="arabicPeriod"/>
            </a:pPr>
            <a:r>
              <a:rPr b="1" i="0" lang="en-US" sz="2400" u="none" strike="noStrike">
                <a:solidFill>
                  <a:srgbClr val="31859B"/>
                </a:solidFill>
                <a:latin typeface="Arial"/>
                <a:ea typeface="Arial"/>
                <a:cs typeface="Arial"/>
                <a:sym typeface="Arial"/>
              </a:rPr>
              <a:t>Hands-On Exploratory Data Analysis with Python</a:t>
            </a:r>
            <a:endParaRPr b="0" sz="2400">
              <a:solidFill>
                <a:srgbClr val="31859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" name="Google Shape;731;p39"/>
          <p:cNvGrpSpPr/>
          <p:nvPr/>
        </p:nvGrpSpPr>
        <p:grpSpPr>
          <a:xfrm>
            <a:off x="1" y="9720524"/>
            <a:ext cx="18288000" cy="566476"/>
            <a:chOff x="0" y="-38100"/>
            <a:chExt cx="6110362" cy="303232"/>
          </a:xfrm>
        </p:grpSpPr>
        <p:sp>
          <p:nvSpPr>
            <p:cNvPr id="732" name="Google Shape;732;p39"/>
            <p:cNvSpPr/>
            <p:nvPr/>
          </p:nvSpPr>
          <p:spPr>
            <a:xfrm>
              <a:off x="0" y="0"/>
              <a:ext cx="6110362" cy="265132"/>
            </a:xfrm>
            <a:custGeom>
              <a:rect b="b" l="l" r="r" t="t"/>
              <a:pathLst>
                <a:path extrusionOk="0" h="265132" w="611036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9"/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39"/>
          <p:cNvGrpSpPr/>
          <p:nvPr/>
        </p:nvGrpSpPr>
        <p:grpSpPr>
          <a:xfrm>
            <a:off x="1" y="-32346"/>
            <a:ext cx="18288000" cy="451446"/>
            <a:chOff x="0" y="-38100"/>
            <a:chExt cx="6110362" cy="531751"/>
          </a:xfrm>
        </p:grpSpPr>
        <p:sp>
          <p:nvSpPr>
            <p:cNvPr id="735" name="Google Shape;735;p39"/>
            <p:cNvSpPr/>
            <p:nvPr/>
          </p:nvSpPr>
          <p:spPr>
            <a:xfrm>
              <a:off x="0" y="0"/>
              <a:ext cx="6110362" cy="493651"/>
            </a:xfrm>
            <a:custGeom>
              <a:rect b="b" l="l" r="r" t="t"/>
              <a:pathLst>
                <a:path extrusionOk="0" h="493651" w="6110362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/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7" name="Google Shape;737;p39"/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64">
                <a:solidFill>
                  <a:srgbClr val="051D4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THANK YOU!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 S I</dc:creator>
</cp:coreProperties>
</file>