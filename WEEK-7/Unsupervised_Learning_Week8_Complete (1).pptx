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5" d="100"/>
          <a:sy n="145" d="100"/>
        </p:scale>
        <p:origin x="114" y="12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ID" sz="1800" b="0" i="0" u="none" strike="noStrike">
                <a:solidFill>
                  <a:srgbClr val="000000"/>
                </a:solidFill>
                <a:latin typeface="Arial"/>
              </a:rPr>
              <a:t>Elbow Method: WCSS vs Jumlah Cluster (k)</a:t>
            </a:r>
          </a:p>
        </c:rich>
      </c:tx>
      <c:overlay val="0"/>
    </c:title>
    <c:autoTitleDeleted val="0"/>
    <c:plotArea>
      <c:layout/>
      <c:lineChart>
        <c:grouping val="standard"/>
        <c:varyColors val="0"/>
        <c:ser>
          <c:idx val="0"/>
          <c:order val="0"/>
          <c:tx>
            <c:strRef>
              <c:f>Sheet1!$B$1</c:f>
              <c:strCache>
                <c:ptCount val="1"/>
                <c:pt idx="0">
                  <c:v>WCSS (Inertia)</c:v>
                </c:pt>
              </c:strCache>
            </c:strRef>
          </c:tx>
          <c:spPr>
            <a:ln w="38100" cap="flat">
              <a:solidFill>
                <a:srgbClr val="1A56DB"/>
              </a:solidFill>
              <a:prstDash val="solid"/>
              <a:round/>
            </a:ln>
            <a:effectLst/>
          </c:spPr>
          <c:marker>
            <c:symbol val="circle"/>
            <c:size val="6"/>
            <c:spPr>
              <a:solidFill>
                <a:srgbClr val="1A56DB"/>
              </a:solidFill>
              <a:ln w="9525" cap="flat">
                <a:solidFill>
                  <a:srgbClr val="1A56DB"/>
                </a:solidFill>
                <a:prstDash val="solid"/>
                <a:round/>
              </a:ln>
              <a:effectLst/>
            </c:spPr>
          </c:marker>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k=1</c:v>
                </c:pt>
                <c:pt idx="1">
                  <c:v>k=2</c:v>
                </c:pt>
                <c:pt idx="2">
                  <c:v>k=3</c:v>
                </c:pt>
                <c:pt idx="3">
                  <c:v>k=4</c:v>
                </c:pt>
                <c:pt idx="4">
                  <c:v>k=5</c:v>
                </c:pt>
                <c:pt idx="5">
                  <c:v>k=6</c:v>
                </c:pt>
                <c:pt idx="6">
                  <c:v>k=7</c:v>
                </c:pt>
                <c:pt idx="7">
                  <c:v>k=8</c:v>
                </c:pt>
              </c:strCache>
            </c:strRef>
          </c:cat>
          <c:val>
            <c:numRef>
              <c:f>Sheet1!$B$2:$B$9</c:f>
              <c:numCache>
                <c:formatCode>General</c:formatCode>
                <c:ptCount val="8"/>
                <c:pt idx="0">
                  <c:v>850</c:v>
                </c:pt>
                <c:pt idx="1">
                  <c:v>450</c:v>
                </c:pt>
                <c:pt idx="2">
                  <c:v>220</c:v>
                </c:pt>
                <c:pt idx="3">
                  <c:v>180</c:v>
                </c:pt>
                <c:pt idx="4">
                  <c:v>165</c:v>
                </c:pt>
                <c:pt idx="5">
                  <c:v>158</c:v>
                </c:pt>
                <c:pt idx="6">
                  <c:v>154</c:v>
                </c:pt>
                <c:pt idx="7">
                  <c:v>151</c:v>
                </c:pt>
              </c:numCache>
            </c:numRef>
          </c:val>
          <c:smooth val="0"/>
          <c:extLst>
            <c:ext xmlns:c16="http://schemas.microsoft.com/office/drawing/2014/chart" uri="{C3380CC4-5D6E-409C-BE32-E72D297353CC}">
              <c16:uniqueId val="{00000000-5430-4F28-AAD5-7B99092BEEFF}"/>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43385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0D9488"/>
          </a:solidFill>
          <a:ln w="12700">
            <a:solidFill>
              <a:srgbClr val="0D9488"/>
            </a:solidFill>
            <a:prstDash val="solid"/>
          </a:ln>
        </p:spPr>
      </p:sp>
      <p:sp>
        <p:nvSpPr>
          <p:cNvPr id="3" name="Shape 1"/>
          <p:cNvSpPr/>
          <p:nvPr/>
        </p:nvSpPr>
        <p:spPr>
          <a:xfrm>
            <a:off x="6858000" y="0"/>
            <a:ext cx="2286000" cy="5143500"/>
          </a:xfrm>
          <a:prstGeom prst="rect">
            <a:avLst/>
          </a:prstGeom>
          <a:solidFill>
            <a:srgbClr val="0D1F3C"/>
          </a:solidFill>
          <a:ln w="12700">
            <a:solidFill>
              <a:srgbClr val="0D1F3C"/>
            </a:solidFill>
            <a:prstDash val="solid"/>
          </a:ln>
        </p:spPr>
      </p:sp>
      <p:sp>
        <p:nvSpPr>
          <p:cNvPr id="4" name="Shape 2"/>
          <p:cNvSpPr/>
          <p:nvPr/>
        </p:nvSpPr>
        <p:spPr>
          <a:xfrm>
            <a:off x="6858000" y="0"/>
            <a:ext cx="36576" cy="5143500"/>
          </a:xfrm>
          <a:prstGeom prst="rect">
            <a:avLst/>
          </a:prstGeom>
          <a:solidFill>
            <a:srgbClr val="0D9488"/>
          </a:solidFill>
          <a:ln w="12700">
            <a:solidFill>
              <a:srgbClr val="0D9488"/>
            </a:solidFill>
            <a:prstDash val="solid"/>
          </a:ln>
        </p:spPr>
      </p:sp>
      <p:pic>
        <p:nvPicPr>
          <p:cNvPr id="5" name="Image 0" descr="preencoded.png"/>
          <p:cNvPicPr>
            <a:picLocks noChangeAspect="1"/>
          </p:cNvPicPr>
          <p:nvPr/>
        </p:nvPicPr>
        <p:blipFill>
          <a:blip r:embed="rId3"/>
          <a:stretch>
            <a:fillRect/>
          </a:stretch>
        </p:blipFill>
        <p:spPr>
          <a:xfrm>
            <a:off x="7406640" y="1280160"/>
            <a:ext cx="1188720" cy="1188720"/>
          </a:xfrm>
          <a:prstGeom prst="rect">
            <a:avLst/>
          </a:prstGeom>
        </p:spPr>
      </p:pic>
      <p:sp>
        <p:nvSpPr>
          <p:cNvPr id="6" name="Shape 3"/>
          <p:cNvSpPr/>
          <p:nvPr/>
        </p:nvSpPr>
        <p:spPr>
          <a:xfrm>
            <a:off x="365760" y="411480"/>
            <a:ext cx="1188720" cy="347472"/>
          </a:xfrm>
          <a:prstGeom prst="rect">
            <a:avLst/>
          </a:prstGeom>
          <a:solidFill>
            <a:srgbClr val="0D9488"/>
          </a:solidFill>
          <a:ln w="12700">
            <a:solidFill>
              <a:srgbClr val="0D9488"/>
            </a:solidFill>
            <a:prstDash val="solid"/>
          </a:ln>
        </p:spPr>
      </p:sp>
      <p:sp>
        <p:nvSpPr>
          <p:cNvPr id="7" name="Text 4"/>
          <p:cNvSpPr/>
          <p:nvPr/>
        </p:nvSpPr>
        <p:spPr>
          <a:xfrm>
            <a:off x="365760" y="429768"/>
            <a:ext cx="118872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WEEK 8</a:t>
            </a:r>
            <a:endParaRPr lang="en-US" sz="1100" dirty="0"/>
          </a:p>
        </p:txBody>
      </p:sp>
      <p:sp>
        <p:nvSpPr>
          <p:cNvPr id="8" name="Text 5"/>
          <p:cNvSpPr/>
          <p:nvPr/>
        </p:nvSpPr>
        <p:spPr>
          <a:xfrm>
            <a:off x="365760" y="914400"/>
            <a:ext cx="6400800" cy="365760"/>
          </a:xfrm>
          <a:prstGeom prst="rect">
            <a:avLst/>
          </a:prstGeom>
          <a:noFill/>
          <a:ln/>
        </p:spPr>
        <p:txBody>
          <a:bodyPr wrap="square" lIns="0" tIns="0" rIns="0" bIns="0" rtlCol="0" anchor="ctr"/>
          <a:lstStyle/>
          <a:p>
            <a:pPr marL="0" indent="0">
              <a:buNone/>
            </a:pPr>
            <a:r>
              <a:rPr lang="en-US" sz="1400" dirty="0">
                <a:solidFill>
                  <a:srgbClr val="60A5FA"/>
                </a:solidFill>
                <a:latin typeface="Calibri" pitchFamily="34" charset="0"/>
                <a:ea typeface="Calibri" pitchFamily="34" charset="-122"/>
                <a:cs typeface="Calibri" pitchFamily="34" charset="-120"/>
              </a:rPr>
              <a:t>Machine Learning</a:t>
            </a:r>
            <a:endParaRPr lang="en-US" sz="1400" dirty="0"/>
          </a:p>
        </p:txBody>
      </p:sp>
      <p:sp>
        <p:nvSpPr>
          <p:cNvPr id="9" name="Text 6"/>
          <p:cNvSpPr/>
          <p:nvPr/>
        </p:nvSpPr>
        <p:spPr>
          <a:xfrm>
            <a:off x="365760" y="1280160"/>
            <a:ext cx="6400800" cy="868680"/>
          </a:xfrm>
          <a:prstGeom prst="rect">
            <a:avLst/>
          </a:prstGeom>
          <a:noFill/>
          <a:ln/>
        </p:spPr>
        <p:txBody>
          <a:bodyPr wrap="square" lIns="0" tIns="0" rIns="0" bIns="0"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Unsupervised</a:t>
            </a:r>
            <a:endParaRPr lang="en-US" sz="5200" dirty="0"/>
          </a:p>
        </p:txBody>
      </p:sp>
      <p:sp>
        <p:nvSpPr>
          <p:cNvPr id="10" name="Text 7"/>
          <p:cNvSpPr/>
          <p:nvPr/>
        </p:nvSpPr>
        <p:spPr>
          <a:xfrm>
            <a:off x="365760" y="2057400"/>
            <a:ext cx="6400800" cy="868680"/>
          </a:xfrm>
          <a:prstGeom prst="rect">
            <a:avLst/>
          </a:prstGeom>
          <a:noFill/>
          <a:ln/>
        </p:spPr>
        <p:txBody>
          <a:bodyPr wrap="square" lIns="0" tIns="0" rIns="0" bIns="0" rtlCol="0" anchor="ctr"/>
          <a:lstStyle/>
          <a:p>
            <a:pPr marL="0" indent="0">
              <a:buNone/>
            </a:pPr>
            <a:r>
              <a:rPr lang="en-US" sz="5200" b="1" dirty="0">
                <a:solidFill>
                  <a:srgbClr val="0D9488"/>
                </a:solidFill>
                <a:latin typeface="Calibri" pitchFamily="34" charset="0"/>
                <a:ea typeface="Calibri" pitchFamily="34" charset="-122"/>
                <a:cs typeface="Calibri" pitchFamily="34" charset="-120"/>
              </a:rPr>
              <a:t>Learning</a:t>
            </a:r>
            <a:endParaRPr lang="en-US" sz="5200" dirty="0"/>
          </a:p>
        </p:txBody>
      </p:sp>
      <p:sp>
        <p:nvSpPr>
          <p:cNvPr id="11" name="Shape 8"/>
          <p:cNvSpPr/>
          <p:nvPr/>
        </p:nvSpPr>
        <p:spPr>
          <a:xfrm>
            <a:off x="365760" y="3063240"/>
            <a:ext cx="4114800" cy="36576"/>
          </a:xfrm>
          <a:prstGeom prst="rect">
            <a:avLst/>
          </a:prstGeom>
          <a:solidFill>
            <a:srgbClr val="60A5FA"/>
          </a:solidFill>
          <a:ln w="12700">
            <a:solidFill>
              <a:srgbClr val="60A5FA"/>
            </a:solidFill>
            <a:prstDash val="solid"/>
          </a:ln>
        </p:spPr>
      </p:sp>
      <p:sp>
        <p:nvSpPr>
          <p:cNvPr id="12" name="Text 9"/>
          <p:cNvSpPr/>
          <p:nvPr/>
        </p:nvSpPr>
        <p:spPr>
          <a:xfrm>
            <a:off x="365760" y="3200400"/>
            <a:ext cx="6400800" cy="27432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D4 Robotics Engineering Study Program</a:t>
            </a:r>
            <a:endParaRPr lang="en-US" sz="1100" dirty="0"/>
          </a:p>
        </p:txBody>
      </p:sp>
      <p:sp>
        <p:nvSpPr>
          <p:cNvPr id="13" name="Text 10"/>
          <p:cNvSpPr/>
          <p:nvPr/>
        </p:nvSpPr>
        <p:spPr>
          <a:xfrm>
            <a:off x="365760" y="3474720"/>
            <a:ext cx="64008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Department of Electrical Engineering — Politeknik Negeri Batam</a:t>
            </a:r>
            <a:endParaRPr lang="en-US" sz="1000" dirty="0"/>
          </a:p>
        </p:txBody>
      </p:sp>
      <p:sp>
        <p:nvSpPr>
          <p:cNvPr id="14" name="Shape 11"/>
          <p:cNvSpPr/>
          <p:nvPr/>
        </p:nvSpPr>
        <p:spPr>
          <a:xfrm>
            <a:off x="365760" y="3931920"/>
            <a:ext cx="54864" cy="201168"/>
          </a:xfrm>
          <a:prstGeom prst="rect">
            <a:avLst/>
          </a:prstGeom>
          <a:solidFill>
            <a:srgbClr val="F59E0B"/>
          </a:solidFill>
          <a:ln w="12700">
            <a:solidFill>
              <a:srgbClr val="F59E0B"/>
            </a:solidFill>
            <a:prstDash val="solid"/>
          </a:ln>
        </p:spPr>
      </p:sp>
      <p:sp>
        <p:nvSpPr>
          <p:cNvPr id="15" name="Text 12"/>
          <p:cNvSpPr/>
          <p:nvPr/>
        </p:nvSpPr>
        <p:spPr>
          <a:xfrm>
            <a:off x="512064" y="3931920"/>
            <a:ext cx="4114800" cy="201168"/>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Dimensionality Reduction (PCA)</a:t>
            </a:r>
            <a:endParaRPr lang="en-US" sz="1000" dirty="0"/>
          </a:p>
        </p:txBody>
      </p:sp>
      <p:sp>
        <p:nvSpPr>
          <p:cNvPr id="16" name="Shape 13"/>
          <p:cNvSpPr/>
          <p:nvPr/>
        </p:nvSpPr>
        <p:spPr>
          <a:xfrm>
            <a:off x="365760" y="4224528"/>
            <a:ext cx="54864" cy="201168"/>
          </a:xfrm>
          <a:prstGeom prst="rect">
            <a:avLst/>
          </a:prstGeom>
          <a:solidFill>
            <a:srgbClr val="F59E0B"/>
          </a:solidFill>
          <a:ln w="12700">
            <a:solidFill>
              <a:srgbClr val="F59E0B"/>
            </a:solidFill>
            <a:prstDash val="solid"/>
          </a:ln>
        </p:spPr>
      </p:sp>
      <p:sp>
        <p:nvSpPr>
          <p:cNvPr id="17" name="Text 14"/>
          <p:cNvSpPr/>
          <p:nvPr/>
        </p:nvSpPr>
        <p:spPr>
          <a:xfrm>
            <a:off x="512064" y="4224528"/>
            <a:ext cx="4114800" cy="201168"/>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Clustering: K-Means &amp; DBSCAN</a:t>
            </a:r>
            <a:endParaRPr lang="en-US" sz="1000" dirty="0"/>
          </a:p>
        </p:txBody>
      </p:sp>
      <p:sp>
        <p:nvSpPr>
          <p:cNvPr id="18" name="Shape 15"/>
          <p:cNvSpPr/>
          <p:nvPr/>
        </p:nvSpPr>
        <p:spPr>
          <a:xfrm>
            <a:off x="365760" y="4517136"/>
            <a:ext cx="54864" cy="201168"/>
          </a:xfrm>
          <a:prstGeom prst="rect">
            <a:avLst/>
          </a:prstGeom>
          <a:solidFill>
            <a:srgbClr val="F59E0B"/>
          </a:solidFill>
          <a:ln w="12700">
            <a:solidFill>
              <a:srgbClr val="F59E0B"/>
            </a:solidFill>
            <a:prstDash val="solid"/>
          </a:ln>
        </p:spPr>
      </p:sp>
      <p:sp>
        <p:nvSpPr>
          <p:cNvPr id="19" name="Text 16"/>
          <p:cNvSpPr/>
          <p:nvPr/>
        </p:nvSpPr>
        <p:spPr>
          <a:xfrm>
            <a:off x="512064" y="4517136"/>
            <a:ext cx="4114800" cy="201168"/>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Evaluation: Elbow &amp; Silhouette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342"/>
          </a:solidFill>
          <a:ln w="12700">
            <a:solidFill>
              <a:srgbClr val="0A2342"/>
            </a:solidFill>
            <a:prstDash val="solid"/>
          </a:ln>
        </p:spPr>
      </p:sp>
      <p:sp>
        <p:nvSpPr>
          <p:cNvPr id="3" name="Shape 1"/>
          <p:cNvSpPr/>
          <p:nvPr/>
        </p:nvSpPr>
        <p:spPr>
          <a:xfrm>
            <a:off x="0" y="1005840"/>
            <a:ext cx="9144000" cy="45720"/>
          </a:xfrm>
          <a:prstGeom prst="rect">
            <a:avLst/>
          </a:prstGeom>
          <a:solidFill>
            <a:srgbClr val="0D9488"/>
          </a:solidFill>
          <a:ln w="12700">
            <a:solidFill>
              <a:srgbClr val="0D9488"/>
            </a:solidFill>
            <a:prstDash val="solid"/>
          </a:ln>
        </p:spPr>
      </p:sp>
      <p:sp>
        <p:nvSpPr>
          <p:cNvPr id="4" name="Text 2"/>
          <p:cNvSpPr/>
          <p:nvPr/>
        </p:nvSpPr>
        <p:spPr>
          <a:xfrm>
            <a:off x="365760" y="91440"/>
            <a:ext cx="822960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Learning Objectives</a:t>
            </a:r>
            <a:endParaRPr lang="en-US" sz="2200" dirty="0"/>
          </a:p>
        </p:txBody>
      </p:sp>
      <p:sp>
        <p:nvSpPr>
          <p:cNvPr id="5" name="Text 3"/>
          <p:cNvSpPr/>
          <p:nvPr/>
        </p:nvSpPr>
        <p:spPr>
          <a:xfrm>
            <a:off x="365760" y="658368"/>
            <a:ext cx="8229600" cy="320040"/>
          </a:xfrm>
          <a:prstGeom prst="rect">
            <a:avLst/>
          </a:prstGeom>
          <a:noFill/>
          <a:ln/>
        </p:spPr>
        <p:txBody>
          <a:bodyPr wrap="square" lIns="0" tIns="0" rIns="0" bIns="0" rtlCol="0" anchor="ctr"/>
          <a:lstStyle/>
          <a:p>
            <a:pPr marL="0" indent="0">
              <a:buNone/>
            </a:pPr>
            <a:r>
              <a:rPr lang="en-US" sz="1100" dirty="0">
                <a:solidFill>
                  <a:srgbClr val="60A5FA"/>
                </a:solidFill>
                <a:latin typeface="Calibri" pitchFamily="34" charset="0"/>
                <a:ea typeface="Calibri" pitchFamily="34" charset="-122"/>
                <a:cs typeface="Calibri" pitchFamily="34" charset="-120"/>
              </a:rPr>
              <a:t>Apa yang akan kamu pelajari minggu ini?</a:t>
            </a:r>
            <a:endParaRPr lang="en-US" sz="1100" dirty="0"/>
          </a:p>
        </p:txBody>
      </p:sp>
      <p:sp>
        <p:nvSpPr>
          <p:cNvPr id="6" name="Shape 4"/>
          <p:cNvSpPr/>
          <p:nvPr/>
        </p:nvSpPr>
        <p:spPr>
          <a:xfrm>
            <a:off x="274320" y="1188720"/>
            <a:ext cx="4206240" cy="100584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7" name="Shape 5"/>
          <p:cNvSpPr/>
          <p:nvPr/>
        </p:nvSpPr>
        <p:spPr>
          <a:xfrm>
            <a:off x="411480" y="1435608"/>
            <a:ext cx="502920" cy="502920"/>
          </a:xfrm>
          <a:prstGeom prst="ellipse">
            <a:avLst/>
          </a:prstGeom>
          <a:solidFill>
            <a:srgbClr val="0A2342"/>
          </a:solidFill>
          <a:ln w="12700">
            <a:solidFill>
              <a:srgbClr val="0A2342"/>
            </a:solidFill>
            <a:prstDash val="solid"/>
          </a:ln>
        </p:spPr>
      </p:sp>
      <p:pic>
        <p:nvPicPr>
          <p:cNvPr id="8" name="Image 0" descr="preencoded.png"/>
          <p:cNvPicPr>
            <a:picLocks noChangeAspect="1"/>
          </p:cNvPicPr>
          <p:nvPr/>
        </p:nvPicPr>
        <p:blipFill>
          <a:blip r:embed="rId3"/>
          <a:stretch>
            <a:fillRect/>
          </a:stretch>
        </p:blipFill>
        <p:spPr>
          <a:xfrm>
            <a:off x="475488" y="1499616"/>
            <a:ext cx="365760" cy="365760"/>
          </a:xfrm>
          <a:prstGeom prst="rect">
            <a:avLst/>
          </a:prstGeom>
        </p:spPr>
      </p:pic>
      <p:sp>
        <p:nvSpPr>
          <p:cNvPr id="9" name="Text 6"/>
          <p:cNvSpPr/>
          <p:nvPr/>
        </p:nvSpPr>
        <p:spPr>
          <a:xfrm>
            <a:off x="1051560" y="1280160"/>
            <a:ext cx="333756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Memahami Konsep</a:t>
            </a:r>
            <a:endParaRPr lang="en-US" sz="1200" dirty="0"/>
          </a:p>
        </p:txBody>
      </p:sp>
      <p:sp>
        <p:nvSpPr>
          <p:cNvPr id="10" name="Text 7"/>
          <p:cNvSpPr/>
          <p:nvPr/>
        </p:nvSpPr>
        <p:spPr>
          <a:xfrm>
            <a:off x="1051560" y="1536192"/>
            <a:ext cx="3337560" cy="59436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Menjelaskan apa itu Unsupervised Learning dan perbedaannya dengan Supervised Learning.</a:t>
            </a:r>
            <a:endParaRPr lang="en-US" sz="950" dirty="0"/>
          </a:p>
        </p:txBody>
      </p:sp>
      <p:sp>
        <p:nvSpPr>
          <p:cNvPr id="11" name="Shape 8"/>
          <p:cNvSpPr/>
          <p:nvPr/>
        </p:nvSpPr>
        <p:spPr>
          <a:xfrm>
            <a:off x="4754880" y="1188720"/>
            <a:ext cx="4206240" cy="100584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12" name="Shape 9"/>
          <p:cNvSpPr/>
          <p:nvPr/>
        </p:nvSpPr>
        <p:spPr>
          <a:xfrm>
            <a:off x="4892040" y="1435608"/>
            <a:ext cx="502920" cy="502920"/>
          </a:xfrm>
          <a:prstGeom prst="ellipse">
            <a:avLst/>
          </a:prstGeom>
          <a:solidFill>
            <a:srgbClr val="0A2342"/>
          </a:solidFill>
          <a:ln w="12700">
            <a:solidFill>
              <a:srgbClr val="0A2342"/>
            </a:solidFill>
            <a:prstDash val="solid"/>
          </a:ln>
        </p:spPr>
      </p:sp>
      <p:pic>
        <p:nvPicPr>
          <p:cNvPr id="13" name="Image 1" descr="preencoded.png"/>
          <p:cNvPicPr>
            <a:picLocks noChangeAspect="1"/>
          </p:cNvPicPr>
          <p:nvPr/>
        </p:nvPicPr>
        <p:blipFill>
          <a:blip r:embed="rId4"/>
          <a:stretch>
            <a:fillRect/>
          </a:stretch>
        </p:blipFill>
        <p:spPr>
          <a:xfrm>
            <a:off x="4956048" y="1499616"/>
            <a:ext cx="365760" cy="365760"/>
          </a:xfrm>
          <a:prstGeom prst="rect">
            <a:avLst/>
          </a:prstGeom>
        </p:spPr>
      </p:pic>
      <p:sp>
        <p:nvSpPr>
          <p:cNvPr id="14" name="Text 10"/>
          <p:cNvSpPr/>
          <p:nvPr/>
        </p:nvSpPr>
        <p:spPr>
          <a:xfrm>
            <a:off x="5532120" y="1280160"/>
            <a:ext cx="333756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Dimensionality Reduction</a:t>
            </a:r>
            <a:endParaRPr lang="en-US" sz="1200" dirty="0"/>
          </a:p>
        </p:txBody>
      </p:sp>
      <p:sp>
        <p:nvSpPr>
          <p:cNvPr id="15" name="Text 11"/>
          <p:cNvSpPr/>
          <p:nvPr/>
        </p:nvSpPr>
        <p:spPr>
          <a:xfrm>
            <a:off x="5532120" y="1536192"/>
            <a:ext cx="3337560" cy="59436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Menguasai konsep dan langkah-langkah PCA (Principal Component Analysis).</a:t>
            </a:r>
            <a:endParaRPr lang="en-US" sz="950" dirty="0"/>
          </a:p>
        </p:txBody>
      </p:sp>
      <p:sp>
        <p:nvSpPr>
          <p:cNvPr id="16" name="Shape 12"/>
          <p:cNvSpPr/>
          <p:nvPr/>
        </p:nvSpPr>
        <p:spPr>
          <a:xfrm>
            <a:off x="274320" y="2423160"/>
            <a:ext cx="4206240" cy="100584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17" name="Shape 13"/>
          <p:cNvSpPr/>
          <p:nvPr/>
        </p:nvSpPr>
        <p:spPr>
          <a:xfrm>
            <a:off x="411480" y="2670048"/>
            <a:ext cx="502920" cy="502920"/>
          </a:xfrm>
          <a:prstGeom prst="ellipse">
            <a:avLst/>
          </a:prstGeom>
          <a:solidFill>
            <a:srgbClr val="0A2342"/>
          </a:solidFill>
          <a:ln w="12700">
            <a:solidFill>
              <a:srgbClr val="0A2342"/>
            </a:solidFill>
            <a:prstDash val="solid"/>
          </a:ln>
        </p:spPr>
      </p:sp>
      <p:pic>
        <p:nvPicPr>
          <p:cNvPr id="18" name="Image 2" descr="preencoded.png"/>
          <p:cNvPicPr>
            <a:picLocks noChangeAspect="1"/>
          </p:cNvPicPr>
          <p:nvPr/>
        </p:nvPicPr>
        <p:blipFill>
          <a:blip r:embed="rId5"/>
          <a:stretch>
            <a:fillRect/>
          </a:stretch>
        </p:blipFill>
        <p:spPr>
          <a:xfrm>
            <a:off x="475488" y="2734056"/>
            <a:ext cx="365760" cy="365760"/>
          </a:xfrm>
          <a:prstGeom prst="rect">
            <a:avLst/>
          </a:prstGeom>
        </p:spPr>
      </p:pic>
      <p:sp>
        <p:nvSpPr>
          <p:cNvPr id="19" name="Text 14"/>
          <p:cNvSpPr/>
          <p:nvPr/>
        </p:nvSpPr>
        <p:spPr>
          <a:xfrm>
            <a:off x="1051560" y="2514600"/>
            <a:ext cx="333756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Clustering</a:t>
            </a:r>
            <a:endParaRPr lang="en-US" sz="1200" dirty="0"/>
          </a:p>
        </p:txBody>
      </p:sp>
      <p:sp>
        <p:nvSpPr>
          <p:cNvPr id="20" name="Text 15"/>
          <p:cNvSpPr/>
          <p:nvPr/>
        </p:nvSpPr>
        <p:spPr>
          <a:xfrm>
            <a:off x="1051560" y="2770632"/>
            <a:ext cx="3337560" cy="59436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Mengimplementasikan K-Means dan DBSCAN untuk mengelompokkan data tanpa label.</a:t>
            </a:r>
            <a:endParaRPr lang="en-US" sz="950" dirty="0"/>
          </a:p>
        </p:txBody>
      </p:sp>
      <p:sp>
        <p:nvSpPr>
          <p:cNvPr id="21" name="Shape 16"/>
          <p:cNvSpPr/>
          <p:nvPr/>
        </p:nvSpPr>
        <p:spPr>
          <a:xfrm>
            <a:off x="4754880" y="2423160"/>
            <a:ext cx="4206240" cy="100584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22" name="Shape 17"/>
          <p:cNvSpPr/>
          <p:nvPr/>
        </p:nvSpPr>
        <p:spPr>
          <a:xfrm>
            <a:off x="4892040" y="2670048"/>
            <a:ext cx="502920" cy="502920"/>
          </a:xfrm>
          <a:prstGeom prst="ellipse">
            <a:avLst/>
          </a:prstGeom>
          <a:solidFill>
            <a:srgbClr val="0A2342"/>
          </a:solidFill>
          <a:ln w="12700">
            <a:solidFill>
              <a:srgbClr val="0A2342"/>
            </a:solidFill>
            <a:prstDash val="solid"/>
          </a:ln>
        </p:spPr>
      </p:sp>
      <p:pic>
        <p:nvPicPr>
          <p:cNvPr id="23" name="Image 3" descr="preencoded.png"/>
          <p:cNvPicPr>
            <a:picLocks noChangeAspect="1"/>
          </p:cNvPicPr>
          <p:nvPr/>
        </p:nvPicPr>
        <p:blipFill>
          <a:blip r:embed="rId6"/>
          <a:stretch>
            <a:fillRect/>
          </a:stretch>
        </p:blipFill>
        <p:spPr>
          <a:xfrm>
            <a:off x="4956048" y="2734056"/>
            <a:ext cx="365760" cy="365760"/>
          </a:xfrm>
          <a:prstGeom prst="rect">
            <a:avLst/>
          </a:prstGeom>
        </p:spPr>
      </p:pic>
      <p:sp>
        <p:nvSpPr>
          <p:cNvPr id="24" name="Text 18"/>
          <p:cNvSpPr/>
          <p:nvPr/>
        </p:nvSpPr>
        <p:spPr>
          <a:xfrm>
            <a:off x="5532120" y="2514600"/>
            <a:ext cx="333756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Evaluasi Model</a:t>
            </a:r>
            <a:endParaRPr lang="en-US" sz="1200" dirty="0"/>
          </a:p>
        </p:txBody>
      </p:sp>
      <p:sp>
        <p:nvSpPr>
          <p:cNvPr id="25" name="Text 19"/>
          <p:cNvSpPr/>
          <p:nvPr/>
        </p:nvSpPr>
        <p:spPr>
          <a:xfrm>
            <a:off x="5532120" y="2770632"/>
            <a:ext cx="3337560" cy="59436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Menggunakan Elbow Method dan Silhouette Score untuk mengevaluasi kualitas clustering.</a:t>
            </a:r>
            <a:endParaRPr lang="en-US" sz="950" dirty="0"/>
          </a:p>
        </p:txBody>
      </p:sp>
      <p:sp>
        <p:nvSpPr>
          <p:cNvPr id="26" name="Shape 20"/>
          <p:cNvSpPr/>
          <p:nvPr/>
        </p:nvSpPr>
        <p:spPr>
          <a:xfrm>
            <a:off x="274320" y="3657600"/>
            <a:ext cx="4206240" cy="100584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27" name="Shape 21"/>
          <p:cNvSpPr/>
          <p:nvPr/>
        </p:nvSpPr>
        <p:spPr>
          <a:xfrm>
            <a:off x="411480" y="3904488"/>
            <a:ext cx="502920" cy="502920"/>
          </a:xfrm>
          <a:prstGeom prst="ellipse">
            <a:avLst/>
          </a:prstGeom>
          <a:solidFill>
            <a:srgbClr val="0A2342"/>
          </a:solidFill>
          <a:ln w="12700">
            <a:solidFill>
              <a:srgbClr val="0A2342"/>
            </a:solidFill>
            <a:prstDash val="solid"/>
          </a:ln>
        </p:spPr>
      </p:sp>
      <p:pic>
        <p:nvPicPr>
          <p:cNvPr id="28" name="Image 4" descr="preencoded.png"/>
          <p:cNvPicPr>
            <a:picLocks noChangeAspect="1"/>
          </p:cNvPicPr>
          <p:nvPr/>
        </p:nvPicPr>
        <p:blipFill>
          <a:blip r:embed="rId7"/>
          <a:stretch>
            <a:fillRect/>
          </a:stretch>
        </p:blipFill>
        <p:spPr>
          <a:xfrm>
            <a:off x="475488" y="3968496"/>
            <a:ext cx="365760" cy="365760"/>
          </a:xfrm>
          <a:prstGeom prst="rect">
            <a:avLst/>
          </a:prstGeom>
        </p:spPr>
      </p:pic>
      <p:sp>
        <p:nvSpPr>
          <p:cNvPr id="29" name="Text 22"/>
          <p:cNvSpPr/>
          <p:nvPr/>
        </p:nvSpPr>
        <p:spPr>
          <a:xfrm>
            <a:off x="1051560" y="3749040"/>
            <a:ext cx="333756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Implementasi Python</a:t>
            </a:r>
            <a:endParaRPr lang="en-US" sz="1200" dirty="0"/>
          </a:p>
        </p:txBody>
      </p:sp>
      <p:sp>
        <p:nvSpPr>
          <p:cNvPr id="30" name="Text 23"/>
          <p:cNvSpPr/>
          <p:nvPr/>
        </p:nvSpPr>
        <p:spPr>
          <a:xfrm>
            <a:off x="1051560" y="4005072"/>
            <a:ext cx="3337560" cy="59436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Menggunakan scikit-learn untuk menerapkan PCA, K-Means, dan DBSCAN pada dataset nyata.</a:t>
            </a:r>
            <a:endParaRPr lang="en-US" sz="950" dirty="0"/>
          </a:p>
        </p:txBody>
      </p:sp>
      <p:sp>
        <p:nvSpPr>
          <p:cNvPr id="31" name="Shape 24"/>
          <p:cNvSpPr/>
          <p:nvPr/>
        </p:nvSpPr>
        <p:spPr>
          <a:xfrm>
            <a:off x="4754880" y="3658718"/>
            <a:ext cx="4206240" cy="100584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32" name="Shape 25"/>
          <p:cNvSpPr/>
          <p:nvPr/>
        </p:nvSpPr>
        <p:spPr>
          <a:xfrm>
            <a:off x="4892040" y="3905606"/>
            <a:ext cx="502920" cy="502920"/>
          </a:xfrm>
          <a:prstGeom prst="ellipse">
            <a:avLst/>
          </a:prstGeom>
          <a:solidFill>
            <a:srgbClr val="0A2342"/>
          </a:solidFill>
          <a:ln w="12700">
            <a:solidFill>
              <a:srgbClr val="0A2342"/>
            </a:solidFill>
            <a:prstDash val="solid"/>
          </a:ln>
        </p:spPr>
      </p:sp>
      <p:pic>
        <p:nvPicPr>
          <p:cNvPr id="33" name="Image 5" descr="preencoded.png"/>
          <p:cNvPicPr>
            <a:picLocks noChangeAspect="1"/>
          </p:cNvPicPr>
          <p:nvPr/>
        </p:nvPicPr>
        <p:blipFill>
          <a:blip r:embed="rId7"/>
          <a:stretch>
            <a:fillRect/>
          </a:stretch>
        </p:blipFill>
        <p:spPr>
          <a:xfrm>
            <a:off x="4956048" y="3969614"/>
            <a:ext cx="365760" cy="365760"/>
          </a:xfrm>
          <a:prstGeom prst="rect">
            <a:avLst/>
          </a:prstGeom>
        </p:spPr>
      </p:pic>
      <p:sp>
        <p:nvSpPr>
          <p:cNvPr id="34" name="Text 26"/>
          <p:cNvSpPr/>
          <p:nvPr/>
        </p:nvSpPr>
        <p:spPr>
          <a:xfrm>
            <a:off x="5532120" y="3750158"/>
            <a:ext cx="333756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Implementasi Python</a:t>
            </a:r>
            <a:endParaRPr lang="en-US" sz="1200" dirty="0"/>
          </a:p>
        </p:txBody>
      </p:sp>
      <p:sp>
        <p:nvSpPr>
          <p:cNvPr id="35" name="Text 27"/>
          <p:cNvSpPr/>
          <p:nvPr/>
        </p:nvSpPr>
        <p:spPr>
          <a:xfrm>
            <a:off x="5532120" y="4006190"/>
            <a:ext cx="3337560" cy="59436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Menggunakan scikit-learn untuk menerapkan PCA, K-Means, dan DBSCAN pada dataset nyata.</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2342"/>
          </a:solidFill>
          <a:ln w="12700">
            <a:solidFill>
              <a:srgbClr val="0A2342"/>
            </a:solidFill>
            <a:prstDash val="solid"/>
          </a:ln>
        </p:spPr>
      </p:sp>
      <p:sp>
        <p:nvSpPr>
          <p:cNvPr id="3" name="Shape 1"/>
          <p:cNvSpPr/>
          <p:nvPr/>
        </p:nvSpPr>
        <p:spPr>
          <a:xfrm>
            <a:off x="-914400" y="-914400"/>
            <a:ext cx="4572000" cy="4572000"/>
          </a:xfrm>
          <a:prstGeom prst="ellipse">
            <a:avLst/>
          </a:prstGeom>
          <a:solidFill>
            <a:srgbClr val="0D1F3C"/>
          </a:solidFill>
          <a:ln w="12700">
            <a:solidFill>
              <a:srgbClr val="0D1F3C"/>
            </a:solidFill>
            <a:prstDash val="solid"/>
          </a:ln>
        </p:spPr>
      </p:sp>
      <p:sp>
        <p:nvSpPr>
          <p:cNvPr id="4" name="Shape 2"/>
          <p:cNvSpPr/>
          <p:nvPr/>
        </p:nvSpPr>
        <p:spPr>
          <a:xfrm>
            <a:off x="6400800" y="1828800"/>
            <a:ext cx="4572000" cy="4572000"/>
          </a:xfrm>
          <a:prstGeom prst="ellipse">
            <a:avLst/>
          </a:prstGeom>
          <a:solidFill>
            <a:srgbClr val="0D1F3C"/>
          </a:solidFill>
          <a:ln w="12700">
            <a:solidFill>
              <a:srgbClr val="0D1F3C"/>
            </a:solidFill>
            <a:prstDash val="solid"/>
          </a:ln>
        </p:spPr>
      </p:sp>
      <p:sp>
        <p:nvSpPr>
          <p:cNvPr id="5" name="Text 3"/>
          <p:cNvSpPr/>
          <p:nvPr/>
        </p:nvSpPr>
        <p:spPr>
          <a:xfrm>
            <a:off x="457200" y="182880"/>
            <a:ext cx="914400" cy="1097280"/>
          </a:xfrm>
          <a:prstGeom prst="rect">
            <a:avLst/>
          </a:prstGeom>
          <a:noFill/>
          <a:ln/>
        </p:spPr>
        <p:txBody>
          <a:bodyPr wrap="square" lIns="0" tIns="0" rIns="0" bIns="0" rtlCol="0" anchor="ctr"/>
          <a:lstStyle/>
          <a:p>
            <a:pPr marL="0" indent="0">
              <a:buNone/>
            </a:pPr>
            <a:r>
              <a:rPr lang="en-US" sz="9000" b="1" dirty="0">
                <a:solidFill>
                  <a:srgbClr val="0D9488"/>
                </a:solidFill>
                <a:latin typeface="Georgia" pitchFamily="34" charset="0"/>
                <a:ea typeface="Georgia" pitchFamily="34" charset="-122"/>
                <a:cs typeface="Georgia" pitchFamily="34" charset="-120"/>
              </a:rPr>
              <a:t>“</a:t>
            </a:r>
            <a:endParaRPr lang="en-US" sz="9000" dirty="0"/>
          </a:p>
        </p:txBody>
      </p:sp>
      <p:sp>
        <p:nvSpPr>
          <p:cNvPr id="6" name="Text 4"/>
          <p:cNvSpPr/>
          <p:nvPr/>
        </p:nvSpPr>
        <p:spPr>
          <a:xfrm>
            <a:off x="1097280" y="548640"/>
            <a:ext cx="6858000" cy="1371600"/>
          </a:xfrm>
          <a:prstGeom prst="rect">
            <a:avLst/>
          </a:prstGeom>
          <a:noFill/>
          <a:ln/>
        </p:spPr>
        <p:txBody>
          <a:bodyPr wrap="square" lIns="0" tIns="0" rIns="0" bIns="0" rtlCol="0" anchor="ctr"/>
          <a:lstStyle/>
          <a:p>
            <a:pPr marL="0" indent="0">
              <a:buNone/>
            </a:pPr>
            <a:r>
              <a:rPr lang="en-US" sz="2000" i="1" dirty="0">
                <a:solidFill>
                  <a:srgbClr val="FFFFFF"/>
                </a:solidFill>
                <a:latin typeface="Georgia" pitchFamily="34" charset="0"/>
                <a:ea typeface="Georgia" pitchFamily="34" charset="-122"/>
                <a:cs typeface="Georgia" pitchFamily="34" charset="-120"/>
              </a:rPr>
              <a:t>Machine Learning is the field of study that gives computers the ability to learn without being explicitly programmed.</a:t>
            </a:r>
            <a:endParaRPr lang="en-US" sz="2000" dirty="0"/>
          </a:p>
        </p:txBody>
      </p:sp>
      <p:sp>
        <p:nvSpPr>
          <p:cNvPr id="7" name="Text 5"/>
          <p:cNvSpPr/>
          <p:nvPr/>
        </p:nvSpPr>
        <p:spPr>
          <a:xfrm>
            <a:off x="1097280" y="1965960"/>
            <a:ext cx="5486400" cy="365760"/>
          </a:xfrm>
          <a:prstGeom prst="rect">
            <a:avLst/>
          </a:prstGeom>
          <a:noFill/>
          <a:ln/>
        </p:spPr>
        <p:txBody>
          <a:bodyPr wrap="square" lIns="0" tIns="0" rIns="0" bIns="0" rtlCol="0" anchor="ctr"/>
          <a:lstStyle/>
          <a:p>
            <a:pPr marL="0" indent="0">
              <a:buNone/>
            </a:pPr>
            <a:r>
              <a:rPr lang="en-US" sz="1300" dirty="0">
                <a:solidFill>
                  <a:srgbClr val="60A5FA"/>
                </a:solidFill>
                <a:latin typeface="Calibri" pitchFamily="34" charset="0"/>
                <a:ea typeface="Calibri" pitchFamily="34" charset="-122"/>
                <a:cs typeface="Calibri" pitchFamily="34" charset="-120"/>
              </a:rPr>
              <a:t>— Arthur Samuel, 1959</a:t>
            </a:r>
            <a:endParaRPr lang="en-US" sz="1300" dirty="0"/>
          </a:p>
        </p:txBody>
      </p:sp>
      <p:sp>
        <p:nvSpPr>
          <p:cNvPr id="8" name="Shape 6"/>
          <p:cNvSpPr/>
          <p:nvPr/>
        </p:nvSpPr>
        <p:spPr>
          <a:xfrm>
            <a:off x="457200" y="2514600"/>
            <a:ext cx="8229600" cy="36576"/>
          </a:xfrm>
          <a:prstGeom prst="rect">
            <a:avLst/>
          </a:prstGeom>
          <a:solidFill>
            <a:srgbClr val="0D9488"/>
          </a:solidFill>
          <a:ln w="12700">
            <a:solidFill>
              <a:srgbClr val="0D9488"/>
            </a:solidFill>
            <a:prstDash val="solid"/>
          </a:ln>
        </p:spPr>
      </p:sp>
      <p:sp>
        <p:nvSpPr>
          <p:cNvPr id="9" name="Text 7"/>
          <p:cNvSpPr/>
          <p:nvPr/>
        </p:nvSpPr>
        <p:spPr>
          <a:xfrm>
            <a:off x="457200" y="2697480"/>
            <a:ext cx="8229600" cy="320040"/>
          </a:xfrm>
          <a:prstGeom prst="rect">
            <a:avLst/>
          </a:prstGeom>
          <a:noFill/>
          <a:ln/>
        </p:spPr>
        <p:txBody>
          <a:bodyPr wrap="square" lIns="0" tIns="0" rIns="0" bIns="0" rtlCol="0" anchor="ctr"/>
          <a:lstStyle/>
          <a:p>
            <a:pPr marL="0" indent="0">
              <a:buNone/>
            </a:pPr>
            <a:r>
              <a:rPr lang="en-US" sz="1400" b="1" dirty="0">
                <a:solidFill>
                  <a:srgbClr val="60A5FA"/>
                </a:solidFill>
                <a:latin typeface="Calibri" pitchFamily="34" charset="0"/>
                <a:ea typeface="Calibri" pitchFamily="34" charset="-122"/>
                <a:cs typeface="Calibri" pitchFamily="34" charset="-120"/>
              </a:rPr>
              <a:t>Apa relevansinya dengan Unsupervised Learning?</a:t>
            </a:r>
            <a:endParaRPr lang="en-US" sz="1400" dirty="0"/>
          </a:p>
        </p:txBody>
      </p:sp>
      <p:sp>
        <p:nvSpPr>
          <p:cNvPr id="10" name="Shape 8"/>
          <p:cNvSpPr/>
          <p:nvPr/>
        </p:nvSpPr>
        <p:spPr>
          <a:xfrm>
            <a:off x="457200" y="3154680"/>
            <a:ext cx="201168" cy="201168"/>
          </a:xfrm>
          <a:prstGeom prst="ellipse">
            <a:avLst/>
          </a:prstGeom>
          <a:solidFill>
            <a:srgbClr val="0D9488"/>
          </a:solidFill>
          <a:ln w="12700">
            <a:solidFill>
              <a:srgbClr val="0D9488"/>
            </a:solidFill>
            <a:prstDash val="solid"/>
          </a:ln>
        </p:spPr>
      </p:sp>
      <p:sp>
        <p:nvSpPr>
          <p:cNvPr id="11" name="Text 9"/>
          <p:cNvSpPr/>
          <p:nvPr/>
        </p:nvSpPr>
        <p:spPr>
          <a:xfrm>
            <a:off x="749808" y="3127248"/>
            <a:ext cx="8046720" cy="25603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Dalam supervised learning, komputer belajar DENGAN label/jawaban yang sudah ada.</a:t>
            </a:r>
            <a:endParaRPr lang="en-US" sz="1100" dirty="0"/>
          </a:p>
        </p:txBody>
      </p:sp>
      <p:sp>
        <p:nvSpPr>
          <p:cNvPr id="12" name="Shape 10"/>
          <p:cNvSpPr/>
          <p:nvPr/>
        </p:nvSpPr>
        <p:spPr>
          <a:xfrm>
            <a:off x="457200" y="3593592"/>
            <a:ext cx="201168" cy="201168"/>
          </a:xfrm>
          <a:prstGeom prst="ellipse">
            <a:avLst/>
          </a:prstGeom>
          <a:solidFill>
            <a:srgbClr val="0D9488"/>
          </a:solidFill>
          <a:ln w="12700">
            <a:solidFill>
              <a:srgbClr val="0D9488"/>
            </a:solidFill>
            <a:prstDash val="solid"/>
          </a:ln>
        </p:spPr>
      </p:sp>
      <p:sp>
        <p:nvSpPr>
          <p:cNvPr id="13" name="Text 11"/>
          <p:cNvSpPr/>
          <p:nvPr/>
        </p:nvSpPr>
        <p:spPr>
          <a:xfrm>
            <a:off x="749808" y="3566160"/>
            <a:ext cx="8046720" cy="25603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Dalam unsupervised learning, komputer belajar TANPA label — menemukan pola secara mandiri.</a:t>
            </a:r>
            <a:endParaRPr lang="en-US" sz="1100" dirty="0"/>
          </a:p>
        </p:txBody>
      </p:sp>
      <p:sp>
        <p:nvSpPr>
          <p:cNvPr id="14" name="Shape 12"/>
          <p:cNvSpPr/>
          <p:nvPr/>
        </p:nvSpPr>
        <p:spPr>
          <a:xfrm>
            <a:off x="457200" y="4032504"/>
            <a:ext cx="201168" cy="201168"/>
          </a:xfrm>
          <a:prstGeom prst="ellipse">
            <a:avLst/>
          </a:prstGeom>
          <a:solidFill>
            <a:srgbClr val="0D9488"/>
          </a:solidFill>
          <a:ln w="12700">
            <a:solidFill>
              <a:srgbClr val="0D9488"/>
            </a:solidFill>
            <a:prstDash val="solid"/>
          </a:ln>
        </p:spPr>
      </p:sp>
      <p:sp>
        <p:nvSpPr>
          <p:cNvPr id="15" name="Text 13"/>
          <p:cNvSpPr/>
          <p:nvPr/>
        </p:nvSpPr>
        <p:spPr>
          <a:xfrm>
            <a:off x="749808" y="4005072"/>
            <a:ext cx="8046720" cy="25603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Inilah esensi dari "belajar tanpa diprogram secara eksplisit" yang dimaksud Samuel.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342"/>
          </a:solidFill>
          <a:ln w="12700">
            <a:solidFill>
              <a:srgbClr val="0A2342"/>
            </a:solidFill>
            <a:prstDash val="solid"/>
          </a:ln>
        </p:spPr>
      </p:sp>
      <p:sp>
        <p:nvSpPr>
          <p:cNvPr id="3" name="Shape 1"/>
          <p:cNvSpPr/>
          <p:nvPr/>
        </p:nvSpPr>
        <p:spPr>
          <a:xfrm>
            <a:off x="0" y="1005840"/>
            <a:ext cx="9144000" cy="45720"/>
          </a:xfrm>
          <a:prstGeom prst="rect">
            <a:avLst/>
          </a:prstGeom>
          <a:solidFill>
            <a:srgbClr val="0D9488"/>
          </a:solidFill>
          <a:ln w="12700">
            <a:solidFill>
              <a:srgbClr val="0D9488"/>
            </a:solidFill>
            <a:prstDash val="solid"/>
          </a:ln>
        </p:spPr>
      </p:sp>
      <p:sp>
        <p:nvSpPr>
          <p:cNvPr id="4" name="Text 2"/>
          <p:cNvSpPr/>
          <p:nvPr/>
        </p:nvSpPr>
        <p:spPr>
          <a:xfrm>
            <a:off x="365760" y="91440"/>
            <a:ext cx="822960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Apa itu Unsupervised Learning?</a:t>
            </a:r>
            <a:endParaRPr lang="en-US" sz="2200" dirty="0"/>
          </a:p>
        </p:txBody>
      </p:sp>
      <p:sp>
        <p:nvSpPr>
          <p:cNvPr id="5" name="Shape 3"/>
          <p:cNvSpPr/>
          <p:nvPr/>
        </p:nvSpPr>
        <p:spPr>
          <a:xfrm>
            <a:off x="274320" y="1143000"/>
            <a:ext cx="8595360" cy="868680"/>
          </a:xfrm>
          <a:prstGeom prst="rect">
            <a:avLst/>
          </a:prstGeom>
          <a:solidFill>
            <a:srgbClr val="EFF6FF"/>
          </a:solidFill>
          <a:ln w="12700">
            <a:solidFill>
              <a:srgbClr val="60A5FA"/>
            </a:solidFill>
            <a:prstDash val="solid"/>
          </a:ln>
        </p:spPr>
      </p:sp>
      <p:sp>
        <p:nvSpPr>
          <p:cNvPr id="6" name="Text 4"/>
          <p:cNvSpPr/>
          <p:nvPr/>
        </p:nvSpPr>
        <p:spPr>
          <a:xfrm>
            <a:off x="411480" y="1207008"/>
            <a:ext cx="8321040" cy="749808"/>
          </a:xfrm>
          <a:prstGeom prst="rect">
            <a:avLst/>
          </a:prstGeom>
          <a:noFill/>
          <a:ln/>
        </p:spPr>
        <p:txBody>
          <a:bodyPr wrap="square" lIns="0" tIns="0" rIns="0" bIns="0" rtlCol="0" anchor="ctr"/>
          <a:lstStyle/>
          <a:p>
            <a:pPr marL="0" indent="0">
              <a:buNone/>
            </a:pPr>
            <a:r>
              <a:rPr lang="en-US" sz="1150" i="1" dirty="0">
                <a:solidFill>
                  <a:srgbClr val="0A2342"/>
                </a:solidFill>
                <a:latin typeface="Calibri" pitchFamily="34" charset="0"/>
                <a:ea typeface="Calibri" pitchFamily="34" charset="-122"/>
                <a:cs typeface="Calibri" pitchFamily="34" charset="-120"/>
              </a:rPr>
              <a:t>"Unsupervised Learning adalah metode machine learning di mana model dilatih menggunakan data TANPA label atau jawaban yang sudah diketahui. Model bertugas menemukan pola, struktur, atau hubungan tersembunyi dalam data secara mandiri."</a:t>
            </a:r>
            <a:endParaRPr lang="en-US" sz="1150" dirty="0"/>
          </a:p>
        </p:txBody>
      </p:sp>
      <p:sp>
        <p:nvSpPr>
          <p:cNvPr id="7" name="Text 5"/>
          <p:cNvSpPr/>
          <p:nvPr/>
        </p:nvSpPr>
        <p:spPr>
          <a:xfrm>
            <a:off x="274320" y="2148840"/>
            <a:ext cx="85953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Perbandingan: Supervised vs Unsupervised</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74320" y="2468880"/>
          <a:ext cx="8595360" cy="1737360"/>
        </p:xfrm>
        <a:graphic>
          <a:graphicData uri="http://schemas.openxmlformats.org/drawingml/2006/table">
            <a:tbl>
              <a:tblPr/>
              <a:tblGrid>
                <a:gridCol w="2865120">
                  <a:extLst>
                    <a:ext uri="{9D8B030D-6E8A-4147-A177-3AD203B41FA5}">
                      <a16:colId xmlns:a16="http://schemas.microsoft.com/office/drawing/2014/main" val="20000"/>
                    </a:ext>
                  </a:extLst>
                </a:gridCol>
                <a:gridCol w="2865120">
                  <a:extLst>
                    <a:ext uri="{9D8B030D-6E8A-4147-A177-3AD203B41FA5}">
                      <a16:colId xmlns:a16="http://schemas.microsoft.com/office/drawing/2014/main" val="20001"/>
                    </a:ext>
                  </a:extLst>
                </a:gridCol>
                <a:gridCol w="2865120">
                  <a:extLst>
                    <a:ext uri="{9D8B030D-6E8A-4147-A177-3AD203B41FA5}">
                      <a16:colId xmlns:a16="http://schemas.microsoft.com/office/drawing/2014/main" val="20002"/>
                    </a:ext>
                  </a:extLst>
                </a:gridCol>
              </a:tblGrid>
              <a:tr h="347472">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Aspek</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A2342"/>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Supervised Learning</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A2342"/>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Unsupervised Learning</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D9488"/>
                    </a:solidFill>
                  </a:tcPr>
                </a:tc>
                <a:extLst>
                  <a:ext uri="{0D108BD9-81ED-4DB2-BD59-A6C34878D82A}">
                    <a16:rowId xmlns:a16="http://schemas.microsoft.com/office/drawing/2014/main" val="10000"/>
                  </a:ext>
                </a:extLst>
              </a:tr>
              <a:tr h="347472">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Data Input</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Berlabel (ada X dan Y)</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Tidak berlabel (hanya X)</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Tujuan</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Prediksi output baru</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Temukan pola/struktur</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Contoh Algoritma</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Linear Regression, SVM</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PCA, K-Means, DBSCAN</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Contoh Penggunaan</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Prediksi harga rumah</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Segmentasi pelanggan</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Text 6"/>
          <p:cNvSpPr/>
          <p:nvPr/>
        </p:nvSpPr>
        <p:spPr>
          <a:xfrm>
            <a:off x="274320" y="4251960"/>
            <a:ext cx="4114800" cy="22860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Karakteristik Utama</a:t>
            </a:r>
            <a:endParaRPr lang="en-US" sz="1100" dirty="0"/>
          </a:p>
        </p:txBody>
      </p:sp>
      <p:sp>
        <p:nvSpPr>
          <p:cNvPr id="10" name="Shape 7"/>
          <p:cNvSpPr/>
          <p:nvPr/>
        </p:nvSpPr>
        <p:spPr>
          <a:xfrm>
            <a:off x="274320" y="4526280"/>
            <a:ext cx="54864" cy="128016"/>
          </a:xfrm>
          <a:prstGeom prst="rect">
            <a:avLst/>
          </a:prstGeom>
          <a:solidFill>
            <a:srgbClr val="0D9488"/>
          </a:solidFill>
          <a:ln w="12700">
            <a:solidFill>
              <a:srgbClr val="0D9488"/>
            </a:solidFill>
            <a:prstDash val="solid"/>
          </a:ln>
        </p:spPr>
      </p:sp>
      <p:sp>
        <p:nvSpPr>
          <p:cNvPr id="11" name="Text 8"/>
          <p:cNvSpPr/>
          <p:nvPr/>
        </p:nvSpPr>
        <p:spPr>
          <a:xfrm>
            <a:off x="411480" y="4507992"/>
            <a:ext cx="8229600" cy="15544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Data tidak berlabel</a:t>
            </a:r>
            <a:endParaRPr lang="en-US" sz="1000" dirty="0"/>
          </a:p>
        </p:txBody>
      </p:sp>
      <p:sp>
        <p:nvSpPr>
          <p:cNvPr id="12" name="Shape 9"/>
          <p:cNvSpPr/>
          <p:nvPr/>
        </p:nvSpPr>
        <p:spPr>
          <a:xfrm>
            <a:off x="274320" y="4690872"/>
            <a:ext cx="54864" cy="128016"/>
          </a:xfrm>
          <a:prstGeom prst="rect">
            <a:avLst/>
          </a:prstGeom>
          <a:solidFill>
            <a:srgbClr val="0D9488"/>
          </a:solidFill>
          <a:ln w="12700">
            <a:solidFill>
              <a:srgbClr val="0D9488"/>
            </a:solidFill>
            <a:prstDash val="solid"/>
          </a:ln>
        </p:spPr>
      </p:sp>
      <p:sp>
        <p:nvSpPr>
          <p:cNvPr id="13" name="Text 10"/>
          <p:cNvSpPr/>
          <p:nvPr/>
        </p:nvSpPr>
        <p:spPr>
          <a:xfrm>
            <a:off x="411480" y="4672584"/>
            <a:ext cx="8229600" cy="15544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Tujuan: menemukan pola/klaster/dimensi baru</a:t>
            </a:r>
            <a:endParaRPr lang="en-US" sz="1000" dirty="0"/>
          </a:p>
        </p:txBody>
      </p:sp>
      <p:sp>
        <p:nvSpPr>
          <p:cNvPr id="14" name="Shape 11"/>
          <p:cNvSpPr/>
          <p:nvPr/>
        </p:nvSpPr>
        <p:spPr>
          <a:xfrm>
            <a:off x="274320" y="4855464"/>
            <a:ext cx="54864" cy="128016"/>
          </a:xfrm>
          <a:prstGeom prst="rect">
            <a:avLst/>
          </a:prstGeom>
          <a:solidFill>
            <a:srgbClr val="0D9488"/>
          </a:solidFill>
          <a:ln w="12700">
            <a:solidFill>
              <a:srgbClr val="0D9488"/>
            </a:solidFill>
            <a:prstDash val="solid"/>
          </a:ln>
        </p:spPr>
      </p:sp>
      <p:sp>
        <p:nvSpPr>
          <p:cNvPr id="15" name="Text 12"/>
          <p:cNvSpPr/>
          <p:nvPr/>
        </p:nvSpPr>
        <p:spPr>
          <a:xfrm>
            <a:off x="411480" y="4837176"/>
            <a:ext cx="8229600" cy="15544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Hasil lebih interpretatif, bukan prediktif</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342"/>
          </a:solidFill>
          <a:ln w="12700">
            <a:solidFill>
              <a:srgbClr val="0A2342"/>
            </a:solidFill>
            <a:prstDash val="solid"/>
          </a:ln>
        </p:spPr>
      </p:sp>
      <p:sp>
        <p:nvSpPr>
          <p:cNvPr id="3" name="Shape 1"/>
          <p:cNvSpPr/>
          <p:nvPr/>
        </p:nvSpPr>
        <p:spPr>
          <a:xfrm>
            <a:off x="0" y="1005840"/>
            <a:ext cx="9144000" cy="45720"/>
          </a:xfrm>
          <a:prstGeom prst="rect">
            <a:avLst/>
          </a:prstGeom>
          <a:solidFill>
            <a:srgbClr val="0D9488"/>
          </a:solidFill>
          <a:ln w="12700">
            <a:solidFill>
              <a:srgbClr val="0D9488"/>
            </a:solidFill>
            <a:prstDash val="solid"/>
          </a:ln>
        </p:spPr>
      </p:sp>
      <p:sp>
        <p:nvSpPr>
          <p:cNvPr id="4" name="Text 2"/>
          <p:cNvSpPr/>
          <p:nvPr/>
        </p:nvSpPr>
        <p:spPr>
          <a:xfrm>
            <a:off x="365760" y="91440"/>
            <a:ext cx="822960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Jenis-Jenis Unsupervised Learning</a:t>
            </a:r>
            <a:endParaRPr lang="en-US" sz="2200" dirty="0"/>
          </a:p>
        </p:txBody>
      </p:sp>
      <p:sp>
        <p:nvSpPr>
          <p:cNvPr id="5" name="Text 3"/>
          <p:cNvSpPr/>
          <p:nvPr/>
        </p:nvSpPr>
        <p:spPr>
          <a:xfrm>
            <a:off x="365760" y="658368"/>
            <a:ext cx="8229600" cy="320040"/>
          </a:xfrm>
          <a:prstGeom prst="rect">
            <a:avLst/>
          </a:prstGeom>
          <a:noFill/>
          <a:ln/>
        </p:spPr>
        <p:txBody>
          <a:bodyPr wrap="square" lIns="0" tIns="0" rIns="0" bIns="0" rtlCol="0" anchor="ctr"/>
          <a:lstStyle/>
          <a:p>
            <a:pPr marL="0" indent="0">
              <a:buNone/>
            </a:pPr>
            <a:r>
              <a:rPr lang="en-US" sz="1100" dirty="0">
                <a:solidFill>
                  <a:srgbClr val="60A5FA"/>
                </a:solidFill>
                <a:latin typeface="Calibri" pitchFamily="34" charset="0"/>
                <a:ea typeface="Calibri" pitchFamily="34" charset="-122"/>
                <a:cs typeface="Calibri" pitchFamily="34" charset="-120"/>
              </a:rPr>
              <a:t>Dua kategori utama yang akan kita pelajari</a:t>
            </a:r>
            <a:endParaRPr lang="en-US" sz="1100" dirty="0"/>
          </a:p>
        </p:txBody>
      </p:sp>
      <p:sp>
        <p:nvSpPr>
          <p:cNvPr id="6" name="Shape 4"/>
          <p:cNvSpPr/>
          <p:nvPr/>
        </p:nvSpPr>
        <p:spPr>
          <a:xfrm>
            <a:off x="274320" y="1143000"/>
            <a:ext cx="4114800" cy="347472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7" name="Shape 5"/>
          <p:cNvSpPr/>
          <p:nvPr/>
        </p:nvSpPr>
        <p:spPr>
          <a:xfrm>
            <a:off x="274320" y="1143000"/>
            <a:ext cx="4114800" cy="548640"/>
          </a:xfrm>
          <a:prstGeom prst="rect">
            <a:avLst/>
          </a:prstGeom>
          <a:solidFill>
            <a:srgbClr val="0A2342"/>
          </a:solidFill>
          <a:ln w="12700">
            <a:solidFill>
              <a:srgbClr val="0A2342"/>
            </a:solidFill>
            <a:prstDash val="solid"/>
          </a:ln>
        </p:spPr>
      </p:sp>
      <p:pic>
        <p:nvPicPr>
          <p:cNvPr id="8" name="Image 0" descr="preencoded.png"/>
          <p:cNvPicPr>
            <a:picLocks noChangeAspect="1"/>
          </p:cNvPicPr>
          <p:nvPr/>
        </p:nvPicPr>
        <p:blipFill>
          <a:blip r:embed="rId3"/>
          <a:stretch>
            <a:fillRect/>
          </a:stretch>
        </p:blipFill>
        <p:spPr>
          <a:xfrm>
            <a:off x="502920" y="1188720"/>
            <a:ext cx="411480" cy="411480"/>
          </a:xfrm>
          <a:prstGeom prst="rect">
            <a:avLst/>
          </a:prstGeom>
        </p:spPr>
      </p:pic>
      <p:sp>
        <p:nvSpPr>
          <p:cNvPr id="9" name="Text 6"/>
          <p:cNvSpPr/>
          <p:nvPr/>
        </p:nvSpPr>
        <p:spPr>
          <a:xfrm>
            <a:off x="1005840" y="1188720"/>
            <a:ext cx="320040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Dimensionality Reduction</a:t>
            </a:r>
            <a:endParaRPr lang="en-US" sz="1300" dirty="0"/>
          </a:p>
        </p:txBody>
      </p:sp>
      <p:sp>
        <p:nvSpPr>
          <p:cNvPr id="10" name="Text 7"/>
          <p:cNvSpPr/>
          <p:nvPr/>
        </p:nvSpPr>
        <p:spPr>
          <a:xfrm>
            <a:off x="457200" y="1783080"/>
            <a:ext cx="3749040" cy="6858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Mengonversi data berdimensi tinggi menjadi representasi berdimensi lebih rendah, tanpa banyak kehilangan informasi penting.</a:t>
            </a:r>
            <a:endParaRPr lang="en-US" sz="1000" dirty="0"/>
          </a:p>
        </p:txBody>
      </p:sp>
      <p:sp>
        <p:nvSpPr>
          <p:cNvPr id="11" name="Shape 8"/>
          <p:cNvSpPr/>
          <p:nvPr/>
        </p:nvSpPr>
        <p:spPr>
          <a:xfrm>
            <a:off x="457200" y="2578608"/>
            <a:ext cx="164592" cy="164592"/>
          </a:xfrm>
          <a:prstGeom prst="ellipse">
            <a:avLst/>
          </a:prstGeom>
          <a:solidFill>
            <a:srgbClr val="0D9488"/>
          </a:solidFill>
          <a:ln w="12700">
            <a:solidFill>
              <a:srgbClr val="0D9488"/>
            </a:solidFill>
            <a:prstDash val="solid"/>
          </a:ln>
        </p:spPr>
      </p:sp>
      <p:sp>
        <p:nvSpPr>
          <p:cNvPr id="12" name="Text 9"/>
          <p:cNvSpPr/>
          <p:nvPr/>
        </p:nvSpPr>
        <p:spPr>
          <a:xfrm>
            <a:off x="685800" y="2551176"/>
            <a:ext cx="3566160" cy="219456"/>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Principal Component Analysis (PCA)</a:t>
            </a:r>
            <a:endParaRPr lang="en-US" sz="1000" dirty="0"/>
          </a:p>
        </p:txBody>
      </p:sp>
      <p:sp>
        <p:nvSpPr>
          <p:cNvPr id="13" name="Shape 10"/>
          <p:cNvSpPr/>
          <p:nvPr/>
        </p:nvSpPr>
        <p:spPr>
          <a:xfrm>
            <a:off x="457200" y="2962656"/>
            <a:ext cx="164592" cy="164592"/>
          </a:xfrm>
          <a:prstGeom prst="ellipse">
            <a:avLst/>
          </a:prstGeom>
          <a:solidFill>
            <a:srgbClr val="0D9488"/>
          </a:solidFill>
          <a:ln w="12700">
            <a:solidFill>
              <a:srgbClr val="0D9488"/>
            </a:solidFill>
            <a:prstDash val="solid"/>
          </a:ln>
        </p:spPr>
      </p:sp>
      <p:sp>
        <p:nvSpPr>
          <p:cNvPr id="14" name="Text 11"/>
          <p:cNvSpPr/>
          <p:nvPr/>
        </p:nvSpPr>
        <p:spPr>
          <a:xfrm>
            <a:off x="685800" y="2935224"/>
            <a:ext cx="3566160" cy="21945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Autoencoders (Deep Learning)</a:t>
            </a:r>
            <a:endParaRPr lang="en-US" sz="1000" dirty="0"/>
          </a:p>
        </p:txBody>
      </p:sp>
      <p:sp>
        <p:nvSpPr>
          <p:cNvPr id="15" name="Shape 12"/>
          <p:cNvSpPr/>
          <p:nvPr/>
        </p:nvSpPr>
        <p:spPr>
          <a:xfrm>
            <a:off x="457200" y="3346704"/>
            <a:ext cx="164592" cy="164592"/>
          </a:xfrm>
          <a:prstGeom prst="ellipse">
            <a:avLst/>
          </a:prstGeom>
          <a:solidFill>
            <a:srgbClr val="0D9488"/>
          </a:solidFill>
          <a:ln w="12700">
            <a:solidFill>
              <a:srgbClr val="0D9488"/>
            </a:solidFill>
            <a:prstDash val="solid"/>
          </a:ln>
        </p:spPr>
      </p:sp>
      <p:sp>
        <p:nvSpPr>
          <p:cNvPr id="16" name="Text 13"/>
          <p:cNvSpPr/>
          <p:nvPr/>
        </p:nvSpPr>
        <p:spPr>
          <a:xfrm>
            <a:off x="685800" y="3319272"/>
            <a:ext cx="3566160" cy="21945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t-SNE / UMAP (Visualisasi)</a:t>
            </a:r>
            <a:endParaRPr lang="en-US" sz="1000" dirty="0"/>
          </a:p>
        </p:txBody>
      </p:sp>
      <p:sp>
        <p:nvSpPr>
          <p:cNvPr id="17" name="Shape 14"/>
          <p:cNvSpPr/>
          <p:nvPr/>
        </p:nvSpPr>
        <p:spPr>
          <a:xfrm>
            <a:off x="457200" y="3840480"/>
            <a:ext cx="3749040" cy="502920"/>
          </a:xfrm>
          <a:prstGeom prst="rect">
            <a:avLst/>
          </a:prstGeom>
          <a:solidFill>
            <a:srgbClr val="F0FDF4"/>
          </a:solidFill>
          <a:ln w="12700">
            <a:solidFill>
              <a:srgbClr val="10B981"/>
            </a:solidFill>
            <a:prstDash val="solid"/>
          </a:ln>
        </p:spPr>
      </p:sp>
      <p:sp>
        <p:nvSpPr>
          <p:cNvPr id="18" name="Text 15"/>
          <p:cNvSpPr/>
          <p:nvPr/>
        </p:nvSpPr>
        <p:spPr>
          <a:xfrm>
            <a:off x="502920" y="3867912"/>
            <a:ext cx="3657600" cy="448056"/>
          </a:xfrm>
          <a:prstGeom prst="rect">
            <a:avLst/>
          </a:prstGeom>
          <a:noFill/>
          <a:ln/>
        </p:spPr>
        <p:txBody>
          <a:bodyPr wrap="square" lIns="0" tIns="0" rIns="0" bIns="0" rtlCol="0" anchor="ctr"/>
          <a:lstStyle/>
          <a:p>
            <a:pPr marL="0" indent="0">
              <a:buNone/>
            </a:pPr>
            <a:r>
              <a:rPr lang="en-US" sz="950" i="1" dirty="0">
                <a:solidFill>
                  <a:srgbClr val="10B981"/>
                </a:solidFill>
                <a:latin typeface="Calibri" pitchFamily="34" charset="0"/>
                <a:ea typeface="Calibri" pitchFamily="34" charset="-122"/>
                <a:cs typeface="Calibri" pitchFamily="34" charset="-120"/>
              </a:rPr>
              <a:t>Use case: Face recognition, image compression, noise reduction</a:t>
            </a:r>
            <a:endParaRPr lang="en-US" sz="950" dirty="0"/>
          </a:p>
        </p:txBody>
      </p:sp>
      <p:sp>
        <p:nvSpPr>
          <p:cNvPr id="19" name="Shape 16"/>
          <p:cNvSpPr/>
          <p:nvPr/>
        </p:nvSpPr>
        <p:spPr>
          <a:xfrm>
            <a:off x="4754880" y="1143000"/>
            <a:ext cx="4114800" cy="347472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20" name="Shape 17"/>
          <p:cNvSpPr/>
          <p:nvPr/>
        </p:nvSpPr>
        <p:spPr>
          <a:xfrm>
            <a:off x="4754880" y="1143000"/>
            <a:ext cx="4114800" cy="548640"/>
          </a:xfrm>
          <a:prstGeom prst="rect">
            <a:avLst/>
          </a:prstGeom>
          <a:solidFill>
            <a:srgbClr val="0D9488"/>
          </a:solidFill>
          <a:ln w="12700">
            <a:solidFill>
              <a:srgbClr val="0D9488"/>
            </a:solidFill>
            <a:prstDash val="solid"/>
          </a:ln>
        </p:spPr>
      </p:sp>
      <p:pic>
        <p:nvPicPr>
          <p:cNvPr id="21" name="Image 1" descr="preencoded.png"/>
          <p:cNvPicPr>
            <a:picLocks noChangeAspect="1"/>
          </p:cNvPicPr>
          <p:nvPr/>
        </p:nvPicPr>
        <p:blipFill>
          <a:blip r:embed="rId4"/>
          <a:stretch>
            <a:fillRect/>
          </a:stretch>
        </p:blipFill>
        <p:spPr>
          <a:xfrm>
            <a:off x="4983480" y="1188720"/>
            <a:ext cx="411480" cy="411480"/>
          </a:xfrm>
          <a:prstGeom prst="rect">
            <a:avLst/>
          </a:prstGeom>
        </p:spPr>
      </p:pic>
      <p:sp>
        <p:nvSpPr>
          <p:cNvPr id="22" name="Text 18"/>
          <p:cNvSpPr/>
          <p:nvPr/>
        </p:nvSpPr>
        <p:spPr>
          <a:xfrm>
            <a:off x="5486400" y="1188720"/>
            <a:ext cx="320040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Clustering</a:t>
            </a:r>
            <a:endParaRPr lang="en-US" sz="1300" dirty="0"/>
          </a:p>
        </p:txBody>
      </p:sp>
      <p:sp>
        <p:nvSpPr>
          <p:cNvPr id="23" name="Text 19"/>
          <p:cNvSpPr/>
          <p:nvPr/>
        </p:nvSpPr>
        <p:spPr>
          <a:xfrm>
            <a:off x="4937760" y="1783080"/>
            <a:ext cx="3749040" cy="6858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Mengelompokkan data ke dalam cluster-cluster berdasarkan kesamaan atau kedekatan antar data point, tanpa menggunakan label.</a:t>
            </a:r>
            <a:endParaRPr lang="en-US" sz="1000" dirty="0"/>
          </a:p>
        </p:txBody>
      </p:sp>
      <p:sp>
        <p:nvSpPr>
          <p:cNvPr id="24" name="Shape 20"/>
          <p:cNvSpPr/>
          <p:nvPr/>
        </p:nvSpPr>
        <p:spPr>
          <a:xfrm>
            <a:off x="4937760" y="2578608"/>
            <a:ext cx="164592" cy="164592"/>
          </a:xfrm>
          <a:prstGeom prst="ellipse">
            <a:avLst/>
          </a:prstGeom>
          <a:solidFill>
            <a:srgbClr val="0A2342"/>
          </a:solidFill>
          <a:ln w="12700">
            <a:solidFill>
              <a:srgbClr val="0A2342"/>
            </a:solidFill>
            <a:prstDash val="solid"/>
          </a:ln>
        </p:spPr>
      </p:sp>
      <p:sp>
        <p:nvSpPr>
          <p:cNvPr id="25" name="Text 21"/>
          <p:cNvSpPr/>
          <p:nvPr/>
        </p:nvSpPr>
        <p:spPr>
          <a:xfrm>
            <a:off x="5166360" y="2551176"/>
            <a:ext cx="3566160" cy="219456"/>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K-Means Clustering</a:t>
            </a:r>
            <a:endParaRPr lang="en-US" sz="1000" dirty="0"/>
          </a:p>
        </p:txBody>
      </p:sp>
      <p:sp>
        <p:nvSpPr>
          <p:cNvPr id="26" name="Shape 22"/>
          <p:cNvSpPr/>
          <p:nvPr/>
        </p:nvSpPr>
        <p:spPr>
          <a:xfrm>
            <a:off x="4937760" y="2962656"/>
            <a:ext cx="164592" cy="164592"/>
          </a:xfrm>
          <a:prstGeom prst="ellipse">
            <a:avLst/>
          </a:prstGeom>
          <a:solidFill>
            <a:srgbClr val="0A2342"/>
          </a:solidFill>
          <a:ln w="12700">
            <a:solidFill>
              <a:srgbClr val="0A2342"/>
            </a:solidFill>
            <a:prstDash val="solid"/>
          </a:ln>
        </p:spPr>
      </p:sp>
      <p:sp>
        <p:nvSpPr>
          <p:cNvPr id="27" name="Text 23"/>
          <p:cNvSpPr/>
          <p:nvPr/>
        </p:nvSpPr>
        <p:spPr>
          <a:xfrm>
            <a:off x="5166360" y="2935224"/>
            <a:ext cx="3566160" cy="219456"/>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DBSCAN (Density-Based)</a:t>
            </a:r>
            <a:endParaRPr lang="en-US" sz="1000" dirty="0"/>
          </a:p>
        </p:txBody>
      </p:sp>
      <p:sp>
        <p:nvSpPr>
          <p:cNvPr id="28" name="Shape 24"/>
          <p:cNvSpPr/>
          <p:nvPr/>
        </p:nvSpPr>
        <p:spPr>
          <a:xfrm>
            <a:off x="4937760" y="3346704"/>
            <a:ext cx="164592" cy="164592"/>
          </a:xfrm>
          <a:prstGeom prst="ellipse">
            <a:avLst/>
          </a:prstGeom>
          <a:solidFill>
            <a:srgbClr val="0A2342"/>
          </a:solidFill>
          <a:ln w="12700">
            <a:solidFill>
              <a:srgbClr val="0A2342"/>
            </a:solidFill>
            <a:prstDash val="solid"/>
          </a:ln>
        </p:spPr>
      </p:sp>
      <p:sp>
        <p:nvSpPr>
          <p:cNvPr id="29" name="Text 25"/>
          <p:cNvSpPr/>
          <p:nvPr/>
        </p:nvSpPr>
        <p:spPr>
          <a:xfrm>
            <a:off x="5166360" y="3319272"/>
            <a:ext cx="3566160" cy="21945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Hierarchical Clustering</a:t>
            </a:r>
            <a:endParaRPr lang="en-US" sz="1000" dirty="0"/>
          </a:p>
        </p:txBody>
      </p:sp>
      <p:sp>
        <p:nvSpPr>
          <p:cNvPr id="30" name="Shape 26"/>
          <p:cNvSpPr/>
          <p:nvPr/>
        </p:nvSpPr>
        <p:spPr>
          <a:xfrm>
            <a:off x="4937760" y="3840480"/>
            <a:ext cx="3749040" cy="502920"/>
          </a:xfrm>
          <a:prstGeom prst="rect">
            <a:avLst/>
          </a:prstGeom>
          <a:solidFill>
            <a:srgbClr val="EFF6FF"/>
          </a:solidFill>
          <a:ln w="12700">
            <a:solidFill>
              <a:srgbClr val="1A56DB"/>
            </a:solidFill>
            <a:prstDash val="solid"/>
          </a:ln>
        </p:spPr>
      </p:sp>
      <p:sp>
        <p:nvSpPr>
          <p:cNvPr id="31" name="Text 27"/>
          <p:cNvSpPr/>
          <p:nvPr/>
        </p:nvSpPr>
        <p:spPr>
          <a:xfrm>
            <a:off x="4983480" y="3867912"/>
            <a:ext cx="3657600" cy="448056"/>
          </a:xfrm>
          <a:prstGeom prst="rect">
            <a:avLst/>
          </a:prstGeom>
          <a:noFill/>
          <a:ln/>
        </p:spPr>
        <p:txBody>
          <a:bodyPr wrap="square" lIns="0" tIns="0" rIns="0" bIns="0" rtlCol="0" anchor="ctr"/>
          <a:lstStyle/>
          <a:p>
            <a:pPr marL="0" indent="0">
              <a:buNone/>
            </a:pPr>
            <a:r>
              <a:rPr lang="en-US" sz="950" i="1" dirty="0">
                <a:solidFill>
                  <a:srgbClr val="1A56DB"/>
                </a:solidFill>
                <a:latin typeface="Calibri" pitchFamily="34" charset="0"/>
                <a:ea typeface="Calibri" pitchFamily="34" charset="-122"/>
                <a:cs typeface="Calibri" pitchFamily="34" charset="-120"/>
              </a:rPr>
              <a:t>Use case: Customer segmentation, anomaly detection, document grouping</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9488"/>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9488"/>
          </a:solidFill>
          <a:ln w="12700">
            <a:solidFill>
              <a:srgbClr val="0D9488"/>
            </a:solidFill>
            <a:prstDash val="solid"/>
          </a:ln>
        </p:spPr>
      </p:sp>
      <p:sp>
        <p:nvSpPr>
          <p:cNvPr id="3" name="Shape 1"/>
          <p:cNvSpPr/>
          <p:nvPr/>
        </p:nvSpPr>
        <p:spPr>
          <a:xfrm>
            <a:off x="5486400" y="-914400"/>
            <a:ext cx="6400800" cy="6400800"/>
          </a:xfrm>
          <a:prstGeom prst="ellipse">
            <a:avLst/>
          </a:prstGeom>
          <a:solidFill>
            <a:srgbClr val="0A9187"/>
          </a:solidFill>
          <a:ln w="12700">
            <a:solidFill>
              <a:srgbClr val="0A9187"/>
            </a:solidFill>
            <a:prstDash val="solid"/>
          </a:ln>
        </p:spPr>
      </p:sp>
      <p:sp>
        <p:nvSpPr>
          <p:cNvPr id="4" name="Shape 2"/>
          <p:cNvSpPr/>
          <p:nvPr/>
        </p:nvSpPr>
        <p:spPr>
          <a:xfrm>
            <a:off x="457200" y="1371600"/>
            <a:ext cx="91440" cy="2286000"/>
          </a:xfrm>
          <a:prstGeom prst="rect">
            <a:avLst/>
          </a:prstGeom>
          <a:solidFill>
            <a:srgbClr val="FFFFFF"/>
          </a:solidFill>
          <a:ln w="12700">
            <a:solidFill>
              <a:srgbClr val="FFFFFF"/>
            </a:solidFill>
            <a:prstDash val="solid"/>
          </a:ln>
        </p:spPr>
      </p:sp>
      <p:sp>
        <p:nvSpPr>
          <p:cNvPr id="5" name="Text 3"/>
          <p:cNvSpPr/>
          <p:nvPr/>
        </p:nvSpPr>
        <p:spPr>
          <a:xfrm>
            <a:off x="685800" y="1417320"/>
            <a:ext cx="4572000" cy="320040"/>
          </a:xfrm>
          <a:prstGeom prst="rect">
            <a:avLst/>
          </a:prstGeom>
          <a:noFill/>
          <a:ln/>
        </p:spPr>
        <p:txBody>
          <a:bodyPr wrap="square" lIns="0" tIns="0" rIns="0" bIns="0" rtlCol="0" anchor="ctr"/>
          <a:lstStyle/>
          <a:p>
            <a:pPr marL="0" indent="0">
              <a:buNone/>
            </a:pPr>
            <a:r>
              <a:rPr lang="en-US" sz="1200" b="1" kern="0" spc="400" dirty="0">
                <a:solidFill>
                  <a:srgbClr val="CCFBF1"/>
                </a:solidFill>
                <a:latin typeface="Calibri" pitchFamily="34" charset="0"/>
                <a:ea typeface="Calibri" pitchFamily="34" charset="-122"/>
                <a:cs typeface="Calibri" pitchFamily="34" charset="-120"/>
              </a:rPr>
              <a:t>BAGIAN 1</a:t>
            </a:r>
            <a:endParaRPr lang="en-US" sz="1200" dirty="0"/>
          </a:p>
        </p:txBody>
      </p:sp>
      <p:sp>
        <p:nvSpPr>
          <p:cNvPr id="6" name="Text 4"/>
          <p:cNvSpPr/>
          <p:nvPr/>
        </p:nvSpPr>
        <p:spPr>
          <a:xfrm>
            <a:off x="685800" y="1783080"/>
            <a:ext cx="6400800" cy="82296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Dimensionality</a:t>
            </a:r>
            <a:endParaRPr lang="en-US" sz="4800" dirty="0"/>
          </a:p>
        </p:txBody>
      </p:sp>
      <p:sp>
        <p:nvSpPr>
          <p:cNvPr id="7" name="Text 5"/>
          <p:cNvSpPr/>
          <p:nvPr/>
        </p:nvSpPr>
        <p:spPr>
          <a:xfrm>
            <a:off x="685800" y="2514600"/>
            <a:ext cx="6400800" cy="822960"/>
          </a:xfrm>
          <a:prstGeom prst="rect">
            <a:avLst/>
          </a:prstGeom>
          <a:noFill/>
          <a:ln/>
        </p:spPr>
        <p:txBody>
          <a:bodyPr wrap="square" lIns="0" tIns="0" rIns="0" bIns="0" rtlCol="0" anchor="ctr"/>
          <a:lstStyle/>
          <a:p>
            <a:pPr marL="0" indent="0">
              <a:buNone/>
            </a:pPr>
            <a:r>
              <a:rPr lang="en-US" sz="4800" b="1" dirty="0">
                <a:solidFill>
                  <a:srgbClr val="CCFBF1"/>
                </a:solidFill>
                <a:latin typeface="Calibri" pitchFamily="34" charset="0"/>
                <a:ea typeface="Calibri" pitchFamily="34" charset="-122"/>
                <a:cs typeface="Calibri" pitchFamily="34" charset="-120"/>
              </a:rPr>
              <a:t>Reduction &amp; PCA</a:t>
            </a:r>
            <a:endParaRPr lang="en-US" sz="4800" dirty="0"/>
          </a:p>
        </p:txBody>
      </p:sp>
      <p:pic>
        <p:nvPicPr>
          <p:cNvPr id="8" name="Image 0" descr="preencoded.png"/>
          <p:cNvPicPr>
            <a:picLocks noChangeAspect="1"/>
          </p:cNvPicPr>
          <p:nvPr/>
        </p:nvPicPr>
        <p:blipFill>
          <a:blip r:embed="rId3"/>
          <a:stretch>
            <a:fillRect/>
          </a:stretch>
        </p:blipFill>
        <p:spPr>
          <a:xfrm>
            <a:off x="7315200" y="1828800"/>
            <a:ext cx="1280160" cy="1280160"/>
          </a:xfrm>
          <a:prstGeom prst="rect">
            <a:avLst/>
          </a:prstGeom>
        </p:spPr>
      </p:pic>
      <p:sp>
        <p:nvSpPr>
          <p:cNvPr id="9" name="Text 6"/>
          <p:cNvSpPr/>
          <p:nvPr/>
        </p:nvSpPr>
        <p:spPr>
          <a:xfrm>
            <a:off x="685800" y="3520440"/>
            <a:ext cx="6400800" cy="274320"/>
          </a:xfrm>
          <a:prstGeom prst="rect">
            <a:avLst/>
          </a:prstGeom>
          <a:noFill/>
          <a:ln/>
        </p:spPr>
        <p:txBody>
          <a:bodyPr wrap="square" lIns="0" tIns="0" rIns="0" bIns="0" rtlCol="0" anchor="ctr"/>
          <a:lstStyle/>
          <a:p>
            <a:pPr marL="0" indent="0">
              <a:buNone/>
            </a:pPr>
            <a:r>
              <a:rPr lang="en-US" sz="1400" dirty="0">
                <a:solidFill>
                  <a:srgbClr val="CCFBF1"/>
                </a:solidFill>
                <a:latin typeface="Calibri" pitchFamily="34" charset="0"/>
                <a:ea typeface="Calibri" pitchFamily="34" charset="-122"/>
                <a:cs typeface="Calibri" pitchFamily="34" charset="-120"/>
              </a:rPr>
              <a:t>Principal Component Analysis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342"/>
          </a:solidFill>
          <a:ln w="12700">
            <a:solidFill>
              <a:srgbClr val="0A2342"/>
            </a:solidFill>
            <a:prstDash val="solid"/>
          </a:ln>
        </p:spPr>
      </p:sp>
      <p:sp>
        <p:nvSpPr>
          <p:cNvPr id="3" name="Shape 1"/>
          <p:cNvSpPr/>
          <p:nvPr/>
        </p:nvSpPr>
        <p:spPr>
          <a:xfrm>
            <a:off x="0" y="1005840"/>
            <a:ext cx="9144000" cy="45720"/>
          </a:xfrm>
          <a:prstGeom prst="rect">
            <a:avLst/>
          </a:prstGeom>
          <a:solidFill>
            <a:srgbClr val="0D9488"/>
          </a:solidFill>
          <a:ln w="12700">
            <a:solidFill>
              <a:srgbClr val="0D9488"/>
            </a:solidFill>
            <a:prstDash val="solid"/>
          </a:ln>
        </p:spPr>
      </p:sp>
      <p:sp>
        <p:nvSpPr>
          <p:cNvPr id="4" name="Text 2"/>
          <p:cNvSpPr/>
          <p:nvPr/>
        </p:nvSpPr>
        <p:spPr>
          <a:xfrm>
            <a:off x="365760" y="91440"/>
            <a:ext cx="822960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Dimensionality Reduction</a:t>
            </a:r>
            <a:endParaRPr lang="en-US" sz="2200" dirty="0"/>
          </a:p>
        </p:txBody>
      </p:sp>
      <p:sp>
        <p:nvSpPr>
          <p:cNvPr id="5" name="Text 3"/>
          <p:cNvSpPr/>
          <p:nvPr/>
        </p:nvSpPr>
        <p:spPr>
          <a:xfrm>
            <a:off x="365760" y="658368"/>
            <a:ext cx="8229600" cy="320040"/>
          </a:xfrm>
          <a:prstGeom prst="rect">
            <a:avLst/>
          </a:prstGeom>
          <a:noFill/>
          <a:ln/>
        </p:spPr>
        <p:txBody>
          <a:bodyPr wrap="square" lIns="0" tIns="0" rIns="0" bIns="0" rtlCol="0" anchor="ctr"/>
          <a:lstStyle/>
          <a:p>
            <a:pPr marL="0" indent="0">
              <a:buNone/>
            </a:pPr>
            <a:r>
              <a:rPr lang="en-US" sz="1100" dirty="0">
                <a:solidFill>
                  <a:srgbClr val="60A5FA"/>
                </a:solidFill>
                <a:latin typeface="Calibri" pitchFamily="34" charset="0"/>
                <a:ea typeface="Calibri" pitchFamily="34" charset="-122"/>
                <a:cs typeface="Calibri" pitchFamily="34" charset="-120"/>
              </a:rPr>
              <a:t>Mengapa kita perlu mengurangi dimensi data?</a:t>
            </a:r>
            <a:endParaRPr lang="en-US" sz="1100" dirty="0"/>
          </a:p>
        </p:txBody>
      </p:sp>
      <p:sp>
        <p:nvSpPr>
          <p:cNvPr id="6" name="Text 4"/>
          <p:cNvSpPr/>
          <p:nvPr/>
        </p:nvSpPr>
        <p:spPr>
          <a:xfrm>
            <a:off x="274320" y="1097280"/>
            <a:ext cx="85953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Definisi</a:t>
            </a:r>
            <a:endParaRPr lang="en-US" sz="1300" dirty="0"/>
          </a:p>
        </p:txBody>
      </p:sp>
      <p:sp>
        <p:nvSpPr>
          <p:cNvPr id="7" name="Shape 5"/>
          <p:cNvSpPr/>
          <p:nvPr/>
        </p:nvSpPr>
        <p:spPr>
          <a:xfrm>
            <a:off x="274320" y="1417320"/>
            <a:ext cx="8595360" cy="731520"/>
          </a:xfrm>
          <a:prstGeom prst="rect">
            <a:avLst/>
          </a:prstGeom>
          <a:solidFill>
            <a:srgbClr val="EFF6FF"/>
          </a:solidFill>
          <a:ln w="12700">
            <a:solidFill>
              <a:srgbClr val="60A5FA"/>
            </a:solidFill>
            <a:prstDash val="solid"/>
          </a:ln>
        </p:spPr>
      </p:sp>
      <p:sp>
        <p:nvSpPr>
          <p:cNvPr id="8" name="Text 6"/>
          <p:cNvSpPr/>
          <p:nvPr/>
        </p:nvSpPr>
        <p:spPr>
          <a:xfrm>
            <a:off x="411480" y="1463040"/>
            <a:ext cx="8321040" cy="658368"/>
          </a:xfrm>
          <a:prstGeom prst="rect">
            <a:avLst/>
          </a:prstGeom>
          <a:noFill/>
          <a:ln/>
        </p:spPr>
        <p:txBody>
          <a:bodyPr wrap="square" lIns="0" tIns="0" rIns="0" bIns="0" rtlCol="0" anchor="ctr"/>
          <a:lstStyle/>
          <a:p>
            <a:pPr marL="0" indent="0">
              <a:buNone/>
            </a:pPr>
            <a:r>
              <a:rPr lang="en-US" sz="1050" dirty="0">
                <a:solidFill>
                  <a:srgbClr val="0A2342"/>
                </a:solidFill>
                <a:latin typeface="Calibri" pitchFamily="34" charset="0"/>
                <a:ea typeface="Calibri" pitchFamily="34" charset="-122"/>
                <a:cs typeface="Calibri" pitchFamily="34" charset="-120"/>
              </a:rPr>
              <a:t>Dimensionality Reduction adalah proses mengurangi jumlah variabel (fitur/dimensi) dalam dataset, tanpa terlalu banyak kehilangan informasi penting. Ibarat meringkas sebuah buku tebal menjadi sebuah ringkasan padat yang masih menangkap isi utamanya.</a:t>
            </a:r>
            <a:endParaRPr lang="en-US" sz="1050" dirty="0"/>
          </a:p>
        </p:txBody>
      </p:sp>
      <p:sp>
        <p:nvSpPr>
          <p:cNvPr id="9" name="Shape 7"/>
          <p:cNvSpPr/>
          <p:nvPr/>
        </p:nvSpPr>
        <p:spPr>
          <a:xfrm>
            <a:off x="274320" y="2286000"/>
            <a:ext cx="2834640" cy="182880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10" name="Shape 8"/>
          <p:cNvSpPr/>
          <p:nvPr/>
        </p:nvSpPr>
        <p:spPr>
          <a:xfrm>
            <a:off x="274320" y="2286000"/>
            <a:ext cx="2834640" cy="54864"/>
          </a:xfrm>
          <a:prstGeom prst="rect">
            <a:avLst/>
          </a:prstGeom>
          <a:solidFill>
            <a:srgbClr val="0D9488"/>
          </a:solidFill>
          <a:ln w="12700">
            <a:solidFill>
              <a:srgbClr val="0D9488"/>
            </a:solidFill>
            <a:prstDash val="solid"/>
          </a:ln>
        </p:spPr>
      </p:sp>
      <p:sp>
        <p:nvSpPr>
          <p:cNvPr id="11" name="Text 9"/>
          <p:cNvSpPr/>
          <p:nvPr/>
        </p:nvSpPr>
        <p:spPr>
          <a:xfrm>
            <a:off x="384048" y="2395728"/>
            <a:ext cx="347472" cy="347472"/>
          </a:xfrm>
          <a:prstGeom prst="rect">
            <a:avLst/>
          </a:prstGeom>
          <a:noFill/>
          <a:ln/>
        </p:spPr>
        <p:txBody>
          <a:bodyPr wrap="square" lIns="0" tIns="0" rIns="0" bIns="0" rtlCol="0" anchor="ctr"/>
          <a:lstStyle/>
          <a:p>
            <a:pPr marL="0" indent="0">
              <a:buNone/>
            </a:pPr>
            <a:r>
              <a:rPr lang="en-US" sz="1600" b="1" dirty="0">
                <a:solidFill>
                  <a:srgbClr val="0D9488"/>
                </a:solidFill>
                <a:latin typeface="Calibri" pitchFamily="34" charset="0"/>
                <a:ea typeface="Calibri" pitchFamily="34" charset="-122"/>
                <a:cs typeface="Calibri" pitchFamily="34" charset="-120"/>
              </a:rPr>
              <a:t>1</a:t>
            </a:r>
            <a:endParaRPr lang="en-US" sz="1600" dirty="0"/>
          </a:p>
        </p:txBody>
      </p:sp>
      <p:sp>
        <p:nvSpPr>
          <p:cNvPr id="12" name="Text 10"/>
          <p:cNvSpPr/>
          <p:nvPr/>
        </p:nvSpPr>
        <p:spPr>
          <a:xfrm>
            <a:off x="384048" y="2788920"/>
            <a:ext cx="2606040" cy="32004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Curse of Dimensionality</a:t>
            </a:r>
            <a:endParaRPr lang="en-US" sz="1100" dirty="0"/>
          </a:p>
        </p:txBody>
      </p:sp>
      <p:sp>
        <p:nvSpPr>
          <p:cNvPr id="13" name="Text 11"/>
          <p:cNvSpPr/>
          <p:nvPr/>
        </p:nvSpPr>
        <p:spPr>
          <a:xfrm>
            <a:off x="384048" y="3127248"/>
            <a:ext cx="2606040" cy="8686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Semakin banyak fitur, semakin sulit model belajar. Data menjadi 'sparse' di ruang berdimensi tinggi.</a:t>
            </a:r>
            <a:endParaRPr lang="en-US" sz="950" dirty="0"/>
          </a:p>
        </p:txBody>
      </p:sp>
      <p:sp>
        <p:nvSpPr>
          <p:cNvPr id="14" name="Shape 12"/>
          <p:cNvSpPr/>
          <p:nvPr/>
        </p:nvSpPr>
        <p:spPr>
          <a:xfrm>
            <a:off x="3227832" y="2286000"/>
            <a:ext cx="2834640" cy="182880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15" name="Shape 13"/>
          <p:cNvSpPr/>
          <p:nvPr/>
        </p:nvSpPr>
        <p:spPr>
          <a:xfrm>
            <a:off x="3227832" y="2286000"/>
            <a:ext cx="2834640" cy="54864"/>
          </a:xfrm>
          <a:prstGeom prst="rect">
            <a:avLst/>
          </a:prstGeom>
          <a:solidFill>
            <a:srgbClr val="0D9488"/>
          </a:solidFill>
          <a:ln w="12700">
            <a:solidFill>
              <a:srgbClr val="0D9488"/>
            </a:solidFill>
            <a:prstDash val="solid"/>
          </a:ln>
        </p:spPr>
      </p:sp>
      <p:sp>
        <p:nvSpPr>
          <p:cNvPr id="16" name="Text 14"/>
          <p:cNvSpPr/>
          <p:nvPr/>
        </p:nvSpPr>
        <p:spPr>
          <a:xfrm>
            <a:off x="3337560" y="2395728"/>
            <a:ext cx="347472" cy="347472"/>
          </a:xfrm>
          <a:prstGeom prst="rect">
            <a:avLst/>
          </a:prstGeom>
          <a:noFill/>
          <a:ln/>
        </p:spPr>
        <p:txBody>
          <a:bodyPr wrap="square" lIns="0" tIns="0" rIns="0" bIns="0" rtlCol="0" anchor="ctr"/>
          <a:lstStyle/>
          <a:p>
            <a:pPr marL="0" indent="0">
              <a:buNone/>
            </a:pPr>
            <a:r>
              <a:rPr lang="en-US" sz="1600" b="1" dirty="0">
                <a:solidFill>
                  <a:srgbClr val="0D9488"/>
                </a:solidFill>
                <a:latin typeface="Calibri" pitchFamily="34" charset="0"/>
                <a:ea typeface="Calibri" pitchFamily="34" charset="-122"/>
                <a:cs typeface="Calibri" pitchFamily="34" charset="-120"/>
              </a:rPr>
              <a:t>2</a:t>
            </a:r>
            <a:endParaRPr lang="en-US" sz="1600" dirty="0"/>
          </a:p>
        </p:txBody>
      </p:sp>
      <p:sp>
        <p:nvSpPr>
          <p:cNvPr id="17" name="Text 15"/>
          <p:cNvSpPr/>
          <p:nvPr/>
        </p:nvSpPr>
        <p:spPr>
          <a:xfrm>
            <a:off x="3337560" y="2788920"/>
            <a:ext cx="2606040" cy="32004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Visualisasi Data</a:t>
            </a:r>
            <a:endParaRPr lang="en-US" sz="1100" dirty="0"/>
          </a:p>
        </p:txBody>
      </p:sp>
      <p:sp>
        <p:nvSpPr>
          <p:cNvPr id="18" name="Text 16"/>
          <p:cNvSpPr/>
          <p:nvPr/>
        </p:nvSpPr>
        <p:spPr>
          <a:xfrm>
            <a:off x="3337560" y="3127248"/>
            <a:ext cx="2606040" cy="8686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Manusia hanya bisa melihat data dalam 2D atau 3D. PCA membantu kita 'melihat' data berdimensi tinggi.</a:t>
            </a:r>
            <a:endParaRPr lang="en-US" sz="950" dirty="0"/>
          </a:p>
        </p:txBody>
      </p:sp>
      <p:sp>
        <p:nvSpPr>
          <p:cNvPr id="19" name="Shape 17"/>
          <p:cNvSpPr/>
          <p:nvPr/>
        </p:nvSpPr>
        <p:spPr>
          <a:xfrm>
            <a:off x="6181344" y="2286000"/>
            <a:ext cx="2834640" cy="182880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20" name="Shape 18"/>
          <p:cNvSpPr/>
          <p:nvPr/>
        </p:nvSpPr>
        <p:spPr>
          <a:xfrm>
            <a:off x="6181344" y="2286000"/>
            <a:ext cx="2834640" cy="54864"/>
          </a:xfrm>
          <a:prstGeom prst="rect">
            <a:avLst/>
          </a:prstGeom>
          <a:solidFill>
            <a:srgbClr val="0D9488"/>
          </a:solidFill>
          <a:ln w="12700">
            <a:solidFill>
              <a:srgbClr val="0D9488"/>
            </a:solidFill>
            <a:prstDash val="solid"/>
          </a:ln>
        </p:spPr>
      </p:sp>
      <p:sp>
        <p:nvSpPr>
          <p:cNvPr id="21" name="Text 19"/>
          <p:cNvSpPr/>
          <p:nvPr/>
        </p:nvSpPr>
        <p:spPr>
          <a:xfrm>
            <a:off x="6291072" y="2395728"/>
            <a:ext cx="347472" cy="347472"/>
          </a:xfrm>
          <a:prstGeom prst="rect">
            <a:avLst/>
          </a:prstGeom>
          <a:noFill/>
          <a:ln/>
        </p:spPr>
        <p:txBody>
          <a:bodyPr wrap="square" lIns="0" tIns="0" rIns="0" bIns="0" rtlCol="0" anchor="ctr"/>
          <a:lstStyle/>
          <a:p>
            <a:pPr marL="0" indent="0">
              <a:buNone/>
            </a:pPr>
            <a:r>
              <a:rPr lang="en-US" sz="1600" b="1" dirty="0">
                <a:solidFill>
                  <a:srgbClr val="0D9488"/>
                </a:solidFill>
                <a:latin typeface="Calibri" pitchFamily="34" charset="0"/>
                <a:ea typeface="Calibri" pitchFamily="34" charset="-122"/>
                <a:cs typeface="Calibri" pitchFamily="34" charset="-120"/>
              </a:rPr>
              <a:t>3</a:t>
            </a:r>
            <a:endParaRPr lang="en-US" sz="1600" dirty="0"/>
          </a:p>
        </p:txBody>
      </p:sp>
      <p:sp>
        <p:nvSpPr>
          <p:cNvPr id="22" name="Text 20"/>
          <p:cNvSpPr/>
          <p:nvPr/>
        </p:nvSpPr>
        <p:spPr>
          <a:xfrm>
            <a:off x="6291072" y="2788920"/>
            <a:ext cx="2606040" cy="32004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Efisiensi Komputasi</a:t>
            </a:r>
            <a:endParaRPr lang="en-US" sz="1100" dirty="0"/>
          </a:p>
        </p:txBody>
      </p:sp>
      <p:sp>
        <p:nvSpPr>
          <p:cNvPr id="23" name="Text 21"/>
          <p:cNvSpPr/>
          <p:nvPr/>
        </p:nvSpPr>
        <p:spPr>
          <a:xfrm>
            <a:off x="6291072" y="3127248"/>
            <a:ext cx="2606040" cy="86868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Lebih sedikit fitur = training lebih cepat, memori lebih hemat, risiko overfitting berkurang.</a:t>
            </a:r>
            <a:endParaRPr lang="en-US" sz="950" dirty="0"/>
          </a:p>
        </p:txBody>
      </p:sp>
      <p:sp>
        <p:nvSpPr>
          <p:cNvPr id="24" name="Text 22"/>
          <p:cNvSpPr/>
          <p:nvPr/>
        </p:nvSpPr>
        <p:spPr>
          <a:xfrm>
            <a:off x="274320" y="4251960"/>
            <a:ext cx="8595360" cy="256032"/>
          </a:xfrm>
          <a:prstGeom prst="rect">
            <a:avLst/>
          </a:prstGeom>
          <a:noFill/>
          <a:ln/>
        </p:spPr>
        <p:txBody>
          <a:bodyPr wrap="square" lIns="0" tIns="0" rIns="0" bIns="0"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Metode yang paling populer: Principal Component Analysis (PCA)</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342"/>
          </a:solidFill>
          <a:ln w="12700">
            <a:solidFill>
              <a:srgbClr val="0A2342"/>
            </a:solidFill>
            <a:prstDash val="solid"/>
          </a:ln>
        </p:spPr>
      </p:sp>
      <p:sp>
        <p:nvSpPr>
          <p:cNvPr id="3" name="Shape 1"/>
          <p:cNvSpPr/>
          <p:nvPr/>
        </p:nvSpPr>
        <p:spPr>
          <a:xfrm>
            <a:off x="0" y="1005840"/>
            <a:ext cx="9144000" cy="45720"/>
          </a:xfrm>
          <a:prstGeom prst="rect">
            <a:avLst/>
          </a:prstGeom>
          <a:solidFill>
            <a:srgbClr val="0D9488"/>
          </a:solidFill>
          <a:ln w="12700">
            <a:solidFill>
              <a:srgbClr val="0D9488"/>
            </a:solidFill>
            <a:prstDash val="solid"/>
          </a:ln>
        </p:spPr>
      </p:sp>
      <p:sp>
        <p:nvSpPr>
          <p:cNvPr id="4" name="Text 2"/>
          <p:cNvSpPr/>
          <p:nvPr/>
        </p:nvSpPr>
        <p:spPr>
          <a:xfrm>
            <a:off x="365760" y="91440"/>
            <a:ext cx="822960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Principal Component Analysis (PCA)</a:t>
            </a:r>
            <a:endParaRPr lang="en-US" sz="2200" dirty="0"/>
          </a:p>
        </p:txBody>
      </p:sp>
      <p:sp>
        <p:nvSpPr>
          <p:cNvPr id="5" name="Text 3"/>
          <p:cNvSpPr/>
          <p:nvPr/>
        </p:nvSpPr>
        <p:spPr>
          <a:xfrm>
            <a:off x="365760" y="658368"/>
            <a:ext cx="8229600" cy="320040"/>
          </a:xfrm>
          <a:prstGeom prst="rect">
            <a:avLst/>
          </a:prstGeom>
          <a:noFill/>
          <a:ln/>
        </p:spPr>
        <p:txBody>
          <a:bodyPr wrap="square" lIns="0" tIns="0" rIns="0" bIns="0" rtlCol="0" anchor="ctr"/>
          <a:lstStyle/>
          <a:p>
            <a:pPr marL="0" indent="0">
              <a:buNone/>
            </a:pPr>
            <a:r>
              <a:rPr lang="en-US" sz="1100" dirty="0">
                <a:solidFill>
                  <a:srgbClr val="60A5FA"/>
                </a:solidFill>
                <a:latin typeface="Calibri" pitchFamily="34" charset="0"/>
                <a:ea typeface="Calibri" pitchFamily="34" charset="-122"/>
                <a:cs typeface="Calibri" pitchFamily="34" charset="-120"/>
              </a:rPr>
              <a:t>Konsep dasar dan intuisi di balik PCA</a:t>
            </a:r>
            <a:endParaRPr lang="en-US" sz="1100" dirty="0"/>
          </a:p>
        </p:txBody>
      </p:sp>
      <p:sp>
        <p:nvSpPr>
          <p:cNvPr id="6" name="Shape 4"/>
          <p:cNvSpPr/>
          <p:nvPr/>
        </p:nvSpPr>
        <p:spPr>
          <a:xfrm>
            <a:off x="274320" y="1143000"/>
            <a:ext cx="8595360" cy="731520"/>
          </a:xfrm>
          <a:prstGeom prst="rect">
            <a:avLst/>
          </a:prstGeom>
          <a:solidFill>
            <a:srgbClr val="0A2342"/>
          </a:solidFill>
          <a:ln w="12700">
            <a:solidFill>
              <a:srgbClr val="0A2342"/>
            </a:solidFill>
            <a:prstDash val="solid"/>
          </a:ln>
          <a:effectLst>
            <a:outerShdw blurRad="101600" dist="25400" dir="8100000" algn="bl" rotWithShape="0">
              <a:srgbClr val="000000">
                <a:alpha val="10000"/>
              </a:srgbClr>
            </a:outerShdw>
          </a:effectLst>
        </p:spPr>
      </p:sp>
      <p:sp>
        <p:nvSpPr>
          <p:cNvPr id="7" name="Text 5"/>
          <p:cNvSpPr/>
          <p:nvPr/>
        </p:nvSpPr>
        <p:spPr>
          <a:xfrm>
            <a:off x="411480" y="1188720"/>
            <a:ext cx="8321040" cy="658368"/>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"PCA adalah algoritma reduksi dimensi yang mengubah dataset berdimensi tinggi menjadi dimensi lebih rendah sambil mempertahankan informasi (variansi) sebanyak mungkin."</a:t>
            </a:r>
            <a:endParaRPr lang="en-US" sz="1100" dirty="0"/>
          </a:p>
        </p:txBody>
      </p:sp>
      <p:sp>
        <p:nvSpPr>
          <p:cNvPr id="8" name="Text 6"/>
          <p:cNvSpPr/>
          <p:nvPr/>
        </p:nvSpPr>
        <p:spPr>
          <a:xfrm>
            <a:off x="274320" y="1993392"/>
            <a:ext cx="822960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Intuisi PCA</a:t>
            </a:r>
            <a:endParaRPr lang="en-US" sz="1300" dirty="0"/>
          </a:p>
        </p:txBody>
      </p:sp>
      <p:sp>
        <p:nvSpPr>
          <p:cNvPr id="9" name="Shape 7"/>
          <p:cNvSpPr/>
          <p:nvPr/>
        </p:nvSpPr>
        <p:spPr>
          <a:xfrm>
            <a:off x="274320" y="2331720"/>
            <a:ext cx="8595360" cy="713232"/>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10" name="Shape 8"/>
          <p:cNvSpPr/>
          <p:nvPr/>
        </p:nvSpPr>
        <p:spPr>
          <a:xfrm>
            <a:off x="384048" y="2441448"/>
            <a:ext cx="384048" cy="384048"/>
          </a:xfrm>
          <a:prstGeom prst="ellipse">
            <a:avLst/>
          </a:prstGeom>
          <a:solidFill>
            <a:srgbClr val="0D9488"/>
          </a:solidFill>
          <a:ln w="12700">
            <a:solidFill>
              <a:srgbClr val="0D9488"/>
            </a:solidFill>
            <a:prstDash val="solid"/>
          </a:ln>
        </p:spPr>
      </p:sp>
      <p:sp>
        <p:nvSpPr>
          <p:cNvPr id="11" name="Text 9"/>
          <p:cNvSpPr/>
          <p:nvPr/>
        </p:nvSpPr>
        <p:spPr>
          <a:xfrm>
            <a:off x="384048" y="244144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896112" y="2377440"/>
            <a:ext cx="2286000" cy="27432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Bayangkan data 3D</a:t>
            </a:r>
            <a:endParaRPr lang="en-US" sz="1100" dirty="0"/>
          </a:p>
        </p:txBody>
      </p:sp>
      <p:sp>
        <p:nvSpPr>
          <p:cNvPr id="13" name="Text 11"/>
          <p:cNvSpPr/>
          <p:nvPr/>
        </p:nvSpPr>
        <p:spPr>
          <a:xfrm>
            <a:off x="896112" y="2651760"/>
            <a:ext cx="781812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Kamu punya data dengan 3 fitur: tinggi, berat, usia. PCA mencari "sudut pandang terbaik" untuk memproyeksikan data ini ke bidang 2D.</a:t>
            </a:r>
            <a:endParaRPr lang="en-US" sz="1000" dirty="0"/>
          </a:p>
        </p:txBody>
      </p:sp>
      <p:sp>
        <p:nvSpPr>
          <p:cNvPr id="14" name="Shape 12"/>
          <p:cNvSpPr/>
          <p:nvPr/>
        </p:nvSpPr>
        <p:spPr>
          <a:xfrm>
            <a:off x="274320" y="3108960"/>
            <a:ext cx="8595360" cy="713232"/>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15" name="Shape 13"/>
          <p:cNvSpPr/>
          <p:nvPr/>
        </p:nvSpPr>
        <p:spPr>
          <a:xfrm>
            <a:off x="384048" y="3218688"/>
            <a:ext cx="384048" cy="384048"/>
          </a:xfrm>
          <a:prstGeom prst="ellipse">
            <a:avLst/>
          </a:prstGeom>
          <a:solidFill>
            <a:srgbClr val="0D9488"/>
          </a:solidFill>
          <a:ln w="12700">
            <a:solidFill>
              <a:srgbClr val="0D9488"/>
            </a:solidFill>
            <a:prstDash val="solid"/>
          </a:ln>
        </p:spPr>
      </p:sp>
      <p:sp>
        <p:nvSpPr>
          <p:cNvPr id="16" name="Text 14"/>
          <p:cNvSpPr/>
          <p:nvPr/>
        </p:nvSpPr>
        <p:spPr>
          <a:xfrm>
            <a:off x="384048" y="321868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896112" y="3154680"/>
            <a:ext cx="2286000" cy="27432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Cari arah variansi terbesar</a:t>
            </a:r>
            <a:endParaRPr lang="en-US" sz="1100" dirty="0"/>
          </a:p>
        </p:txBody>
      </p:sp>
      <p:sp>
        <p:nvSpPr>
          <p:cNvPr id="18" name="Text 16"/>
          <p:cNvSpPr/>
          <p:nvPr/>
        </p:nvSpPr>
        <p:spPr>
          <a:xfrm>
            <a:off x="896112" y="3429000"/>
            <a:ext cx="781812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PCA menemukan sumbu baru (Principal Components) di mana data paling 'menyebar'. Sumbu ini disebut PC1, PC2, dst.</a:t>
            </a:r>
            <a:endParaRPr lang="en-US" sz="1000" dirty="0"/>
          </a:p>
        </p:txBody>
      </p:sp>
      <p:sp>
        <p:nvSpPr>
          <p:cNvPr id="19" name="Shape 17"/>
          <p:cNvSpPr/>
          <p:nvPr/>
        </p:nvSpPr>
        <p:spPr>
          <a:xfrm>
            <a:off x="274320" y="3886200"/>
            <a:ext cx="8595360" cy="713232"/>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20" name="Shape 18"/>
          <p:cNvSpPr/>
          <p:nvPr/>
        </p:nvSpPr>
        <p:spPr>
          <a:xfrm>
            <a:off x="384048" y="3995928"/>
            <a:ext cx="384048" cy="384048"/>
          </a:xfrm>
          <a:prstGeom prst="ellipse">
            <a:avLst/>
          </a:prstGeom>
          <a:solidFill>
            <a:srgbClr val="0D9488"/>
          </a:solidFill>
          <a:ln w="12700">
            <a:solidFill>
              <a:srgbClr val="0D9488"/>
            </a:solidFill>
            <a:prstDash val="solid"/>
          </a:ln>
        </p:spPr>
      </p:sp>
      <p:sp>
        <p:nvSpPr>
          <p:cNvPr id="21" name="Text 19"/>
          <p:cNvSpPr/>
          <p:nvPr/>
        </p:nvSpPr>
        <p:spPr>
          <a:xfrm>
            <a:off x="384048" y="39959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896112" y="3931920"/>
            <a:ext cx="2286000" cy="27432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Kurangi dimensi</a:t>
            </a:r>
            <a:endParaRPr lang="en-US" sz="1100" dirty="0"/>
          </a:p>
        </p:txBody>
      </p:sp>
      <p:sp>
        <p:nvSpPr>
          <p:cNvPr id="23" name="Text 21"/>
          <p:cNvSpPr/>
          <p:nvPr/>
        </p:nvSpPr>
        <p:spPr>
          <a:xfrm>
            <a:off x="896112" y="4206240"/>
            <a:ext cx="781812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Kita bisa mengambil hanya PC1 dan PC2 (yang menjelaskan 95% variansi) dan membuang PC3 — data tetap informatif tapi lebih sederhana.</a:t>
            </a:r>
            <a:endParaRPr lang="en-US" sz="1000" dirty="0"/>
          </a:p>
        </p:txBody>
      </p:sp>
      <p:sp>
        <p:nvSpPr>
          <p:cNvPr id="24" name="Text 22"/>
          <p:cNvSpPr/>
          <p:nvPr/>
        </p:nvSpPr>
        <p:spPr>
          <a:xfrm>
            <a:off x="274320" y="4736592"/>
            <a:ext cx="8595360" cy="256032"/>
          </a:xfrm>
          <a:prstGeom prst="rect">
            <a:avLst/>
          </a:prstGeom>
          <a:noFill/>
          <a:ln/>
        </p:spPr>
        <p:txBody>
          <a:bodyPr wrap="square" lIns="0" tIns="0" rIns="0" bIns="0" rtlCol="0" anchor="ctr"/>
          <a:lstStyle/>
          <a:p>
            <a:pPr marL="0" indent="0">
              <a:buNone/>
            </a:pPr>
            <a:r>
              <a:rPr lang="en-US" sz="1000" b="1" i="1" dirty="0">
                <a:solidFill>
                  <a:srgbClr val="F59E0B"/>
                </a:solidFill>
                <a:latin typeface="Calibri" pitchFamily="34" charset="0"/>
                <a:ea typeface="Calibri" pitchFamily="34" charset="-122"/>
                <a:cs typeface="Calibri" pitchFamily="34" charset="-120"/>
              </a:rPr>
              <a:t>Komponen utama (PC) adalah KOMBINASI LINEAR dari fitur asli, bukan fitur asli itu sendiri.</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342"/>
          </a:solidFill>
          <a:ln w="12700">
            <a:solidFill>
              <a:srgbClr val="0A2342"/>
            </a:solidFill>
            <a:prstDash val="solid"/>
          </a:ln>
        </p:spPr>
      </p:sp>
      <p:sp>
        <p:nvSpPr>
          <p:cNvPr id="3" name="Shape 1"/>
          <p:cNvSpPr/>
          <p:nvPr/>
        </p:nvSpPr>
        <p:spPr>
          <a:xfrm>
            <a:off x="0" y="1005840"/>
            <a:ext cx="9144000" cy="45720"/>
          </a:xfrm>
          <a:prstGeom prst="rect">
            <a:avLst/>
          </a:prstGeom>
          <a:solidFill>
            <a:srgbClr val="0D9488"/>
          </a:solidFill>
          <a:ln w="12700">
            <a:solidFill>
              <a:srgbClr val="0D9488"/>
            </a:solidFill>
            <a:prstDash val="solid"/>
          </a:ln>
        </p:spPr>
      </p:sp>
      <p:sp>
        <p:nvSpPr>
          <p:cNvPr id="4" name="Text 2"/>
          <p:cNvSpPr/>
          <p:nvPr/>
        </p:nvSpPr>
        <p:spPr>
          <a:xfrm>
            <a:off x="365760" y="91440"/>
            <a:ext cx="822960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Algoritma PCA — Langkah 1 sampai 4</a:t>
            </a:r>
            <a:endParaRPr lang="en-US" sz="2200" dirty="0"/>
          </a:p>
        </p:txBody>
      </p:sp>
      <p:sp>
        <p:nvSpPr>
          <p:cNvPr id="5" name="Text 3"/>
          <p:cNvSpPr/>
          <p:nvPr/>
        </p:nvSpPr>
        <p:spPr>
          <a:xfrm>
            <a:off x="365760" y="658368"/>
            <a:ext cx="8229600" cy="320040"/>
          </a:xfrm>
          <a:prstGeom prst="rect">
            <a:avLst/>
          </a:prstGeom>
          <a:noFill/>
          <a:ln/>
        </p:spPr>
        <p:txBody>
          <a:bodyPr wrap="square" lIns="0" tIns="0" rIns="0" bIns="0" rtlCol="0" anchor="ctr"/>
          <a:lstStyle/>
          <a:p>
            <a:pPr marL="0" indent="0">
              <a:buNone/>
            </a:pPr>
            <a:r>
              <a:rPr lang="en-US" sz="1100" dirty="0">
                <a:solidFill>
                  <a:srgbClr val="60A5FA"/>
                </a:solidFill>
                <a:latin typeface="Calibri" pitchFamily="34" charset="0"/>
                <a:ea typeface="Calibri" pitchFamily="34" charset="-122"/>
                <a:cs typeface="Calibri" pitchFamily="34" charset="-120"/>
              </a:rPr>
              <a:t>Langkah matematis yang dilakukan PCA</a:t>
            </a:r>
            <a:endParaRPr lang="en-US" sz="1100" dirty="0"/>
          </a:p>
        </p:txBody>
      </p:sp>
      <p:sp>
        <p:nvSpPr>
          <p:cNvPr id="6" name="Shape 4"/>
          <p:cNvSpPr/>
          <p:nvPr/>
        </p:nvSpPr>
        <p:spPr>
          <a:xfrm>
            <a:off x="274320" y="1143000"/>
            <a:ext cx="4114800" cy="173736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7" name="Shape 5"/>
          <p:cNvSpPr/>
          <p:nvPr/>
        </p:nvSpPr>
        <p:spPr>
          <a:xfrm>
            <a:off x="274320" y="1143000"/>
            <a:ext cx="4114800" cy="54864"/>
          </a:xfrm>
          <a:prstGeom prst="rect">
            <a:avLst/>
          </a:prstGeom>
          <a:solidFill>
            <a:srgbClr val="0D9488"/>
          </a:solidFill>
          <a:ln w="12700">
            <a:solidFill>
              <a:srgbClr val="0D9488"/>
            </a:solidFill>
            <a:prstDash val="solid"/>
          </a:ln>
        </p:spPr>
      </p:sp>
      <p:sp>
        <p:nvSpPr>
          <p:cNvPr id="8" name="Shape 6"/>
          <p:cNvSpPr/>
          <p:nvPr/>
        </p:nvSpPr>
        <p:spPr>
          <a:xfrm>
            <a:off x="411480" y="1325880"/>
            <a:ext cx="438912" cy="438912"/>
          </a:xfrm>
          <a:prstGeom prst="ellipse">
            <a:avLst/>
          </a:prstGeom>
          <a:solidFill>
            <a:srgbClr val="0A2342"/>
          </a:solidFill>
          <a:ln w="12700">
            <a:solidFill>
              <a:srgbClr val="0A2342"/>
            </a:solidFill>
            <a:prstDash val="solid"/>
          </a:ln>
        </p:spPr>
      </p:sp>
      <p:sp>
        <p:nvSpPr>
          <p:cNvPr id="9" name="Text 7"/>
          <p:cNvSpPr/>
          <p:nvPr/>
        </p:nvSpPr>
        <p:spPr>
          <a:xfrm>
            <a:off x="411480" y="1344168"/>
            <a:ext cx="438912"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960120" y="1280160"/>
            <a:ext cx="3337560" cy="347472"/>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Persiapkan Data (Input Matrix)</a:t>
            </a:r>
            <a:endParaRPr lang="en-US" sz="1100" dirty="0"/>
          </a:p>
        </p:txBody>
      </p:sp>
      <p:sp>
        <p:nvSpPr>
          <p:cNvPr id="11" name="Text 9"/>
          <p:cNvSpPr/>
          <p:nvPr/>
        </p:nvSpPr>
        <p:spPr>
          <a:xfrm>
            <a:off x="411480" y="1801368"/>
            <a:ext cx="3886200" cy="10058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Susun data dalam matriks m×n. m = jumlah observasi (baris), n = jumlah fitur (kolom). Contoh: 20 observasi × 3 fitur → matriks 20×3.</a:t>
            </a:r>
            <a:endParaRPr lang="en-US" sz="950" dirty="0"/>
          </a:p>
        </p:txBody>
      </p:sp>
      <p:sp>
        <p:nvSpPr>
          <p:cNvPr id="12" name="Shape 10"/>
          <p:cNvSpPr/>
          <p:nvPr/>
        </p:nvSpPr>
        <p:spPr>
          <a:xfrm>
            <a:off x="4754880" y="1143000"/>
            <a:ext cx="4114800" cy="173736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13" name="Shape 11"/>
          <p:cNvSpPr/>
          <p:nvPr/>
        </p:nvSpPr>
        <p:spPr>
          <a:xfrm>
            <a:off x="4754880" y="1143000"/>
            <a:ext cx="4114800" cy="54864"/>
          </a:xfrm>
          <a:prstGeom prst="rect">
            <a:avLst/>
          </a:prstGeom>
          <a:solidFill>
            <a:srgbClr val="0D9488"/>
          </a:solidFill>
          <a:ln w="12700">
            <a:solidFill>
              <a:srgbClr val="0D9488"/>
            </a:solidFill>
            <a:prstDash val="solid"/>
          </a:ln>
        </p:spPr>
      </p:sp>
      <p:sp>
        <p:nvSpPr>
          <p:cNvPr id="14" name="Shape 12"/>
          <p:cNvSpPr/>
          <p:nvPr/>
        </p:nvSpPr>
        <p:spPr>
          <a:xfrm>
            <a:off x="4892040" y="1325880"/>
            <a:ext cx="438912" cy="438912"/>
          </a:xfrm>
          <a:prstGeom prst="ellipse">
            <a:avLst/>
          </a:prstGeom>
          <a:solidFill>
            <a:srgbClr val="0A2342"/>
          </a:solidFill>
          <a:ln w="12700">
            <a:solidFill>
              <a:srgbClr val="0A2342"/>
            </a:solidFill>
            <a:prstDash val="solid"/>
          </a:ln>
        </p:spPr>
      </p:sp>
      <p:sp>
        <p:nvSpPr>
          <p:cNvPr id="15" name="Text 13"/>
          <p:cNvSpPr/>
          <p:nvPr/>
        </p:nvSpPr>
        <p:spPr>
          <a:xfrm>
            <a:off x="4892040" y="1344168"/>
            <a:ext cx="438912"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p:nvPr/>
        </p:nvSpPr>
        <p:spPr>
          <a:xfrm>
            <a:off x="5440680" y="1280160"/>
            <a:ext cx="3337560" cy="347472"/>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Hitung Mean Setiap Fitur</a:t>
            </a:r>
            <a:endParaRPr lang="en-US" sz="1100" dirty="0"/>
          </a:p>
        </p:txBody>
      </p:sp>
      <p:sp>
        <p:nvSpPr>
          <p:cNvPr id="17" name="Text 15"/>
          <p:cNvSpPr/>
          <p:nvPr/>
        </p:nvSpPr>
        <p:spPr>
          <a:xfrm>
            <a:off x="4892040" y="1801368"/>
            <a:ext cx="3886200" cy="10058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Hitung nilai rata-rata (μ) untuk setiap kolom/fitur. Hasilnya adalah vektor mean μ berukuran n.</a:t>
            </a:r>
            <a:endParaRPr lang="en-US" sz="950" dirty="0"/>
          </a:p>
        </p:txBody>
      </p:sp>
      <p:sp>
        <p:nvSpPr>
          <p:cNvPr id="18" name="Shape 16"/>
          <p:cNvSpPr/>
          <p:nvPr/>
        </p:nvSpPr>
        <p:spPr>
          <a:xfrm>
            <a:off x="274320" y="3017520"/>
            <a:ext cx="4114800" cy="173736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19" name="Shape 17"/>
          <p:cNvSpPr/>
          <p:nvPr/>
        </p:nvSpPr>
        <p:spPr>
          <a:xfrm>
            <a:off x="274320" y="3017520"/>
            <a:ext cx="4114800" cy="54864"/>
          </a:xfrm>
          <a:prstGeom prst="rect">
            <a:avLst/>
          </a:prstGeom>
          <a:solidFill>
            <a:srgbClr val="0D9488"/>
          </a:solidFill>
          <a:ln w="12700">
            <a:solidFill>
              <a:srgbClr val="0D9488"/>
            </a:solidFill>
            <a:prstDash val="solid"/>
          </a:ln>
        </p:spPr>
      </p:sp>
      <p:sp>
        <p:nvSpPr>
          <p:cNvPr id="20" name="Shape 18"/>
          <p:cNvSpPr/>
          <p:nvPr/>
        </p:nvSpPr>
        <p:spPr>
          <a:xfrm>
            <a:off x="411480" y="3200400"/>
            <a:ext cx="438912" cy="438912"/>
          </a:xfrm>
          <a:prstGeom prst="ellipse">
            <a:avLst/>
          </a:prstGeom>
          <a:solidFill>
            <a:srgbClr val="0A2342"/>
          </a:solidFill>
          <a:ln w="12700">
            <a:solidFill>
              <a:srgbClr val="0A2342"/>
            </a:solidFill>
            <a:prstDash val="solid"/>
          </a:ln>
        </p:spPr>
      </p:sp>
      <p:sp>
        <p:nvSpPr>
          <p:cNvPr id="21" name="Text 19"/>
          <p:cNvSpPr/>
          <p:nvPr/>
        </p:nvSpPr>
        <p:spPr>
          <a:xfrm>
            <a:off x="411480" y="3218688"/>
            <a:ext cx="438912"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p:nvPr/>
        </p:nvSpPr>
        <p:spPr>
          <a:xfrm>
            <a:off x="960120" y="3154680"/>
            <a:ext cx="3337560" cy="347472"/>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Normalisasi / Centering Data</a:t>
            </a:r>
            <a:endParaRPr lang="en-US" sz="1100" dirty="0"/>
          </a:p>
        </p:txBody>
      </p:sp>
      <p:sp>
        <p:nvSpPr>
          <p:cNvPr id="23" name="Text 21"/>
          <p:cNvSpPr/>
          <p:nvPr/>
        </p:nvSpPr>
        <p:spPr>
          <a:xfrm>
            <a:off x="411480" y="3675888"/>
            <a:ext cx="3886200" cy="10058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Kurangkan mean dari setiap nilai: X̃ = X − μ. Setiap kolom akan memiliki rata-rata = 0. Ini penting agar PCA tidak bias terhadap fitur dengan nilai besar.</a:t>
            </a:r>
            <a:endParaRPr lang="en-US" sz="950" dirty="0"/>
          </a:p>
        </p:txBody>
      </p:sp>
      <p:sp>
        <p:nvSpPr>
          <p:cNvPr id="24" name="Shape 22"/>
          <p:cNvSpPr/>
          <p:nvPr/>
        </p:nvSpPr>
        <p:spPr>
          <a:xfrm>
            <a:off x="4754880" y="3017520"/>
            <a:ext cx="4114800" cy="173736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25" name="Shape 23"/>
          <p:cNvSpPr/>
          <p:nvPr/>
        </p:nvSpPr>
        <p:spPr>
          <a:xfrm>
            <a:off x="4754880" y="3017520"/>
            <a:ext cx="4114800" cy="54864"/>
          </a:xfrm>
          <a:prstGeom prst="rect">
            <a:avLst/>
          </a:prstGeom>
          <a:solidFill>
            <a:srgbClr val="0D9488"/>
          </a:solidFill>
          <a:ln w="12700">
            <a:solidFill>
              <a:srgbClr val="0D9488"/>
            </a:solidFill>
            <a:prstDash val="solid"/>
          </a:ln>
        </p:spPr>
      </p:sp>
      <p:sp>
        <p:nvSpPr>
          <p:cNvPr id="26" name="Shape 24"/>
          <p:cNvSpPr/>
          <p:nvPr/>
        </p:nvSpPr>
        <p:spPr>
          <a:xfrm>
            <a:off x="4892040" y="3200400"/>
            <a:ext cx="438912" cy="438912"/>
          </a:xfrm>
          <a:prstGeom prst="ellipse">
            <a:avLst/>
          </a:prstGeom>
          <a:solidFill>
            <a:srgbClr val="0A2342"/>
          </a:solidFill>
          <a:ln w="12700">
            <a:solidFill>
              <a:srgbClr val="0A2342"/>
            </a:solidFill>
            <a:prstDash val="solid"/>
          </a:ln>
        </p:spPr>
      </p:sp>
      <p:sp>
        <p:nvSpPr>
          <p:cNvPr id="27" name="Text 25"/>
          <p:cNvSpPr/>
          <p:nvPr/>
        </p:nvSpPr>
        <p:spPr>
          <a:xfrm>
            <a:off x="4892040" y="3218688"/>
            <a:ext cx="438912"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8" name="Text 26"/>
          <p:cNvSpPr/>
          <p:nvPr/>
        </p:nvSpPr>
        <p:spPr>
          <a:xfrm>
            <a:off x="5440680" y="3154680"/>
            <a:ext cx="3337560" cy="347472"/>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Hitung Covariance Matrix</a:t>
            </a:r>
            <a:endParaRPr lang="en-US" sz="1100" dirty="0"/>
          </a:p>
        </p:txBody>
      </p:sp>
      <p:sp>
        <p:nvSpPr>
          <p:cNvPr id="29" name="Text 27"/>
          <p:cNvSpPr/>
          <p:nvPr/>
        </p:nvSpPr>
        <p:spPr>
          <a:xfrm>
            <a:off x="4892040" y="3675888"/>
            <a:ext cx="3886200" cy="10058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 = (1/m) × X̃ᵀ × X̃. Matriks kovarians berukuran n×n ini menunjukkan hubungan linear antar fitur. Nilai diagonal = variansi tiap fitur.</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342"/>
          </a:solidFill>
          <a:ln w="12700">
            <a:solidFill>
              <a:srgbClr val="0A2342"/>
            </a:solidFill>
            <a:prstDash val="solid"/>
          </a:ln>
        </p:spPr>
      </p:sp>
      <p:sp>
        <p:nvSpPr>
          <p:cNvPr id="3" name="Shape 1"/>
          <p:cNvSpPr/>
          <p:nvPr/>
        </p:nvSpPr>
        <p:spPr>
          <a:xfrm>
            <a:off x="0" y="1005840"/>
            <a:ext cx="9144000" cy="45720"/>
          </a:xfrm>
          <a:prstGeom prst="rect">
            <a:avLst/>
          </a:prstGeom>
          <a:solidFill>
            <a:srgbClr val="0D9488"/>
          </a:solidFill>
          <a:ln w="12700">
            <a:solidFill>
              <a:srgbClr val="0D9488"/>
            </a:solidFill>
            <a:prstDash val="solid"/>
          </a:ln>
        </p:spPr>
      </p:sp>
      <p:sp>
        <p:nvSpPr>
          <p:cNvPr id="4" name="Text 2"/>
          <p:cNvSpPr/>
          <p:nvPr/>
        </p:nvSpPr>
        <p:spPr>
          <a:xfrm>
            <a:off x="365760" y="91440"/>
            <a:ext cx="822960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Algoritma PCA — Langkah 5 sampai 8</a:t>
            </a:r>
            <a:endParaRPr lang="en-US" sz="2200" dirty="0"/>
          </a:p>
        </p:txBody>
      </p:sp>
      <p:sp>
        <p:nvSpPr>
          <p:cNvPr id="5" name="Text 3"/>
          <p:cNvSpPr/>
          <p:nvPr/>
        </p:nvSpPr>
        <p:spPr>
          <a:xfrm>
            <a:off x="365760" y="658368"/>
            <a:ext cx="8229600" cy="320040"/>
          </a:xfrm>
          <a:prstGeom prst="rect">
            <a:avLst/>
          </a:prstGeom>
          <a:noFill/>
          <a:ln/>
        </p:spPr>
        <p:txBody>
          <a:bodyPr wrap="square" lIns="0" tIns="0" rIns="0" bIns="0" rtlCol="0" anchor="ctr"/>
          <a:lstStyle/>
          <a:p>
            <a:pPr marL="0" indent="0">
              <a:buNone/>
            </a:pPr>
            <a:r>
              <a:rPr lang="en-US" sz="1100" dirty="0">
                <a:solidFill>
                  <a:srgbClr val="60A5FA"/>
                </a:solidFill>
                <a:latin typeface="Calibri" pitchFamily="34" charset="0"/>
                <a:ea typeface="Calibri" pitchFamily="34" charset="-122"/>
                <a:cs typeface="Calibri" pitchFamily="34" charset="-120"/>
              </a:rPr>
              <a:t>Dari eigendecomposition hingga data yang sudah tereduksi</a:t>
            </a:r>
            <a:endParaRPr lang="en-US" sz="1100" dirty="0"/>
          </a:p>
        </p:txBody>
      </p:sp>
      <p:sp>
        <p:nvSpPr>
          <p:cNvPr id="6" name="Shape 4"/>
          <p:cNvSpPr/>
          <p:nvPr/>
        </p:nvSpPr>
        <p:spPr>
          <a:xfrm>
            <a:off x="274320" y="1143000"/>
            <a:ext cx="4114800" cy="173736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7" name="Shape 5"/>
          <p:cNvSpPr/>
          <p:nvPr/>
        </p:nvSpPr>
        <p:spPr>
          <a:xfrm>
            <a:off x="274320" y="1143000"/>
            <a:ext cx="4114800" cy="54864"/>
          </a:xfrm>
          <a:prstGeom prst="rect">
            <a:avLst/>
          </a:prstGeom>
          <a:solidFill>
            <a:srgbClr val="0A2342"/>
          </a:solidFill>
          <a:ln w="12700">
            <a:solidFill>
              <a:srgbClr val="0A2342"/>
            </a:solidFill>
            <a:prstDash val="solid"/>
          </a:ln>
        </p:spPr>
      </p:sp>
      <p:sp>
        <p:nvSpPr>
          <p:cNvPr id="8" name="Shape 6"/>
          <p:cNvSpPr/>
          <p:nvPr/>
        </p:nvSpPr>
        <p:spPr>
          <a:xfrm>
            <a:off x="411480" y="1325880"/>
            <a:ext cx="438912" cy="438912"/>
          </a:xfrm>
          <a:prstGeom prst="ellipse">
            <a:avLst/>
          </a:prstGeom>
          <a:solidFill>
            <a:srgbClr val="0D9488"/>
          </a:solidFill>
          <a:ln w="12700">
            <a:solidFill>
              <a:srgbClr val="0D9488"/>
            </a:solidFill>
            <a:prstDash val="solid"/>
          </a:ln>
        </p:spPr>
      </p:sp>
      <p:sp>
        <p:nvSpPr>
          <p:cNvPr id="9" name="Text 7"/>
          <p:cNvSpPr/>
          <p:nvPr/>
        </p:nvSpPr>
        <p:spPr>
          <a:xfrm>
            <a:off x="411480" y="1344168"/>
            <a:ext cx="438912"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0" name="Text 8"/>
          <p:cNvSpPr/>
          <p:nvPr/>
        </p:nvSpPr>
        <p:spPr>
          <a:xfrm>
            <a:off x="960120" y="1280160"/>
            <a:ext cx="3337560" cy="347472"/>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Hitung Eigenvalue &amp; Eigenvector</a:t>
            </a:r>
            <a:endParaRPr lang="en-US" sz="1100" dirty="0"/>
          </a:p>
        </p:txBody>
      </p:sp>
      <p:sp>
        <p:nvSpPr>
          <p:cNvPr id="11" name="Text 9"/>
          <p:cNvSpPr/>
          <p:nvPr/>
        </p:nvSpPr>
        <p:spPr>
          <a:xfrm>
            <a:off x="411480" y="1801368"/>
            <a:ext cx="3886200" cy="10058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Dari matriks kovarians C, hitung eigenvalue λ dan eigenvector v. Eigenvalue = 'besar' variansi pada arah tertentu. Eigenvector = 'arah' komponen utama (PC).</a:t>
            </a:r>
            <a:endParaRPr lang="en-US" sz="950" dirty="0"/>
          </a:p>
        </p:txBody>
      </p:sp>
      <p:sp>
        <p:nvSpPr>
          <p:cNvPr id="12" name="Shape 10"/>
          <p:cNvSpPr/>
          <p:nvPr/>
        </p:nvSpPr>
        <p:spPr>
          <a:xfrm>
            <a:off x="4754880" y="1143000"/>
            <a:ext cx="4114800" cy="173736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13" name="Shape 11"/>
          <p:cNvSpPr/>
          <p:nvPr/>
        </p:nvSpPr>
        <p:spPr>
          <a:xfrm>
            <a:off x="4754880" y="1143000"/>
            <a:ext cx="4114800" cy="54864"/>
          </a:xfrm>
          <a:prstGeom prst="rect">
            <a:avLst/>
          </a:prstGeom>
          <a:solidFill>
            <a:srgbClr val="0A2342"/>
          </a:solidFill>
          <a:ln w="12700">
            <a:solidFill>
              <a:srgbClr val="0A2342"/>
            </a:solidFill>
            <a:prstDash val="solid"/>
          </a:ln>
        </p:spPr>
      </p:sp>
      <p:sp>
        <p:nvSpPr>
          <p:cNvPr id="14" name="Shape 12"/>
          <p:cNvSpPr/>
          <p:nvPr/>
        </p:nvSpPr>
        <p:spPr>
          <a:xfrm>
            <a:off x="4892040" y="1325880"/>
            <a:ext cx="438912" cy="438912"/>
          </a:xfrm>
          <a:prstGeom prst="ellipse">
            <a:avLst/>
          </a:prstGeom>
          <a:solidFill>
            <a:srgbClr val="0D9488"/>
          </a:solidFill>
          <a:ln w="12700">
            <a:solidFill>
              <a:srgbClr val="0D9488"/>
            </a:solidFill>
            <a:prstDash val="solid"/>
          </a:ln>
        </p:spPr>
      </p:sp>
      <p:sp>
        <p:nvSpPr>
          <p:cNvPr id="15" name="Text 13"/>
          <p:cNvSpPr/>
          <p:nvPr/>
        </p:nvSpPr>
        <p:spPr>
          <a:xfrm>
            <a:off x="4892040" y="1344168"/>
            <a:ext cx="438912"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6" name="Text 14"/>
          <p:cNvSpPr/>
          <p:nvPr/>
        </p:nvSpPr>
        <p:spPr>
          <a:xfrm>
            <a:off x="5440680" y="1280160"/>
            <a:ext cx="3337560" cy="347472"/>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Urutkan Eigenvalue (Descending)</a:t>
            </a:r>
            <a:endParaRPr lang="en-US" sz="1100" dirty="0"/>
          </a:p>
        </p:txBody>
      </p:sp>
      <p:sp>
        <p:nvSpPr>
          <p:cNvPr id="17" name="Text 15"/>
          <p:cNvSpPr/>
          <p:nvPr/>
        </p:nvSpPr>
        <p:spPr>
          <a:xfrm>
            <a:off x="4892040" y="1801368"/>
            <a:ext cx="3886200" cy="10058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Urutkan eigenvalue dari terbesar ke terkecil. Eigenvector dengan eigenvalue terbesar = PC1 (komponen yang paling informatif), lalu PC2, dst.</a:t>
            </a:r>
            <a:endParaRPr lang="en-US" sz="950" dirty="0"/>
          </a:p>
        </p:txBody>
      </p:sp>
      <p:sp>
        <p:nvSpPr>
          <p:cNvPr id="18" name="Shape 16"/>
          <p:cNvSpPr/>
          <p:nvPr/>
        </p:nvSpPr>
        <p:spPr>
          <a:xfrm>
            <a:off x="274320" y="3017520"/>
            <a:ext cx="4114800" cy="173736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19" name="Shape 17"/>
          <p:cNvSpPr/>
          <p:nvPr/>
        </p:nvSpPr>
        <p:spPr>
          <a:xfrm>
            <a:off x="274320" y="3017520"/>
            <a:ext cx="4114800" cy="54864"/>
          </a:xfrm>
          <a:prstGeom prst="rect">
            <a:avLst/>
          </a:prstGeom>
          <a:solidFill>
            <a:srgbClr val="0A2342"/>
          </a:solidFill>
          <a:ln w="12700">
            <a:solidFill>
              <a:srgbClr val="0A2342"/>
            </a:solidFill>
            <a:prstDash val="solid"/>
          </a:ln>
        </p:spPr>
      </p:sp>
      <p:sp>
        <p:nvSpPr>
          <p:cNvPr id="20" name="Shape 18"/>
          <p:cNvSpPr/>
          <p:nvPr/>
        </p:nvSpPr>
        <p:spPr>
          <a:xfrm>
            <a:off x="411480" y="3200400"/>
            <a:ext cx="438912" cy="438912"/>
          </a:xfrm>
          <a:prstGeom prst="ellipse">
            <a:avLst/>
          </a:prstGeom>
          <a:solidFill>
            <a:srgbClr val="0D9488"/>
          </a:solidFill>
          <a:ln w="12700">
            <a:solidFill>
              <a:srgbClr val="0D9488"/>
            </a:solidFill>
            <a:prstDash val="solid"/>
          </a:ln>
        </p:spPr>
      </p:sp>
      <p:sp>
        <p:nvSpPr>
          <p:cNvPr id="21" name="Text 19"/>
          <p:cNvSpPr/>
          <p:nvPr/>
        </p:nvSpPr>
        <p:spPr>
          <a:xfrm>
            <a:off x="411480" y="3218688"/>
            <a:ext cx="438912"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2" name="Text 20"/>
          <p:cNvSpPr/>
          <p:nvPr/>
        </p:nvSpPr>
        <p:spPr>
          <a:xfrm>
            <a:off x="960120" y="3154680"/>
            <a:ext cx="3337560" cy="347472"/>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Pilih k Komponen Utama</a:t>
            </a:r>
            <a:endParaRPr lang="en-US" sz="1100" dirty="0"/>
          </a:p>
        </p:txBody>
      </p:sp>
      <p:sp>
        <p:nvSpPr>
          <p:cNvPr id="23" name="Text 21"/>
          <p:cNvSpPr/>
          <p:nvPr/>
        </p:nvSpPr>
        <p:spPr>
          <a:xfrm>
            <a:off x="411480" y="3675888"/>
            <a:ext cx="3886200" cy="10058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Pilih k eigenvector teratas (k &lt; n). Susun sebagai matriks W berukuran n×k. Pilih k berdasarkan explained variance ratio (misal: total 95%).</a:t>
            </a:r>
            <a:endParaRPr lang="en-US" sz="950" dirty="0"/>
          </a:p>
        </p:txBody>
      </p:sp>
      <p:sp>
        <p:nvSpPr>
          <p:cNvPr id="24" name="Shape 22"/>
          <p:cNvSpPr/>
          <p:nvPr/>
        </p:nvSpPr>
        <p:spPr>
          <a:xfrm>
            <a:off x="4754880" y="3017520"/>
            <a:ext cx="4114800" cy="173736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25" name="Shape 23"/>
          <p:cNvSpPr/>
          <p:nvPr/>
        </p:nvSpPr>
        <p:spPr>
          <a:xfrm>
            <a:off x="4754880" y="3017520"/>
            <a:ext cx="4114800" cy="54864"/>
          </a:xfrm>
          <a:prstGeom prst="rect">
            <a:avLst/>
          </a:prstGeom>
          <a:solidFill>
            <a:srgbClr val="0A2342"/>
          </a:solidFill>
          <a:ln w="12700">
            <a:solidFill>
              <a:srgbClr val="0A2342"/>
            </a:solidFill>
            <a:prstDash val="solid"/>
          </a:ln>
        </p:spPr>
      </p:sp>
      <p:sp>
        <p:nvSpPr>
          <p:cNvPr id="26" name="Shape 24"/>
          <p:cNvSpPr/>
          <p:nvPr/>
        </p:nvSpPr>
        <p:spPr>
          <a:xfrm>
            <a:off x="4892040" y="3200400"/>
            <a:ext cx="438912" cy="438912"/>
          </a:xfrm>
          <a:prstGeom prst="ellipse">
            <a:avLst/>
          </a:prstGeom>
          <a:solidFill>
            <a:srgbClr val="0D9488"/>
          </a:solidFill>
          <a:ln w="12700">
            <a:solidFill>
              <a:srgbClr val="0D9488"/>
            </a:solidFill>
            <a:prstDash val="solid"/>
          </a:ln>
        </p:spPr>
      </p:sp>
      <p:sp>
        <p:nvSpPr>
          <p:cNvPr id="27" name="Text 25"/>
          <p:cNvSpPr/>
          <p:nvPr/>
        </p:nvSpPr>
        <p:spPr>
          <a:xfrm>
            <a:off x="4892040" y="3218688"/>
            <a:ext cx="438912"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8" name="Text 26"/>
          <p:cNvSpPr/>
          <p:nvPr/>
        </p:nvSpPr>
        <p:spPr>
          <a:xfrm>
            <a:off x="5440680" y="3154680"/>
            <a:ext cx="3337560" cy="347472"/>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Hitung Score Matrix (Data Baru)</a:t>
            </a:r>
            <a:endParaRPr lang="en-US" sz="1100" dirty="0"/>
          </a:p>
        </p:txBody>
      </p:sp>
      <p:sp>
        <p:nvSpPr>
          <p:cNvPr id="29" name="Text 27"/>
          <p:cNvSpPr/>
          <p:nvPr/>
        </p:nvSpPr>
        <p:spPr>
          <a:xfrm>
            <a:off x="4892040" y="3675888"/>
            <a:ext cx="3886200" cy="10058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Z = X̃ × W. Z adalah data yang sudah tereduksi dimensinya, berukuran m×k. Ini adalah output akhir PCA yang siap digunakan.</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342"/>
          </a:solidFill>
          <a:ln w="12700">
            <a:solidFill>
              <a:srgbClr val="0A2342"/>
            </a:solidFill>
            <a:prstDash val="solid"/>
          </a:ln>
        </p:spPr>
      </p:sp>
      <p:sp>
        <p:nvSpPr>
          <p:cNvPr id="3" name="Shape 1"/>
          <p:cNvSpPr/>
          <p:nvPr/>
        </p:nvSpPr>
        <p:spPr>
          <a:xfrm>
            <a:off x="0" y="1005840"/>
            <a:ext cx="9144000" cy="45720"/>
          </a:xfrm>
          <a:prstGeom prst="rect">
            <a:avLst/>
          </a:prstGeom>
          <a:solidFill>
            <a:srgbClr val="0D9488"/>
          </a:solidFill>
          <a:ln w="12700">
            <a:solidFill>
              <a:srgbClr val="0D9488"/>
            </a:solidFill>
            <a:prstDash val="solid"/>
          </a:ln>
        </p:spPr>
      </p:sp>
      <p:sp>
        <p:nvSpPr>
          <p:cNvPr id="4" name="Text 2"/>
          <p:cNvSpPr/>
          <p:nvPr/>
        </p:nvSpPr>
        <p:spPr>
          <a:xfrm>
            <a:off x="365760" y="91440"/>
            <a:ext cx="822960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Kapan Menggunakan PCA?</a:t>
            </a:r>
            <a:endParaRPr lang="en-US" sz="2200" dirty="0"/>
          </a:p>
        </p:txBody>
      </p:sp>
      <p:sp>
        <p:nvSpPr>
          <p:cNvPr id="5" name="Text 3"/>
          <p:cNvSpPr/>
          <p:nvPr/>
        </p:nvSpPr>
        <p:spPr>
          <a:xfrm>
            <a:off x="365760" y="658368"/>
            <a:ext cx="8229600" cy="320040"/>
          </a:xfrm>
          <a:prstGeom prst="rect">
            <a:avLst/>
          </a:prstGeom>
          <a:noFill/>
          <a:ln/>
        </p:spPr>
        <p:txBody>
          <a:bodyPr wrap="square" lIns="0" tIns="0" rIns="0" bIns="0" rtlCol="0" anchor="ctr"/>
          <a:lstStyle/>
          <a:p>
            <a:pPr marL="0" indent="0">
              <a:buNone/>
            </a:pPr>
            <a:r>
              <a:rPr lang="en-US" sz="1100" dirty="0">
                <a:solidFill>
                  <a:srgbClr val="60A5FA"/>
                </a:solidFill>
                <a:latin typeface="Calibri" pitchFamily="34" charset="0"/>
                <a:ea typeface="Calibri" pitchFamily="34" charset="-122"/>
                <a:cs typeface="Calibri" pitchFamily="34" charset="-120"/>
              </a:rPr>
              <a:t>Use case nyata PCA dalam machine learning</a:t>
            </a:r>
            <a:endParaRPr lang="en-US" sz="1100" dirty="0"/>
          </a:p>
        </p:txBody>
      </p:sp>
      <p:sp>
        <p:nvSpPr>
          <p:cNvPr id="6" name="Shape 4"/>
          <p:cNvSpPr/>
          <p:nvPr/>
        </p:nvSpPr>
        <p:spPr>
          <a:xfrm>
            <a:off x="274320" y="1143000"/>
            <a:ext cx="8595360" cy="1170432"/>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7" name="Shape 5"/>
          <p:cNvSpPr/>
          <p:nvPr/>
        </p:nvSpPr>
        <p:spPr>
          <a:xfrm>
            <a:off x="274320" y="1143000"/>
            <a:ext cx="64008" cy="1170432"/>
          </a:xfrm>
          <a:prstGeom prst="rect">
            <a:avLst/>
          </a:prstGeom>
          <a:solidFill>
            <a:srgbClr val="0D9488"/>
          </a:solidFill>
          <a:ln w="12700">
            <a:solidFill>
              <a:srgbClr val="0D9488"/>
            </a:solidFill>
            <a:prstDash val="solid"/>
          </a:ln>
        </p:spPr>
      </p:sp>
      <p:sp>
        <p:nvSpPr>
          <p:cNvPr id="8" name="Text 6"/>
          <p:cNvSpPr/>
          <p:nvPr/>
        </p:nvSpPr>
        <p:spPr>
          <a:xfrm>
            <a:off x="457200" y="1234440"/>
            <a:ext cx="822960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Visualisasi Data Berdimensi Tinggi</a:t>
            </a:r>
            <a:endParaRPr lang="en-US" sz="1200" dirty="0"/>
          </a:p>
        </p:txBody>
      </p:sp>
      <p:sp>
        <p:nvSpPr>
          <p:cNvPr id="9" name="Shape 7"/>
          <p:cNvSpPr/>
          <p:nvPr/>
        </p:nvSpPr>
        <p:spPr>
          <a:xfrm>
            <a:off x="457200" y="1545336"/>
            <a:ext cx="548640" cy="182880"/>
          </a:xfrm>
          <a:prstGeom prst="rect">
            <a:avLst/>
          </a:prstGeom>
          <a:solidFill>
            <a:srgbClr val="FEF3C7"/>
          </a:solidFill>
          <a:ln w="12700">
            <a:solidFill>
              <a:srgbClr val="F59E0B"/>
            </a:solidFill>
            <a:prstDash val="solid"/>
          </a:ln>
        </p:spPr>
      </p:sp>
      <p:sp>
        <p:nvSpPr>
          <p:cNvPr id="10" name="Text 8"/>
          <p:cNvSpPr/>
          <p:nvPr/>
        </p:nvSpPr>
        <p:spPr>
          <a:xfrm>
            <a:off x="457200" y="1545336"/>
            <a:ext cx="548640" cy="182880"/>
          </a:xfrm>
          <a:prstGeom prst="rect">
            <a:avLst/>
          </a:prstGeom>
          <a:noFill/>
          <a:ln/>
        </p:spPr>
        <p:txBody>
          <a:bodyPr wrap="square" lIns="0" tIns="0" rIns="0" bIns="0" rtlCol="0" anchor="ctr"/>
          <a:lstStyle/>
          <a:p>
            <a:pPr marL="0" indent="0" algn="ctr">
              <a:buNone/>
            </a:pPr>
            <a:r>
              <a:rPr lang="en-US" sz="800" b="1" dirty="0">
                <a:solidFill>
                  <a:srgbClr val="F59E0B"/>
                </a:solidFill>
                <a:latin typeface="Calibri" pitchFamily="34" charset="0"/>
                <a:ea typeface="Calibri" pitchFamily="34" charset="-122"/>
                <a:cs typeface="Calibri" pitchFamily="34" charset="-120"/>
              </a:rPr>
              <a:t>Masalah</a:t>
            </a:r>
            <a:endParaRPr lang="en-US" sz="800" dirty="0"/>
          </a:p>
        </p:txBody>
      </p:sp>
      <p:sp>
        <p:nvSpPr>
          <p:cNvPr id="11" name="Text 9"/>
          <p:cNvSpPr/>
          <p:nvPr/>
        </p:nvSpPr>
        <p:spPr>
          <a:xfrm>
            <a:off x="1097280" y="1545336"/>
            <a:ext cx="7589520" cy="20116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Dataset dengan 10, 50, atau 100+ fitur tidak bisa divisualisasikan langsung.</a:t>
            </a:r>
            <a:endParaRPr lang="en-US" sz="950" dirty="0"/>
          </a:p>
        </p:txBody>
      </p:sp>
      <p:sp>
        <p:nvSpPr>
          <p:cNvPr id="12" name="Shape 10"/>
          <p:cNvSpPr/>
          <p:nvPr/>
        </p:nvSpPr>
        <p:spPr>
          <a:xfrm>
            <a:off x="457200" y="1801368"/>
            <a:ext cx="548640" cy="182880"/>
          </a:xfrm>
          <a:prstGeom prst="rect">
            <a:avLst/>
          </a:prstGeom>
          <a:solidFill>
            <a:srgbClr val="ECFDF5"/>
          </a:solidFill>
          <a:ln w="12700">
            <a:solidFill>
              <a:srgbClr val="10B981"/>
            </a:solidFill>
            <a:prstDash val="solid"/>
          </a:ln>
        </p:spPr>
      </p:sp>
      <p:sp>
        <p:nvSpPr>
          <p:cNvPr id="13" name="Text 11"/>
          <p:cNvSpPr/>
          <p:nvPr/>
        </p:nvSpPr>
        <p:spPr>
          <a:xfrm>
            <a:off x="457200" y="1801368"/>
            <a:ext cx="548640" cy="182880"/>
          </a:xfrm>
          <a:prstGeom prst="rect">
            <a:avLst/>
          </a:prstGeom>
          <a:noFill/>
          <a:ln/>
        </p:spPr>
        <p:txBody>
          <a:bodyPr wrap="square" lIns="0" tIns="0" rIns="0" bIns="0" rtlCol="0" anchor="ctr"/>
          <a:lstStyle/>
          <a:p>
            <a:pPr marL="0" indent="0" algn="ctr">
              <a:buNone/>
            </a:pPr>
            <a:r>
              <a:rPr lang="en-US" sz="800" b="1" dirty="0">
                <a:solidFill>
                  <a:srgbClr val="10B981"/>
                </a:solidFill>
                <a:latin typeface="Calibri" pitchFamily="34" charset="0"/>
                <a:ea typeface="Calibri" pitchFamily="34" charset="-122"/>
                <a:cs typeface="Calibri" pitchFamily="34" charset="-120"/>
              </a:rPr>
              <a:t>Solusi</a:t>
            </a:r>
            <a:endParaRPr lang="en-US" sz="800" dirty="0"/>
          </a:p>
        </p:txBody>
      </p:sp>
      <p:sp>
        <p:nvSpPr>
          <p:cNvPr id="14" name="Text 12"/>
          <p:cNvSpPr/>
          <p:nvPr/>
        </p:nvSpPr>
        <p:spPr>
          <a:xfrm>
            <a:off x="1097280" y="1801368"/>
            <a:ext cx="7589520" cy="20116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PCA mereduksi ke 2D/3D → plot scatter plot untuk melihat pola dan cluster tersembunyi.</a:t>
            </a:r>
            <a:endParaRPr lang="en-US" sz="950" dirty="0"/>
          </a:p>
        </p:txBody>
      </p:sp>
      <p:sp>
        <p:nvSpPr>
          <p:cNvPr id="15" name="Shape 13"/>
          <p:cNvSpPr/>
          <p:nvPr/>
        </p:nvSpPr>
        <p:spPr>
          <a:xfrm>
            <a:off x="274320" y="2404872"/>
            <a:ext cx="8595360" cy="1170432"/>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16" name="Shape 14"/>
          <p:cNvSpPr/>
          <p:nvPr/>
        </p:nvSpPr>
        <p:spPr>
          <a:xfrm>
            <a:off x="274320" y="2404872"/>
            <a:ext cx="64008" cy="1170432"/>
          </a:xfrm>
          <a:prstGeom prst="rect">
            <a:avLst/>
          </a:prstGeom>
          <a:solidFill>
            <a:srgbClr val="0D9488"/>
          </a:solidFill>
          <a:ln w="12700">
            <a:solidFill>
              <a:srgbClr val="0D9488"/>
            </a:solidFill>
            <a:prstDash val="solid"/>
          </a:ln>
        </p:spPr>
      </p:sp>
      <p:sp>
        <p:nvSpPr>
          <p:cNvPr id="17" name="Text 15"/>
          <p:cNvSpPr/>
          <p:nvPr/>
        </p:nvSpPr>
        <p:spPr>
          <a:xfrm>
            <a:off x="457200" y="2496312"/>
            <a:ext cx="822960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Mengurangi Noise</a:t>
            </a:r>
            <a:endParaRPr lang="en-US" sz="1200" dirty="0"/>
          </a:p>
        </p:txBody>
      </p:sp>
      <p:sp>
        <p:nvSpPr>
          <p:cNvPr id="18" name="Shape 16"/>
          <p:cNvSpPr/>
          <p:nvPr/>
        </p:nvSpPr>
        <p:spPr>
          <a:xfrm>
            <a:off x="457200" y="2807208"/>
            <a:ext cx="548640" cy="182880"/>
          </a:xfrm>
          <a:prstGeom prst="rect">
            <a:avLst/>
          </a:prstGeom>
          <a:solidFill>
            <a:srgbClr val="FEF3C7"/>
          </a:solidFill>
          <a:ln w="12700">
            <a:solidFill>
              <a:srgbClr val="F59E0B"/>
            </a:solidFill>
            <a:prstDash val="solid"/>
          </a:ln>
        </p:spPr>
      </p:sp>
      <p:sp>
        <p:nvSpPr>
          <p:cNvPr id="19" name="Text 17"/>
          <p:cNvSpPr/>
          <p:nvPr/>
        </p:nvSpPr>
        <p:spPr>
          <a:xfrm>
            <a:off x="457200" y="2807208"/>
            <a:ext cx="548640" cy="182880"/>
          </a:xfrm>
          <a:prstGeom prst="rect">
            <a:avLst/>
          </a:prstGeom>
          <a:noFill/>
          <a:ln/>
        </p:spPr>
        <p:txBody>
          <a:bodyPr wrap="square" lIns="0" tIns="0" rIns="0" bIns="0" rtlCol="0" anchor="ctr"/>
          <a:lstStyle/>
          <a:p>
            <a:pPr marL="0" indent="0" algn="ctr">
              <a:buNone/>
            </a:pPr>
            <a:r>
              <a:rPr lang="en-US" sz="800" b="1" dirty="0">
                <a:solidFill>
                  <a:srgbClr val="F59E0B"/>
                </a:solidFill>
                <a:latin typeface="Calibri" pitchFamily="34" charset="0"/>
                <a:ea typeface="Calibri" pitchFamily="34" charset="-122"/>
                <a:cs typeface="Calibri" pitchFamily="34" charset="-120"/>
              </a:rPr>
              <a:t>Masalah</a:t>
            </a:r>
            <a:endParaRPr lang="en-US" sz="800" dirty="0"/>
          </a:p>
        </p:txBody>
      </p:sp>
      <p:sp>
        <p:nvSpPr>
          <p:cNvPr id="20" name="Text 18"/>
          <p:cNvSpPr/>
          <p:nvPr/>
        </p:nvSpPr>
        <p:spPr>
          <a:xfrm>
            <a:off x="1097280" y="2807208"/>
            <a:ext cx="7589520" cy="20116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Beberapa fitur mungkin hanya berisi informasi acak (noise) yang mengganggu model.</a:t>
            </a:r>
            <a:endParaRPr lang="en-US" sz="950" dirty="0"/>
          </a:p>
        </p:txBody>
      </p:sp>
      <p:sp>
        <p:nvSpPr>
          <p:cNvPr id="21" name="Shape 19"/>
          <p:cNvSpPr/>
          <p:nvPr/>
        </p:nvSpPr>
        <p:spPr>
          <a:xfrm>
            <a:off x="457200" y="3063240"/>
            <a:ext cx="548640" cy="182880"/>
          </a:xfrm>
          <a:prstGeom prst="rect">
            <a:avLst/>
          </a:prstGeom>
          <a:solidFill>
            <a:srgbClr val="ECFDF5"/>
          </a:solidFill>
          <a:ln w="12700">
            <a:solidFill>
              <a:srgbClr val="10B981"/>
            </a:solidFill>
            <a:prstDash val="solid"/>
          </a:ln>
        </p:spPr>
      </p:sp>
      <p:sp>
        <p:nvSpPr>
          <p:cNvPr id="22" name="Text 20"/>
          <p:cNvSpPr/>
          <p:nvPr/>
        </p:nvSpPr>
        <p:spPr>
          <a:xfrm>
            <a:off x="457200" y="3063240"/>
            <a:ext cx="548640" cy="182880"/>
          </a:xfrm>
          <a:prstGeom prst="rect">
            <a:avLst/>
          </a:prstGeom>
          <a:noFill/>
          <a:ln/>
        </p:spPr>
        <p:txBody>
          <a:bodyPr wrap="square" lIns="0" tIns="0" rIns="0" bIns="0" rtlCol="0" anchor="ctr"/>
          <a:lstStyle/>
          <a:p>
            <a:pPr marL="0" indent="0" algn="ctr">
              <a:buNone/>
            </a:pPr>
            <a:r>
              <a:rPr lang="en-US" sz="800" b="1" dirty="0">
                <a:solidFill>
                  <a:srgbClr val="10B981"/>
                </a:solidFill>
                <a:latin typeface="Calibri" pitchFamily="34" charset="0"/>
                <a:ea typeface="Calibri" pitchFamily="34" charset="-122"/>
                <a:cs typeface="Calibri" pitchFamily="34" charset="-120"/>
              </a:rPr>
              <a:t>Solusi</a:t>
            </a:r>
            <a:endParaRPr lang="en-US" sz="800" dirty="0"/>
          </a:p>
        </p:txBody>
      </p:sp>
      <p:sp>
        <p:nvSpPr>
          <p:cNvPr id="23" name="Text 21"/>
          <p:cNvSpPr/>
          <p:nvPr/>
        </p:nvSpPr>
        <p:spPr>
          <a:xfrm>
            <a:off x="1097280" y="3063240"/>
            <a:ext cx="7589520" cy="20116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PCA memprioritaskan komponen dengan variansi tinggi; komponen rendah-variansi (= noise) dibuang.</a:t>
            </a:r>
            <a:endParaRPr lang="en-US" sz="950" dirty="0"/>
          </a:p>
        </p:txBody>
      </p:sp>
      <p:sp>
        <p:nvSpPr>
          <p:cNvPr id="24" name="Shape 22"/>
          <p:cNvSpPr/>
          <p:nvPr/>
        </p:nvSpPr>
        <p:spPr>
          <a:xfrm>
            <a:off x="274320" y="3666744"/>
            <a:ext cx="8595360" cy="1170432"/>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25" name="Shape 23"/>
          <p:cNvSpPr/>
          <p:nvPr/>
        </p:nvSpPr>
        <p:spPr>
          <a:xfrm>
            <a:off x="274320" y="3666744"/>
            <a:ext cx="64008" cy="1170432"/>
          </a:xfrm>
          <a:prstGeom prst="rect">
            <a:avLst/>
          </a:prstGeom>
          <a:solidFill>
            <a:srgbClr val="0D9488"/>
          </a:solidFill>
          <a:ln w="12700">
            <a:solidFill>
              <a:srgbClr val="0D9488"/>
            </a:solidFill>
            <a:prstDash val="solid"/>
          </a:ln>
        </p:spPr>
      </p:sp>
      <p:sp>
        <p:nvSpPr>
          <p:cNvPr id="26" name="Text 24"/>
          <p:cNvSpPr/>
          <p:nvPr/>
        </p:nvSpPr>
        <p:spPr>
          <a:xfrm>
            <a:off x="457200" y="3758184"/>
            <a:ext cx="822960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Mengurangi Beban Komputasi</a:t>
            </a:r>
            <a:endParaRPr lang="en-US" sz="1200" dirty="0"/>
          </a:p>
        </p:txBody>
      </p:sp>
      <p:sp>
        <p:nvSpPr>
          <p:cNvPr id="27" name="Shape 25"/>
          <p:cNvSpPr/>
          <p:nvPr/>
        </p:nvSpPr>
        <p:spPr>
          <a:xfrm>
            <a:off x="457200" y="4069080"/>
            <a:ext cx="548640" cy="182880"/>
          </a:xfrm>
          <a:prstGeom prst="rect">
            <a:avLst/>
          </a:prstGeom>
          <a:solidFill>
            <a:srgbClr val="FEF3C7"/>
          </a:solidFill>
          <a:ln w="12700">
            <a:solidFill>
              <a:srgbClr val="F59E0B"/>
            </a:solidFill>
            <a:prstDash val="solid"/>
          </a:ln>
        </p:spPr>
      </p:sp>
      <p:sp>
        <p:nvSpPr>
          <p:cNvPr id="28" name="Text 26"/>
          <p:cNvSpPr/>
          <p:nvPr/>
        </p:nvSpPr>
        <p:spPr>
          <a:xfrm>
            <a:off x="457200" y="4069080"/>
            <a:ext cx="548640" cy="182880"/>
          </a:xfrm>
          <a:prstGeom prst="rect">
            <a:avLst/>
          </a:prstGeom>
          <a:noFill/>
          <a:ln/>
        </p:spPr>
        <p:txBody>
          <a:bodyPr wrap="square" lIns="0" tIns="0" rIns="0" bIns="0" rtlCol="0" anchor="ctr"/>
          <a:lstStyle/>
          <a:p>
            <a:pPr marL="0" indent="0" algn="ctr">
              <a:buNone/>
            </a:pPr>
            <a:r>
              <a:rPr lang="en-US" sz="800" b="1" dirty="0">
                <a:solidFill>
                  <a:srgbClr val="F59E0B"/>
                </a:solidFill>
                <a:latin typeface="Calibri" pitchFamily="34" charset="0"/>
                <a:ea typeface="Calibri" pitchFamily="34" charset="-122"/>
                <a:cs typeface="Calibri" pitchFamily="34" charset="-120"/>
              </a:rPr>
              <a:t>Masalah</a:t>
            </a:r>
            <a:endParaRPr lang="en-US" sz="800" dirty="0"/>
          </a:p>
        </p:txBody>
      </p:sp>
      <p:sp>
        <p:nvSpPr>
          <p:cNvPr id="29" name="Text 27"/>
          <p:cNvSpPr/>
          <p:nvPr/>
        </p:nvSpPr>
        <p:spPr>
          <a:xfrm>
            <a:off x="1097280" y="4069080"/>
            <a:ext cx="7589520" cy="20116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Model dengan 100 fitur lambat, boros memori, dan rentan overfitting.</a:t>
            </a:r>
            <a:endParaRPr lang="en-US" sz="950" dirty="0"/>
          </a:p>
        </p:txBody>
      </p:sp>
      <p:sp>
        <p:nvSpPr>
          <p:cNvPr id="30" name="Shape 28"/>
          <p:cNvSpPr/>
          <p:nvPr/>
        </p:nvSpPr>
        <p:spPr>
          <a:xfrm>
            <a:off x="457200" y="4325112"/>
            <a:ext cx="548640" cy="182880"/>
          </a:xfrm>
          <a:prstGeom prst="rect">
            <a:avLst/>
          </a:prstGeom>
          <a:solidFill>
            <a:srgbClr val="ECFDF5"/>
          </a:solidFill>
          <a:ln w="12700">
            <a:solidFill>
              <a:srgbClr val="10B981"/>
            </a:solidFill>
            <a:prstDash val="solid"/>
          </a:ln>
        </p:spPr>
      </p:sp>
      <p:sp>
        <p:nvSpPr>
          <p:cNvPr id="31" name="Text 29"/>
          <p:cNvSpPr/>
          <p:nvPr/>
        </p:nvSpPr>
        <p:spPr>
          <a:xfrm>
            <a:off x="457200" y="4325112"/>
            <a:ext cx="548640" cy="182880"/>
          </a:xfrm>
          <a:prstGeom prst="rect">
            <a:avLst/>
          </a:prstGeom>
          <a:noFill/>
          <a:ln/>
        </p:spPr>
        <p:txBody>
          <a:bodyPr wrap="square" lIns="0" tIns="0" rIns="0" bIns="0" rtlCol="0" anchor="ctr"/>
          <a:lstStyle/>
          <a:p>
            <a:pPr marL="0" indent="0" algn="ctr">
              <a:buNone/>
            </a:pPr>
            <a:r>
              <a:rPr lang="en-US" sz="800" b="1" dirty="0">
                <a:solidFill>
                  <a:srgbClr val="10B981"/>
                </a:solidFill>
                <a:latin typeface="Calibri" pitchFamily="34" charset="0"/>
                <a:ea typeface="Calibri" pitchFamily="34" charset="-122"/>
                <a:cs typeface="Calibri" pitchFamily="34" charset="-120"/>
              </a:rPr>
              <a:t>Solusi</a:t>
            </a:r>
            <a:endParaRPr lang="en-US" sz="800" dirty="0"/>
          </a:p>
        </p:txBody>
      </p:sp>
      <p:sp>
        <p:nvSpPr>
          <p:cNvPr id="32" name="Text 30"/>
          <p:cNvSpPr/>
          <p:nvPr/>
        </p:nvSpPr>
        <p:spPr>
          <a:xfrm>
            <a:off x="1097280" y="4325112"/>
            <a:ext cx="7589520" cy="20116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Dari 100 fitur → 10 komponen utama. Training jauh lebih cepat dengan hasil yang tetap baik.</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342"/>
          </a:solidFill>
          <a:ln w="12700">
            <a:solidFill>
              <a:srgbClr val="0A2342"/>
            </a:solidFill>
            <a:prstDash val="solid"/>
          </a:ln>
        </p:spPr>
      </p:sp>
      <p:sp>
        <p:nvSpPr>
          <p:cNvPr id="3" name="Shape 1"/>
          <p:cNvSpPr/>
          <p:nvPr/>
        </p:nvSpPr>
        <p:spPr>
          <a:xfrm>
            <a:off x="0" y="1005840"/>
            <a:ext cx="9144000" cy="45720"/>
          </a:xfrm>
          <a:prstGeom prst="rect">
            <a:avLst/>
          </a:prstGeom>
          <a:solidFill>
            <a:srgbClr val="0D9488"/>
          </a:solidFill>
          <a:ln w="12700">
            <a:solidFill>
              <a:srgbClr val="0D9488"/>
            </a:solidFill>
            <a:prstDash val="solid"/>
          </a:ln>
        </p:spPr>
      </p:sp>
      <p:sp>
        <p:nvSpPr>
          <p:cNvPr id="4" name="Text 2"/>
          <p:cNvSpPr/>
          <p:nvPr/>
        </p:nvSpPr>
        <p:spPr>
          <a:xfrm>
            <a:off x="365760" y="91440"/>
            <a:ext cx="822960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Implementasi PCA dengan Python (scikit-learn)</a:t>
            </a:r>
            <a:endParaRPr lang="en-US" sz="2200" dirty="0"/>
          </a:p>
        </p:txBody>
      </p:sp>
      <p:sp>
        <p:nvSpPr>
          <p:cNvPr id="5" name="Text 3"/>
          <p:cNvSpPr/>
          <p:nvPr/>
        </p:nvSpPr>
        <p:spPr>
          <a:xfrm>
            <a:off x="365760" y="658368"/>
            <a:ext cx="8229600" cy="320040"/>
          </a:xfrm>
          <a:prstGeom prst="rect">
            <a:avLst/>
          </a:prstGeom>
          <a:noFill/>
          <a:ln/>
        </p:spPr>
        <p:txBody>
          <a:bodyPr wrap="square" lIns="0" tIns="0" rIns="0" bIns="0" rtlCol="0" anchor="ctr"/>
          <a:lstStyle/>
          <a:p>
            <a:pPr marL="0" indent="0">
              <a:buNone/>
            </a:pPr>
            <a:r>
              <a:rPr lang="en-US" sz="1100" dirty="0">
                <a:solidFill>
                  <a:srgbClr val="60A5FA"/>
                </a:solidFill>
                <a:latin typeface="Calibri" pitchFamily="34" charset="0"/>
                <a:ea typeface="Calibri" pitchFamily="34" charset="-122"/>
                <a:cs typeface="Calibri" pitchFamily="34" charset="-120"/>
              </a:rPr>
              <a:t>Kode langsung siap pakai</a:t>
            </a:r>
            <a:endParaRPr lang="en-US" sz="1100" dirty="0"/>
          </a:p>
        </p:txBody>
      </p:sp>
      <p:sp>
        <p:nvSpPr>
          <p:cNvPr id="6" name="Shape 4"/>
          <p:cNvSpPr/>
          <p:nvPr/>
        </p:nvSpPr>
        <p:spPr>
          <a:xfrm>
            <a:off x="274320" y="1115568"/>
            <a:ext cx="4206240" cy="3749040"/>
          </a:xfrm>
          <a:prstGeom prst="rect">
            <a:avLst/>
          </a:prstGeom>
          <a:solidFill>
            <a:srgbClr val="1E293B"/>
          </a:solidFill>
          <a:ln w="12700">
            <a:solidFill>
              <a:srgbClr val="334155"/>
            </a:solidFill>
            <a:prstDash val="solid"/>
          </a:ln>
          <a:effectLst>
            <a:outerShdw blurRad="101600" dist="25400" dir="8100000" algn="bl" rotWithShape="0">
              <a:srgbClr val="000000">
                <a:alpha val="10000"/>
              </a:srgbClr>
            </a:outerShdw>
          </a:effectLst>
        </p:spPr>
      </p:sp>
      <p:sp>
        <p:nvSpPr>
          <p:cNvPr id="7" name="Shape 5"/>
          <p:cNvSpPr/>
          <p:nvPr/>
        </p:nvSpPr>
        <p:spPr>
          <a:xfrm>
            <a:off x="274320" y="1115568"/>
            <a:ext cx="4206240" cy="256032"/>
          </a:xfrm>
          <a:prstGeom prst="rect">
            <a:avLst/>
          </a:prstGeom>
          <a:solidFill>
            <a:srgbClr val="334155"/>
          </a:solidFill>
          <a:ln w="12700">
            <a:solidFill>
              <a:srgbClr val="334155"/>
            </a:solidFill>
            <a:prstDash val="solid"/>
          </a:ln>
        </p:spPr>
      </p:sp>
      <p:sp>
        <p:nvSpPr>
          <p:cNvPr id="8" name="Text 6"/>
          <p:cNvSpPr/>
          <p:nvPr/>
        </p:nvSpPr>
        <p:spPr>
          <a:xfrm>
            <a:off x="384048" y="1133856"/>
            <a:ext cx="1371600" cy="219456"/>
          </a:xfrm>
          <a:prstGeom prst="rect">
            <a:avLst/>
          </a:prstGeom>
          <a:noFill/>
          <a:ln/>
        </p:spPr>
        <p:txBody>
          <a:bodyPr wrap="square" lIns="0" tIns="0" rIns="0" bIns="0" rtlCol="0" anchor="ctr"/>
          <a:lstStyle/>
          <a:p>
            <a:pPr marL="0" indent="0">
              <a:buNone/>
            </a:pPr>
            <a:r>
              <a:rPr lang="en-US" sz="900" dirty="0">
                <a:solidFill>
                  <a:srgbClr val="94A3B8"/>
                </a:solidFill>
                <a:latin typeface="Consolas" pitchFamily="34" charset="0"/>
                <a:ea typeface="Consolas" pitchFamily="34" charset="-122"/>
                <a:cs typeface="Consolas" pitchFamily="34" charset="-120"/>
              </a:rPr>
              <a:t>Python</a:t>
            </a:r>
            <a:endParaRPr lang="en-US" sz="900" dirty="0"/>
          </a:p>
        </p:txBody>
      </p:sp>
      <p:sp>
        <p:nvSpPr>
          <p:cNvPr id="9" name="Text 7"/>
          <p:cNvSpPr/>
          <p:nvPr/>
        </p:nvSpPr>
        <p:spPr>
          <a:xfrm>
            <a:off x="384048" y="1408176"/>
            <a:ext cx="4005072" cy="3401568"/>
          </a:xfrm>
          <a:prstGeom prst="rect">
            <a:avLst/>
          </a:prstGeom>
          <a:noFill/>
          <a:ln/>
        </p:spPr>
        <p:txBody>
          <a:bodyPr wrap="square" lIns="0" tIns="0" rIns="0" bIns="0" rtlCol="0" anchor="ctr"/>
          <a:lstStyle/>
          <a:p>
            <a:pPr marL="0" indent="0">
              <a:buNone/>
            </a:pPr>
            <a:r>
              <a:rPr lang="en-US" sz="850" dirty="0">
                <a:solidFill>
                  <a:srgbClr val="7DD3FC"/>
                </a:solidFill>
                <a:latin typeface="Consolas" pitchFamily="34" charset="0"/>
                <a:ea typeface="Consolas" pitchFamily="34" charset="-122"/>
                <a:cs typeface="Consolas" pitchFamily="34" charset="-120"/>
              </a:rPr>
              <a:t>from sklearn.decomposition import PCA</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from sklearn.preprocessing import StandardScaler</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import pandas as pd, numpy as np</a:t>
            </a:r>
            <a:endParaRPr lang="en-US" sz="850" dirty="0"/>
          </a:p>
          <a:p>
            <a:pPr marL="0" indent="0">
              <a:buNone/>
            </a:pP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1. Load &amp; scale data</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X = df.drop('target', axis=1).values</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scaler = StandardScaler()</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X_scaled = scaler.fit_transform(X)</a:t>
            </a:r>
            <a:endParaRPr lang="en-US" sz="850" dirty="0"/>
          </a:p>
          <a:p>
            <a:pPr marL="0" indent="0">
              <a:buNone/>
            </a:pP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2. Tentukan jumlah komponen</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pca = PCA(n_components=2)   # atau n_components=0.95</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X_pca = pca.fit_transform(X_scaled)</a:t>
            </a:r>
            <a:endParaRPr lang="en-US" sz="850" dirty="0"/>
          </a:p>
          <a:p>
            <a:pPr marL="0" indent="0">
              <a:buNone/>
            </a:pP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3. Cek explained variance</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print(pca.explained_variance_ratio_)</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Output: [0.724 0.231] → 95.5% info dipertahankan</a:t>
            </a:r>
            <a:endParaRPr lang="en-US" sz="850" dirty="0"/>
          </a:p>
        </p:txBody>
      </p:sp>
      <p:sp>
        <p:nvSpPr>
          <p:cNvPr id="10" name="Shape 8"/>
          <p:cNvSpPr/>
          <p:nvPr/>
        </p:nvSpPr>
        <p:spPr>
          <a:xfrm>
            <a:off x="4663440" y="1115568"/>
            <a:ext cx="4206240" cy="3749040"/>
          </a:xfrm>
          <a:prstGeom prst="rect">
            <a:avLst/>
          </a:prstGeom>
          <a:solidFill>
            <a:srgbClr val="1E293B"/>
          </a:solidFill>
          <a:ln w="12700">
            <a:solidFill>
              <a:srgbClr val="334155"/>
            </a:solidFill>
            <a:prstDash val="solid"/>
          </a:ln>
          <a:effectLst>
            <a:outerShdw blurRad="101600" dist="25400" dir="8100000" algn="bl" rotWithShape="0">
              <a:srgbClr val="000000">
                <a:alpha val="10000"/>
              </a:srgbClr>
            </a:outerShdw>
          </a:effectLst>
        </p:spPr>
      </p:sp>
      <p:sp>
        <p:nvSpPr>
          <p:cNvPr id="11" name="Shape 9"/>
          <p:cNvSpPr/>
          <p:nvPr/>
        </p:nvSpPr>
        <p:spPr>
          <a:xfrm>
            <a:off x="4663440" y="1115568"/>
            <a:ext cx="4206240" cy="256032"/>
          </a:xfrm>
          <a:prstGeom prst="rect">
            <a:avLst/>
          </a:prstGeom>
          <a:solidFill>
            <a:srgbClr val="334155"/>
          </a:solidFill>
          <a:ln w="12700">
            <a:solidFill>
              <a:srgbClr val="334155"/>
            </a:solidFill>
            <a:prstDash val="solid"/>
          </a:ln>
        </p:spPr>
      </p:sp>
      <p:sp>
        <p:nvSpPr>
          <p:cNvPr id="12" name="Text 10"/>
          <p:cNvSpPr/>
          <p:nvPr/>
        </p:nvSpPr>
        <p:spPr>
          <a:xfrm>
            <a:off x="4773168" y="1133856"/>
            <a:ext cx="1371600" cy="219456"/>
          </a:xfrm>
          <a:prstGeom prst="rect">
            <a:avLst/>
          </a:prstGeom>
          <a:noFill/>
          <a:ln/>
        </p:spPr>
        <p:txBody>
          <a:bodyPr wrap="square" lIns="0" tIns="0" rIns="0" bIns="0" rtlCol="0" anchor="ctr"/>
          <a:lstStyle/>
          <a:p>
            <a:pPr marL="0" indent="0">
              <a:buNone/>
            </a:pPr>
            <a:r>
              <a:rPr lang="en-US" sz="900" dirty="0">
                <a:solidFill>
                  <a:srgbClr val="94A3B8"/>
                </a:solidFill>
                <a:latin typeface="Consolas" pitchFamily="34" charset="0"/>
                <a:ea typeface="Consolas" pitchFamily="34" charset="-122"/>
                <a:cs typeface="Consolas" pitchFamily="34" charset="-120"/>
              </a:rPr>
              <a:t>Python</a:t>
            </a:r>
            <a:endParaRPr lang="en-US" sz="900" dirty="0"/>
          </a:p>
        </p:txBody>
      </p:sp>
      <p:sp>
        <p:nvSpPr>
          <p:cNvPr id="13" name="Text 11"/>
          <p:cNvSpPr/>
          <p:nvPr/>
        </p:nvSpPr>
        <p:spPr>
          <a:xfrm>
            <a:off x="4773168" y="1408176"/>
            <a:ext cx="4005072" cy="3401568"/>
          </a:xfrm>
          <a:prstGeom prst="rect">
            <a:avLst/>
          </a:prstGeom>
          <a:noFill/>
          <a:ln/>
        </p:spPr>
        <p:txBody>
          <a:bodyPr wrap="square" lIns="0" tIns="0" rIns="0" bIns="0" rtlCol="0" anchor="ctr"/>
          <a:lstStyle/>
          <a:p>
            <a:pPr marL="0" indent="0">
              <a:buNone/>
            </a:pPr>
            <a:r>
              <a:rPr lang="en-US" sz="850" dirty="0">
                <a:solidFill>
                  <a:srgbClr val="7DD3FC"/>
                </a:solidFill>
                <a:latin typeface="Consolas" pitchFamily="34" charset="0"/>
                <a:ea typeface="Consolas" pitchFamily="34" charset="-122"/>
                <a:cs typeface="Consolas" pitchFamily="34" charset="-120"/>
              </a:rPr>
              <a:t>import matplotlib.pyplot as plt</a:t>
            </a:r>
            <a:endParaRPr lang="en-US" sz="850" dirty="0"/>
          </a:p>
          <a:p>
            <a:pPr marL="0" indent="0">
              <a:buNone/>
            </a:pP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Visualisasi 2D</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plt.figure(figsize=(8,6))</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plt.scatter(X_pca[:,0], X_pca[:,1], c=y, cmap='viridis')</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plt.xlabel('PC1'); plt.ylabel('PC2')</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plt.title('PCA - 2D Projection')</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plt.colorbar(label='Class')</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plt.show()</a:t>
            </a:r>
            <a:endParaRPr lang="en-US" sz="850" dirty="0"/>
          </a:p>
          <a:p>
            <a:pPr marL="0" indent="0">
              <a:buNone/>
            </a:pP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Scree plot: pilih k optimal</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pca_full = PCA()</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pca_full.fit(X_scaled)</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plt.plot(np.cumsum(pca_full.explained_variance_ratio_))</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plt.xlabel('Jumlah Komponen'); plt.ylabel('Cumulative Variance')</a:t>
            </a:r>
            <a:endParaRPr lang="en-US" sz="850" dirty="0"/>
          </a:p>
        </p:txBody>
      </p:sp>
      <p:sp>
        <p:nvSpPr>
          <p:cNvPr id="14" name="Text 12"/>
          <p:cNvSpPr/>
          <p:nvPr/>
        </p:nvSpPr>
        <p:spPr>
          <a:xfrm>
            <a:off x="274320" y="4937760"/>
            <a:ext cx="8595360" cy="201168"/>
          </a:xfrm>
          <a:prstGeom prst="rect">
            <a:avLst/>
          </a:prstGeom>
          <a:noFill/>
          <a:ln/>
        </p:spPr>
        <p:txBody>
          <a:bodyPr wrap="square" lIns="0" tIns="0" rIns="0" bIns="0" rtlCol="0" anchor="ctr"/>
          <a:lstStyle/>
          <a:p>
            <a:pPr marL="0" indent="0">
              <a:buNone/>
            </a:pPr>
            <a:r>
              <a:rPr lang="en-US" sz="1000" i="1" dirty="0">
                <a:solidFill>
                  <a:srgbClr val="F59E0B"/>
                </a:solidFill>
                <a:latin typeface="Calibri" pitchFamily="34" charset="0"/>
                <a:ea typeface="Calibri" pitchFamily="34" charset="-122"/>
                <a:cs typeface="Calibri" pitchFamily="34" charset="-120"/>
              </a:rPr>
              <a:t>💡 Gunakan StandardScaler sebelum PCA — PCA sensitif terhadap skala fitur!</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1828800" y="-1828800"/>
            <a:ext cx="6400800" cy="6400800"/>
          </a:xfrm>
          <a:prstGeom prst="ellipse">
            <a:avLst/>
          </a:prstGeom>
          <a:solidFill>
            <a:srgbClr val="0D1F3C"/>
          </a:solidFill>
          <a:ln w="12700">
            <a:solidFill>
              <a:srgbClr val="0D1F3C"/>
            </a:solidFill>
            <a:prstDash val="solid"/>
          </a:ln>
        </p:spPr>
      </p:sp>
      <p:sp>
        <p:nvSpPr>
          <p:cNvPr id="3" name="Shape 1"/>
          <p:cNvSpPr/>
          <p:nvPr/>
        </p:nvSpPr>
        <p:spPr>
          <a:xfrm>
            <a:off x="5486400" y="914400"/>
            <a:ext cx="5486400" cy="5486400"/>
          </a:xfrm>
          <a:prstGeom prst="ellipse">
            <a:avLst/>
          </a:prstGeom>
          <a:solidFill>
            <a:srgbClr val="0D1F3C"/>
          </a:solidFill>
          <a:ln w="12700">
            <a:solidFill>
              <a:srgbClr val="0D1F3C"/>
            </a:solidFill>
            <a:prstDash val="solid"/>
          </a:ln>
        </p:spPr>
      </p:sp>
      <p:sp>
        <p:nvSpPr>
          <p:cNvPr id="4" name="Shape 2"/>
          <p:cNvSpPr/>
          <p:nvPr/>
        </p:nvSpPr>
        <p:spPr>
          <a:xfrm>
            <a:off x="457200" y="1371600"/>
            <a:ext cx="91440" cy="2286000"/>
          </a:xfrm>
          <a:prstGeom prst="rect">
            <a:avLst/>
          </a:prstGeom>
          <a:solidFill>
            <a:srgbClr val="F59E0B"/>
          </a:solidFill>
          <a:ln w="12700">
            <a:solidFill>
              <a:srgbClr val="F59E0B"/>
            </a:solidFill>
            <a:prstDash val="solid"/>
          </a:ln>
        </p:spPr>
      </p:sp>
      <p:sp>
        <p:nvSpPr>
          <p:cNvPr id="5" name="Text 3"/>
          <p:cNvSpPr/>
          <p:nvPr/>
        </p:nvSpPr>
        <p:spPr>
          <a:xfrm>
            <a:off x="685800" y="1417320"/>
            <a:ext cx="4572000" cy="320040"/>
          </a:xfrm>
          <a:prstGeom prst="rect">
            <a:avLst/>
          </a:prstGeom>
          <a:noFill/>
          <a:ln/>
        </p:spPr>
        <p:txBody>
          <a:bodyPr wrap="square" lIns="0" tIns="0" rIns="0" bIns="0" rtlCol="0" anchor="ctr"/>
          <a:lstStyle/>
          <a:p>
            <a:pPr marL="0" indent="0">
              <a:buNone/>
            </a:pPr>
            <a:r>
              <a:rPr lang="en-US" sz="1200" b="1" kern="0" spc="400" dirty="0">
                <a:solidFill>
                  <a:srgbClr val="F59E0B"/>
                </a:solidFill>
                <a:latin typeface="Calibri" pitchFamily="34" charset="0"/>
                <a:ea typeface="Calibri" pitchFamily="34" charset="-122"/>
                <a:cs typeface="Calibri" pitchFamily="34" charset="-120"/>
              </a:rPr>
              <a:t>BAGIAN 2</a:t>
            </a:r>
            <a:endParaRPr lang="en-US" sz="1200" dirty="0"/>
          </a:p>
        </p:txBody>
      </p:sp>
      <p:sp>
        <p:nvSpPr>
          <p:cNvPr id="6" name="Text 4"/>
          <p:cNvSpPr/>
          <p:nvPr/>
        </p:nvSpPr>
        <p:spPr>
          <a:xfrm>
            <a:off x="685800" y="1783080"/>
            <a:ext cx="6858000" cy="82296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Clustering:</a:t>
            </a:r>
            <a:endParaRPr lang="en-US" sz="4800" dirty="0"/>
          </a:p>
        </p:txBody>
      </p:sp>
      <p:sp>
        <p:nvSpPr>
          <p:cNvPr id="7" name="Text 5"/>
          <p:cNvSpPr/>
          <p:nvPr/>
        </p:nvSpPr>
        <p:spPr>
          <a:xfrm>
            <a:off x="685800" y="2514600"/>
            <a:ext cx="6858000" cy="822960"/>
          </a:xfrm>
          <a:prstGeom prst="rect">
            <a:avLst/>
          </a:prstGeom>
          <a:noFill/>
          <a:ln/>
        </p:spPr>
        <p:txBody>
          <a:bodyPr wrap="square" lIns="0" tIns="0" rIns="0" bIns="0" rtlCol="0" anchor="ctr"/>
          <a:lstStyle/>
          <a:p>
            <a:pPr marL="0" indent="0">
              <a:buNone/>
            </a:pPr>
            <a:r>
              <a:rPr lang="en-US" sz="4800" b="1" dirty="0">
                <a:solidFill>
                  <a:srgbClr val="60A5FA"/>
                </a:solidFill>
                <a:latin typeface="Calibri" pitchFamily="34" charset="0"/>
                <a:ea typeface="Calibri" pitchFamily="34" charset="-122"/>
                <a:cs typeface="Calibri" pitchFamily="34" charset="-120"/>
              </a:rPr>
              <a:t>K-Means &amp;</a:t>
            </a:r>
            <a:endParaRPr lang="en-US" sz="4800" dirty="0"/>
          </a:p>
        </p:txBody>
      </p:sp>
      <p:sp>
        <p:nvSpPr>
          <p:cNvPr id="8" name="Text 6"/>
          <p:cNvSpPr/>
          <p:nvPr/>
        </p:nvSpPr>
        <p:spPr>
          <a:xfrm>
            <a:off x="685800" y="3246120"/>
            <a:ext cx="6858000" cy="822960"/>
          </a:xfrm>
          <a:prstGeom prst="rect">
            <a:avLst/>
          </a:prstGeom>
          <a:noFill/>
          <a:ln/>
        </p:spPr>
        <p:txBody>
          <a:bodyPr wrap="square" lIns="0" tIns="0" rIns="0" bIns="0" rtlCol="0" anchor="ctr"/>
          <a:lstStyle/>
          <a:p>
            <a:pPr marL="0" indent="0">
              <a:buNone/>
            </a:pPr>
            <a:r>
              <a:rPr lang="en-US" sz="4800" b="1" dirty="0">
                <a:solidFill>
                  <a:srgbClr val="F59E0B"/>
                </a:solidFill>
                <a:latin typeface="Calibri" pitchFamily="34" charset="0"/>
                <a:ea typeface="Calibri" pitchFamily="34" charset="-122"/>
                <a:cs typeface="Calibri" pitchFamily="34" charset="-120"/>
              </a:rPr>
              <a:t>DBSCAN</a:t>
            </a:r>
            <a:endParaRPr lang="en-US" sz="4800" dirty="0"/>
          </a:p>
        </p:txBody>
      </p:sp>
      <p:pic>
        <p:nvPicPr>
          <p:cNvPr id="9" name="Image 0" descr="preencoded.png"/>
          <p:cNvPicPr>
            <a:picLocks noChangeAspect="1"/>
          </p:cNvPicPr>
          <p:nvPr/>
        </p:nvPicPr>
        <p:blipFill>
          <a:blip r:embed="rId3"/>
          <a:stretch>
            <a:fillRect/>
          </a:stretch>
        </p:blipFill>
        <p:spPr>
          <a:xfrm>
            <a:off x="7498080" y="2011680"/>
            <a:ext cx="1188720" cy="11887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342"/>
          </a:solidFill>
          <a:ln w="12700">
            <a:solidFill>
              <a:srgbClr val="0A2342"/>
            </a:solidFill>
            <a:prstDash val="solid"/>
          </a:ln>
        </p:spPr>
      </p:sp>
      <p:sp>
        <p:nvSpPr>
          <p:cNvPr id="3" name="Shape 1"/>
          <p:cNvSpPr/>
          <p:nvPr/>
        </p:nvSpPr>
        <p:spPr>
          <a:xfrm>
            <a:off x="0" y="1005840"/>
            <a:ext cx="9144000" cy="45720"/>
          </a:xfrm>
          <a:prstGeom prst="rect">
            <a:avLst/>
          </a:prstGeom>
          <a:solidFill>
            <a:srgbClr val="0D9488"/>
          </a:solidFill>
          <a:ln w="12700">
            <a:solidFill>
              <a:srgbClr val="0D9488"/>
            </a:solidFill>
            <a:prstDash val="solid"/>
          </a:ln>
        </p:spPr>
      </p:sp>
      <p:sp>
        <p:nvSpPr>
          <p:cNvPr id="4" name="Text 2"/>
          <p:cNvSpPr/>
          <p:nvPr/>
        </p:nvSpPr>
        <p:spPr>
          <a:xfrm>
            <a:off x="365760" y="91440"/>
            <a:ext cx="822960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K-Means Clustering</a:t>
            </a:r>
            <a:endParaRPr lang="en-US" sz="2200" dirty="0"/>
          </a:p>
        </p:txBody>
      </p:sp>
      <p:sp>
        <p:nvSpPr>
          <p:cNvPr id="5" name="Text 3"/>
          <p:cNvSpPr/>
          <p:nvPr/>
        </p:nvSpPr>
        <p:spPr>
          <a:xfrm>
            <a:off x="365760" y="658368"/>
            <a:ext cx="8229600" cy="320040"/>
          </a:xfrm>
          <a:prstGeom prst="rect">
            <a:avLst/>
          </a:prstGeom>
          <a:noFill/>
          <a:ln/>
        </p:spPr>
        <p:txBody>
          <a:bodyPr wrap="square" lIns="0" tIns="0" rIns="0" bIns="0" rtlCol="0" anchor="ctr"/>
          <a:lstStyle/>
          <a:p>
            <a:pPr marL="0" indent="0">
              <a:buNone/>
            </a:pPr>
            <a:r>
              <a:rPr lang="en-US" sz="1100" dirty="0">
                <a:solidFill>
                  <a:srgbClr val="60A5FA"/>
                </a:solidFill>
                <a:latin typeface="Calibri" pitchFamily="34" charset="0"/>
                <a:ea typeface="Calibri" pitchFamily="34" charset="-122"/>
                <a:cs typeface="Calibri" pitchFamily="34" charset="-120"/>
              </a:rPr>
              <a:t>Algoritma clustering paling populer dan intuitif</a:t>
            </a:r>
            <a:endParaRPr lang="en-US" sz="1100" dirty="0"/>
          </a:p>
        </p:txBody>
      </p:sp>
      <p:sp>
        <p:nvSpPr>
          <p:cNvPr id="6" name="Shape 4"/>
          <p:cNvSpPr/>
          <p:nvPr/>
        </p:nvSpPr>
        <p:spPr>
          <a:xfrm>
            <a:off x="274320" y="1143000"/>
            <a:ext cx="8595360" cy="685800"/>
          </a:xfrm>
          <a:prstGeom prst="rect">
            <a:avLst/>
          </a:prstGeom>
          <a:solidFill>
            <a:srgbClr val="EFF6FF"/>
          </a:solidFill>
          <a:ln w="12700">
            <a:solidFill>
              <a:srgbClr val="60A5FA"/>
            </a:solidFill>
            <a:prstDash val="solid"/>
          </a:ln>
        </p:spPr>
      </p:sp>
      <p:sp>
        <p:nvSpPr>
          <p:cNvPr id="7" name="Text 5"/>
          <p:cNvSpPr/>
          <p:nvPr/>
        </p:nvSpPr>
        <p:spPr>
          <a:xfrm>
            <a:off x="411480" y="1188720"/>
            <a:ext cx="8321040" cy="594360"/>
          </a:xfrm>
          <a:prstGeom prst="rect">
            <a:avLst/>
          </a:prstGeom>
          <a:noFill/>
          <a:ln/>
        </p:spPr>
        <p:txBody>
          <a:bodyPr wrap="square" lIns="0" tIns="0" rIns="0" bIns="0" rtlCol="0" anchor="ctr"/>
          <a:lstStyle/>
          <a:p>
            <a:pPr marL="0" indent="0">
              <a:buNone/>
            </a:pPr>
            <a:r>
              <a:rPr lang="en-US" sz="1100" i="1" dirty="0">
                <a:solidFill>
                  <a:srgbClr val="0A2342"/>
                </a:solidFill>
                <a:latin typeface="Calibri" pitchFamily="34" charset="0"/>
                <a:ea typeface="Calibri" pitchFamily="34" charset="-122"/>
                <a:cs typeface="Calibri" pitchFamily="34" charset="-120"/>
              </a:rPr>
              <a:t>"K-Means adalah algoritma clustering yang mengelompokkan data ke dalam k cluster berdasarkan jarak terdekat ke centroid (titik pusat) masing-masing cluster."</a:t>
            </a:r>
            <a:endParaRPr lang="en-US" sz="1100" dirty="0"/>
          </a:p>
        </p:txBody>
      </p:sp>
      <p:sp>
        <p:nvSpPr>
          <p:cNvPr id="8" name="Text 6"/>
          <p:cNvSpPr/>
          <p:nvPr/>
        </p:nvSpPr>
        <p:spPr>
          <a:xfrm>
            <a:off x="274320" y="1920240"/>
            <a:ext cx="85953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Langkah Algoritma K-Means</a:t>
            </a:r>
            <a:endParaRPr lang="en-US" sz="1300" dirty="0"/>
          </a:p>
        </p:txBody>
      </p:sp>
      <p:sp>
        <p:nvSpPr>
          <p:cNvPr id="9" name="Shape 7"/>
          <p:cNvSpPr/>
          <p:nvPr/>
        </p:nvSpPr>
        <p:spPr>
          <a:xfrm>
            <a:off x="274320" y="2267712"/>
            <a:ext cx="2011680" cy="155448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10" name="Shape 8"/>
          <p:cNvSpPr/>
          <p:nvPr/>
        </p:nvSpPr>
        <p:spPr>
          <a:xfrm>
            <a:off x="274320" y="2267712"/>
            <a:ext cx="2011680" cy="54864"/>
          </a:xfrm>
          <a:prstGeom prst="rect">
            <a:avLst/>
          </a:prstGeom>
          <a:solidFill>
            <a:srgbClr val="1A56DB"/>
          </a:solidFill>
          <a:ln w="12700">
            <a:solidFill>
              <a:srgbClr val="1A56DB"/>
            </a:solidFill>
            <a:prstDash val="solid"/>
          </a:ln>
        </p:spPr>
      </p:sp>
      <p:sp>
        <p:nvSpPr>
          <p:cNvPr id="11" name="Shape 9"/>
          <p:cNvSpPr/>
          <p:nvPr/>
        </p:nvSpPr>
        <p:spPr>
          <a:xfrm>
            <a:off x="1051560" y="2331720"/>
            <a:ext cx="457200" cy="457200"/>
          </a:xfrm>
          <a:prstGeom prst="ellipse">
            <a:avLst/>
          </a:prstGeom>
          <a:solidFill>
            <a:srgbClr val="0A2342"/>
          </a:solidFill>
          <a:ln w="12700">
            <a:solidFill>
              <a:srgbClr val="0A2342"/>
            </a:solidFill>
            <a:prstDash val="solid"/>
          </a:ln>
        </p:spPr>
      </p:sp>
      <p:sp>
        <p:nvSpPr>
          <p:cNvPr id="12" name="Text 10"/>
          <p:cNvSpPr/>
          <p:nvPr/>
        </p:nvSpPr>
        <p:spPr>
          <a:xfrm>
            <a:off x="1051560" y="2350008"/>
            <a:ext cx="45720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1"/>
          <p:cNvSpPr/>
          <p:nvPr/>
        </p:nvSpPr>
        <p:spPr>
          <a:xfrm>
            <a:off x="384048" y="2852928"/>
            <a:ext cx="1810512" cy="27432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Tentukan k</a:t>
            </a:r>
            <a:endParaRPr lang="en-US" sz="1100" dirty="0"/>
          </a:p>
        </p:txBody>
      </p:sp>
      <p:sp>
        <p:nvSpPr>
          <p:cNvPr id="14" name="Text 12"/>
          <p:cNvSpPr/>
          <p:nvPr/>
        </p:nvSpPr>
        <p:spPr>
          <a:xfrm>
            <a:off x="384048" y="3154680"/>
            <a:ext cx="1810512" cy="59436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Pilih jumlah cluster k dan inisialisasi k centroid secara acak.</a:t>
            </a:r>
            <a:endParaRPr lang="en-US" sz="950" dirty="0"/>
          </a:p>
        </p:txBody>
      </p:sp>
      <p:sp>
        <p:nvSpPr>
          <p:cNvPr id="15" name="Shape 13"/>
          <p:cNvSpPr/>
          <p:nvPr/>
        </p:nvSpPr>
        <p:spPr>
          <a:xfrm>
            <a:off x="2286000" y="3044952"/>
            <a:ext cx="182880" cy="0"/>
          </a:xfrm>
          <a:prstGeom prst="line">
            <a:avLst/>
          </a:prstGeom>
          <a:noFill/>
          <a:ln w="25400">
            <a:solidFill>
              <a:srgbClr val="0D9488"/>
            </a:solidFill>
            <a:prstDash val="solid"/>
          </a:ln>
        </p:spPr>
      </p:sp>
      <p:sp>
        <p:nvSpPr>
          <p:cNvPr id="16" name="Shape 14"/>
          <p:cNvSpPr/>
          <p:nvPr/>
        </p:nvSpPr>
        <p:spPr>
          <a:xfrm>
            <a:off x="2468880" y="2267712"/>
            <a:ext cx="2011680" cy="155448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17" name="Shape 15"/>
          <p:cNvSpPr/>
          <p:nvPr/>
        </p:nvSpPr>
        <p:spPr>
          <a:xfrm>
            <a:off x="2468880" y="2267712"/>
            <a:ext cx="2011680" cy="54864"/>
          </a:xfrm>
          <a:prstGeom prst="rect">
            <a:avLst/>
          </a:prstGeom>
          <a:solidFill>
            <a:srgbClr val="1A56DB"/>
          </a:solidFill>
          <a:ln w="12700">
            <a:solidFill>
              <a:srgbClr val="1A56DB"/>
            </a:solidFill>
            <a:prstDash val="solid"/>
          </a:ln>
        </p:spPr>
      </p:sp>
      <p:sp>
        <p:nvSpPr>
          <p:cNvPr id="18" name="Shape 16"/>
          <p:cNvSpPr/>
          <p:nvPr/>
        </p:nvSpPr>
        <p:spPr>
          <a:xfrm>
            <a:off x="3246120" y="2331720"/>
            <a:ext cx="457200" cy="457200"/>
          </a:xfrm>
          <a:prstGeom prst="ellipse">
            <a:avLst/>
          </a:prstGeom>
          <a:solidFill>
            <a:srgbClr val="0A2342"/>
          </a:solidFill>
          <a:ln w="12700">
            <a:solidFill>
              <a:srgbClr val="0A2342"/>
            </a:solidFill>
            <a:prstDash val="solid"/>
          </a:ln>
        </p:spPr>
      </p:sp>
      <p:sp>
        <p:nvSpPr>
          <p:cNvPr id="19" name="Text 17"/>
          <p:cNvSpPr/>
          <p:nvPr/>
        </p:nvSpPr>
        <p:spPr>
          <a:xfrm>
            <a:off x="3246120" y="2350008"/>
            <a:ext cx="45720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0" name="Text 18"/>
          <p:cNvSpPr/>
          <p:nvPr/>
        </p:nvSpPr>
        <p:spPr>
          <a:xfrm>
            <a:off x="2578608" y="2852928"/>
            <a:ext cx="1810512" cy="27432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Assignment</a:t>
            </a:r>
            <a:endParaRPr lang="en-US" sz="1100" dirty="0"/>
          </a:p>
        </p:txBody>
      </p:sp>
      <p:sp>
        <p:nvSpPr>
          <p:cNvPr id="21" name="Text 19"/>
          <p:cNvSpPr/>
          <p:nvPr/>
        </p:nvSpPr>
        <p:spPr>
          <a:xfrm>
            <a:off x="2578608" y="3154680"/>
            <a:ext cx="1810512" cy="59436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Setiap data point diberi label cluster terdekat menggunakan Euclidean distance.</a:t>
            </a:r>
            <a:endParaRPr lang="en-US" sz="950" dirty="0"/>
          </a:p>
        </p:txBody>
      </p:sp>
      <p:sp>
        <p:nvSpPr>
          <p:cNvPr id="22" name="Shape 20"/>
          <p:cNvSpPr/>
          <p:nvPr/>
        </p:nvSpPr>
        <p:spPr>
          <a:xfrm>
            <a:off x="4480560" y="3044952"/>
            <a:ext cx="182880" cy="0"/>
          </a:xfrm>
          <a:prstGeom prst="line">
            <a:avLst/>
          </a:prstGeom>
          <a:noFill/>
          <a:ln w="25400">
            <a:solidFill>
              <a:srgbClr val="0D9488"/>
            </a:solidFill>
            <a:prstDash val="solid"/>
          </a:ln>
        </p:spPr>
      </p:sp>
      <p:sp>
        <p:nvSpPr>
          <p:cNvPr id="23" name="Shape 21"/>
          <p:cNvSpPr/>
          <p:nvPr/>
        </p:nvSpPr>
        <p:spPr>
          <a:xfrm>
            <a:off x="4663440" y="2267712"/>
            <a:ext cx="2011680" cy="155448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24" name="Shape 22"/>
          <p:cNvSpPr/>
          <p:nvPr/>
        </p:nvSpPr>
        <p:spPr>
          <a:xfrm>
            <a:off x="4663440" y="2267712"/>
            <a:ext cx="2011680" cy="54864"/>
          </a:xfrm>
          <a:prstGeom prst="rect">
            <a:avLst/>
          </a:prstGeom>
          <a:solidFill>
            <a:srgbClr val="1A56DB"/>
          </a:solidFill>
          <a:ln w="12700">
            <a:solidFill>
              <a:srgbClr val="1A56DB"/>
            </a:solidFill>
            <a:prstDash val="solid"/>
          </a:ln>
        </p:spPr>
      </p:sp>
      <p:sp>
        <p:nvSpPr>
          <p:cNvPr id="25" name="Shape 23"/>
          <p:cNvSpPr/>
          <p:nvPr/>
        </p:nvSpPr>
        <p:spPr>
          <a:xfrm>
            <a:off x="5440680" y="2331720"/>
            <a:ext cx="457200" cy="457200"/>
          </a:xfrm>
          <a:prstGeom prst="ellipse">
            <a:avLst/>
          </a:prstGeom>
          <a:solidFill>
            <a:srgbClr val="0A2342"/>
          </a:solidFill>
          <a:ln w="12700">
            <a:solidFill>
              <a:srgbClr val="0A2342"/>
            </a:solidFill>
            <a:prstDash val="solid"/>
          </a:ln>
        </p:spPr>
      </p:sp>
      <p:sp>
        <p:nvSpPr>
          <p:cNvPr id="26" name="Text 24"/>
          <p:cNvSpPr/>
          <p:nvPr/>
        </p:nvSpPr>
        <p:spPr>
          <a:xfrm>
            <a:off x="5440680" y="2350008"/>
            <a:ext cx="45720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7" name="Text 25"/>
          <p:cNvSpPr/>
          <p:nvPr/>
        </p:nvSpPr>
        <p:spPr>
          <a:xfrm>
            <a:off x="4773168" y="2852928"/>
            <a:ext cx="1810512" cy="27432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Update Centroid</a:t>
            </a:r>
            <a:endParaRPr lang="en-US" sz="1100" dirty="0"/>
          </a:p>
        </p:txBody>
      </p:sp>
      <p:sp>
        <p:nvSpPr>
          <p:cNvPr id="28" name="Text 26"/>
          <p:cNvSpPr/>
          <p:nvPr/>
        </p:nvSpPr>
        <p:spPr>
          <a:xfrm>
            <a:off x="4773168" y="3154680"/>
            <a:ext cx="1810512" cy="59436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Hitung ulang centroid = rata-rata titik dalam setiap cluster.</a:t>
            </a:r>
            <a:endParaRPr lang="en-US" sz="950" dirty="0"/>
          </a:p>
        </p:txBody>
      </p:sp>
      <p:sp>
        <p:nvSpPr>
          <p:cNvPr id="29" name="Shape 27"/>
          <p:cNvSpPr/>
          <p:nvPr/>
        </p:nvSpPr>
        <p:spPr>
          <a:xfrm>
            <a:off x="6675120" y="3044952"/>
            <a:ext cx="182880" cy="0"/>
          </a:xfrm>
          <a:prstGeom prst="line">
            <a:avLst/>
          </a:prstGeom>
          <a:noFill/>
          <a:ln w="25400">
            <a:solidFill>
              <a:srgbClr val="0D9488"/>
            </a:solidFill>
            <a:prstDash val="solid"/>
          </a:ln>
        </p:spPr>
      </p:sp>
      <p:sp>
        <p:nvSpPr>
          <p:cNvPr id="30" name="Shape 28"/>
          <p:cNvSpPr/>
          <p:nvPr/>
        </p:nvSpPr>
        <p:spPr>
          <a:xfrm>
            <a:off x="6858000" y="2267712"/>
            <a:ext cx="2011680" cy="155448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31" name="Shape 29"/>
          <p:cNvSpPr/>
          <p:nvPr/>
        </p:nvSpPr>
        <p:spPr>
          <a:xfrm>
            <a:off x="6858000" y="2267712"/>
            <a:ext cx="2011680" cy="54864"/>
          </a:xfrm>
          <a:prstGeom prst="rect">
            <a:avLst/>
          </a:prstGeom>
          <a:solidFill>
            <a:srgbClr val="1A56DB"/>
          </a:solidFill>
          <a:ln w="12700">
            <a:solidFill>
              <a:srgbClr val="1A56DB"/>
            </a:solidFill>
            <a:prstDash val="solid"/>
          </a:ln>
        </p:spPr>
      </p:sp>
      <p:sp>
        <p:nvSpPr>
          <p:cNvPr id="32" name="Shape 30"/>
          <p:cNvSpPr/>
          <p:nvPr/>
        </p:nvSpPr>
        <p:spPr>
          <a:xfrm>
            <a:off x="7635240" y="2331720"/>
            <a:ext cx="457200" cy="457200"/>
          </a:xfrm>
          <a:prstGeom prst="ellipse">
            <a:avLst/>
          </a:prstGeom>
          <a:solidFill>
            <a:srgbClr val="0A2342"/>
          </a:solidFill>
          <a:ln w="12700">
            <a:solidFill>
              <a:srgbClr val="0A2342"/>
            </a:solidFill>
            <a:prstDash val="solid"/>
          </a:ln>
        </p:spPr>
      </p:sp>
      <p:sp>
        <p:nvSpPr>
          <p:cNvPr id="33" name="Text 31"/>
          <p:cNvSpPr/>
          <p:nvPr/>
        </p:nvSpPr>
        <p:spPr>
          <a:xfrm>
            <a:off x="7635240" y="2350008"/>
            <a:ext cx="45720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4" name="Text 32"/>
          <p:cNvSpPr/>
          <p:nvPr/>
        </p:nvSpPr>
        <p:spPr>
          <a:xfrm>
            <a:off x="6967728" y="2852928"/>
            <a:ext cx="1810512" cy="27432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Ulangi</a:t>
            </a:r>
            <a:endParaRPr lang="en-US" sz="1100" dirty="0"/>
          </a:p>
        </p:txBody>
      </p:sp>
      <p:sp>
        <p:nvSpPr>
          <p:cNvPr id="35" name="Text 33"/>
          <p:cNvSpPr/>
          <p:nvPr/>
        </p:nvSpPr>
        <p:spPr>
          <a:xfrm>
            <a:off x="6967728" y="3154680"/>
            <a:ext cx="1810512" cy="59436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Ulangi Assignment &amp; Update sampai centroid tidak berubah (konvergen).</a:t>
            </a:r>
            <a:endParaRPr lang="en-US" sz="950" dirty="0"/>
          </a:p>
        </p:txBody>
      </p:sp>
      <p:sp>
        <p:nvSpPr>
          <p:cNvPr id="36" name="Shape 34"/>
          <p:cNvSpPr/>
          <p:nvPr/>
        </p:nvSpPr>
        <p:spPr>
          <a:xfrm>
            <a:off x="274320" y="3913632"/>
            <a:ext cx="4114800" cy="82296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37" name="Text 35"/>
          <p:cNvSpPr/>
          <p:nvPr/>
        </p:nvSpPr>
        <p:spPr>
          <a:xfrm>
            <a:off x="411480" y="3959352"/>
            <a:ext cx="3840480" cy="228600"/>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Formula Euclidean Distance:</a:t>
            </a:r>
            <a:endParaRPr lang="en-US" sz="1000" dirty="0"/>
          </a:p>
        </p:txBody>
      </p:sp>
      <p:sp>
        <p:nvSpPr>
          <p:cNvPr id="38" name="Text 36"/>
          <p:cNvSpPr/>
          <p:nvPr/>
        </p:nvSpPr>
        <p:spPr>
          <a:xfrm>
            <a:off x="411480" y="4206240"/>
            <a:ext cx="3840480" cy="365760"/>
          </a:xfrm>
          <a:prstGeom prst="rect">
            <a:avLst/>
          </a:prstGeom>
          <a:noFill/>
          <a:ln/>
        </p:spPr>
        <p:txBody>
          <a:bodyPr wrap="square" lIns="0" tIns="0" rIns="0" bIns="0" rtlCol="0" anchor="ctr"/>
          <a:lstStyle/>
          <a:p>
            <a:pPr marL="0" indent="0">
              <a:buNone/>
            </a:pPr>
            <a:r>
              <a:rPr lang="en-US" sz="1300" b="1" dirty="0">
                <a:solidFill>
                  <a:srgbClr val="0D9488"/>
                </a:solidFill>
                <a:latin typeface="Consolas" pitchFamily="34" charset="0"/>
                <a:ea typeface="Consolas" pitchFamily="34" charset="-122"/>
                <a:cs typeface="Consolas" pitchFamily="34" charset="-120"/>
              </a:rPr>
              <a:t>d(x, c) = √[ Σ (xᵢ − cᵢ)² ]</a:t>
            </a:r>
            <a:endParaRPr lang="en-US" sz="1300" dirty="0"/>
          </a:p>
        </p:txBody>
      </p:sp>
      <p:sp>
        <p:nvSpPr>
          <p:cNvPr id="39" name="Shape 37"/>
          <p:cNvSpPr/>
          <p:nvPr/>
        </p:nvSpPr>
        <p:spPr>
          <a:xfrm>
            <a:off x="4526280" y="3913632"/>
            <a:ext cx="4343400" cy="822960"/>
          </a:xfrm>
          <a:prstGeom prst="rect">
            <a:avLst/>
          </a:prstGeom>
          <a:solidFill>
            <a:srgbClr val="FFFBEB"/>
          </a:solidFill>
          <a:ln w="12700">
            <a:solidFill>
              <a:srgbClr val="F59E0B"/>
            </a:solidFill>
            <a:prstDash val="solid"/>
          </a:ln>
        </p:spPr>
      </p:sp>
      <p:sp>
        <p:nvSpPr>
          <p:cNvPr id="40" name="Text 38"/>
          <p:cNvSpPr/>
          <p:nvPr/>
        </p:nvSpPr>
        <p:spPr>
          <a:xfrm>
            <a:off x="4663440" y="3950208"/>
            <a:ext cx="4114800" cy="749808"/>
          </a:xfrm>
          <a:prstGeom prst="rect">
            <a:avLst/>
          </a:prstGeom>
          <a:noFill/>
          <a:ln/>
        </p:spPr>
        <p:txBody>
          <a:bodyPr wrap="square" lIns="0" tIns="0" rIns="0" bIns="0" rtlCol="0" anchor="ctr"/>
          <a:lstStyle/>
          <a:p>
            <a:pPr marL="0" indent="0">
              <a:buNone/>
            </a:pPr>
            <a:r>
              <a:rPr lang="en-US" sz="950" dirty="0">
                <a:solidFill>
                  <a:srgbClr val="92400E"/>
                </a:solidFill>
                <a:latin typeface="Calibri" pitchFamily="34" charset="0"/>
                <a:ea typeface="Calibri" pitchFamily="34" charset="-122"/>
                <a:cs typeface="Calibri" pitchFamily="34" charset="-120"/>
              </a:rPr>
              <a:t>⚠️ Kelemahan K-Means: Harus menentukan k di awal, sensitif terhadap outlier, hanya bekerja baik untuk cluster berbentuk bulat (spherical).</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342"/>
          </a:solidFill>
          <a:ln w="12700">
            <a:solidFill>
              <a:srgbClr val="0A2342"/>
            </a:solidFill>
            <a:prstDash val="solid"/>
          </a:ln>
        </p:spPr>
      </p:sp>
      <p:sp>
        <p:nvSpPr>
          <p:cNvPr id="3" name="Shape 1"/>
          <p:cNvSpPr/>
          <p:nvPr/>
        </p:nvSpPr>
        <p:spPr>
          <a:xfrm>
            <a:off x="0" y="1005840"/>
            <a:ext cx="9144000" cy="45720"/>
          </a:xfrm>
          <a:prstGeom prst="rect">
            <a:avLst/>
          </a:prstGeom>
          <a:solidFill>
            <a:srgbClr val="0D9488"/>
          </a:solidFill>
          <a:ln w="12700">
            <a:solidFill>
              <a:srgbClr val="0D9488"/>
            </a:solidFill>
            <a:prstDash val="solid"/>
          </a:ln>
        </p:spPr>
      </p:sp>
      <p:sp>
        <p:nvSpPr>
          <p:cNvPr id="4" name="Text 2"/>
          <p:cNvSpPr/>
          <p:nvPr/>
        </p:nvSpPr>
        <p:spPr>
          <a:xfrm>
            <a:off x="365760" y="91440"/>
            <a:ext cx="822960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K-Means — Use Case Nyata</a:t>
            </a:r>
            <a:endParaRPr lang="en-US" sz="2200" dirty="0"/>
          </a:p>
        </p:txBody>
      </p:sp>
      <p:sp>
        <p:nvSpPr>
          <p:cNvPr id="5" name="Text 3"/>
          <p:cNvSpPr/>
          <p:nvPr/>
        </p:nvSpPr>
        <p:spPr>
          <a:xfrm>
            <a:off x="365760" y="658368"/>
            <a:ext cx="8229600" cy="320040"/>
          </a:xfrm>
          <a:prstGeom prst="rect">
            <a:avLst/>
          </a:prstGeom>
          <a:noFill/>
          <a:ln/>
        </p:spPr>
        <p:txBody>
          <a:bodyPr wrap="square" lIns="0" tIns="0" rIns="0" bIns="0" rtlCol="0" anchor="ctr"/>
          <a:lstStyle/>
          <a:p>
            <a:pPr marL="0" indent="0">
              <a:buNone/>
            </a:pPr>
            <a:r>
              <a:rPr lang="en-US" sz="1100" dirty="0">
                <a:solidFill>
                  <a:srgbClr val="60A5FA"/>
                </a:solidFill>
                <a:latin typeface="Calibri" pitchFamily="34" charset="0"/>
                <a:ea typeface="Calibri" pitchFamily="34" charset="-122"/>
                <a:cs typeface="Calibri" pitchFamily="34" charset="-120"/>
              </a:rPr>
              <a:t>Aplikasi K-Means di dunia industri</a:t>
            </a:r>
            <a:endParaRPr lang="en-US" sz="1100" dirty="0"/>
          </a:p>
        </p:txBody>
      </p:sp>
      <p:sp>
        <p:nvSpPr>
          <p:cNvPr id="6" name="Shape 4"/>
          <p:cNvSpPr/>
          <p:nvPr/>
        </p:nvSpPr>
        <p:spPr>
          <a:xfrm>
            <a:off x="274320" y="1143000"/>
            <a:ext cx="4114800" cy="178308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7" name="Shape 5"/>
          <p:cNvSpPr/>
          <p:nvPr/>
        </p:nvSpPr>
        <p:spPr>
          <a:xfrm>
            <a:off x="274320" y="1143000"/>
            <a:ext cx="4114800" cy="502920"/>
          </a:xfrm>
          <a:prstGeom prst="rect">
            <a:avLst/>
          </a:prstGeom>
          <a:solidFill>
            <a:srgbClr val="0D9488"/>
          </a:solidFill>
          <a:ln w="12700">
            <a:solidFill>
              <a:srgbClr val="0D9488"/>
            </a:solidFill>
            <a:prstDash val="solid"/>
          </a:ln>
        </p:spPr>
      </p:sp>
      <p:sp>
        <p:nvSpPr>
          <p:cNvPr id="8" name="Text 6"/>
          <p:cNvSpPr/>
          <p:nvPr/>
        </p:nvSpPr>
        <p:spPr>
          <a:xfrm>
            <a:off x="384048" y="1216152"/>
            <a:ext cx="457200" cy="384048"/>
          </a:xfrm>
          <a:prstGeom prst="rect">
            <a:avLst/>
          </a:prstGeom>
          <a:noFill/>
          <a:ln/>
        </p:spPr>
        <p:txBody>
          <a:bodyPr wrap="square" lIns="0" tIns="0" rIns="0" bIns="0" rtlCol="0" anchor="ctr"/>
          <a:lstStyle/>
          <a:p>
            <a:pPr marL="0" indent="0">
              <a:buNone/>
            </a:pPr>
            <a:r>
              <a:rPr lang="en-US" sz="1800" b="1" dirty="0">
                <a:solidFill>
                  <a:srgbClr val="000000"/>
                </a:solidFill>
                <a:latin typeface="Calibri" pitchFamily="34" charset="0"/>
                <a:ea typeface="Calibri" pitchFamily="34" charset="-122"/>
                <a:cs typeface="Calibri" pitchFamily="34" charset="-120"/>
              </a:rPr>
              <a:t>01</a:t>
            </a:r>
            <a:endParaRPr lang="en-US" sz="1800" dirty="0"/>
          </a:p>
        </p:txBody>
      </p:sp>
      <p:sp>
        <p:nvSpPr>
          <p:cNvPr id="9" name="Text 7"/>
          <p:cNvSpPr/>
          <p:nvPr/>
        </p:nvSpPr>
        <p:spPr>
          <a:xfrm>
            <a:off x="868680" y="1252728"/>
            <a:ext cx="342900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Customer Segmentation</a:t>
            </a:r>
            <a:endParaRPr lang="en-US" sz="1200" dirty="0"/>
          </a:p>
        </p:txBody>
      </p:sp>
      <p:sp>
        <p:nvSpPr>
          <p:cNvPr id="10" name="Text 8"/>
          <p:cNvSpPr/>
          <p:nvPr/>
        </p:nvSpPr>
        <p:spPr>
          <a:xfrm>
            <a:off x="411480" y="1737360"/>
            <a:ext cx="3840480" cy="111556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Mengelompokkan pelanggan berdasarkan perilaku belanja, usia, atau penghasilan.</a:t>
            </a:r>
            <a:endParaRPr lang="en-US" sz="950" dirty="0"/>
          </a:p>
          <a:p>
            <a:pPr marL="0" indent="0">
              <a:buNone/>
            </a:pPr>
            <a:r>
              <a:rPr lang="en-US" sz="950" dirty="0">
                <a:solidFill>
                  <a:srgbClr val="64748B"/>
                </a:solidFill>
                <a:latin typeface="Calibri" pitchFamily="34" charset="0"/>
                <a:ea typeface="Calibri" pitchFamily="34" charset="-122"/>
                <a:cs typeface="Calibri" pitchFamily="34" charset="-120"/>
              </a:rPr>
              <a:t>Contoh: 'Pembeli aktif', 'Pembeli musiman', 'Pembeli pasif' — untuk strategi marketing yang tepat sasaran.</a:t>
            </a:r>
            <a:endParaRPr lang="en-US" sz="950" dirty="0"/>
          </a:p>
        </p:txBody>
      </p:sp>
      <p:sp>
        <p:nvSpPr>
          <p:cNvPr id="11" name="Shape 9"/>
          <p:cNvSpPr/>
          <p:nvPr/>
        </p:nvSpPr>
        <p:spPr>
          <a:xfrm>
            <a:off x="4754880" y="1143000"/>
            <a:ext cx="4114800" cy="178308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12" name="Shape 10"/>
          <p:cNvSpPr/>
          <p:nvPr/>
        </p:nvSpPr>
        <p:spPr>
          <a:xfrm>
            <a:off x="4754880" y="1143000"/>
            <a:ext cx="4114800" cy="502920"/>
          </a:xfrm>
          <a:prstGeom prst="rect">
            <a:avLst/>
          </a:prstGeom>
          <a:solidFill>
            <a:srgbClr val="1A56DB"/>
          </a:solidFill>
          <a:ln w="12700">
            <a:solidFill>
              <a:srgbClr val="1A56DB"/>
            </a:solidFill>
            <a:prstDash val="solid"/>
          </a:ln>
        </p:spPr>
      </p:sp>
      <p:sp>
        <p:nvSpPr>
          <p:cNvPr id="13" name="Text 11"/>
          <p:cNvSpPr/>
          <p:nvPr/>
        </p:nvSpPr>
        <p:spPr>
          <a:xfrm>
            <a:off x="4864608" y="1216152"/>
            <a:ext cx="457200" cy="384048"/>
          </a:xfrm>
          <a:prstGeom prst="rect">
            <a:avLst/>
          </a:prstGeom>
          <a:noFill/>
          <a:ln/>
        </p:spPr>
        <p:txBody>
          <a:bodyPr wrap="square" lIns="0" tIns="0" rIns="0" bIns="0" rtlCol="0" anchor="ctr"/>
          <a:lstStyle/>
          <a:p>
            <a:pPr marL="0" indent="0">
              <a:buNone/>
            </a:pPr>
            <a:r>
              <a:rPr lang="en-US" sz="1800" b="1" dirty="0">
                <a:solidFill>
                  <a:srgbClr val="000000"/>
                </a:solidFill>
                <a:latin typeface="Calibri" pitchFamily="34" charset="0"/>
                <a:ea typeface="Calibri" pitchFamily="34" charset="-122"/>
                <a:cs typeface="Calibri" pitchFamily="34" charset="-120"/>
              </a:rPr>
              <a:t>02</a:t>
            </a:r>
            <a:endParaRPr lang="en-US" sz="1800" dirty="0"/>
          </a:p>
        </p:txBody>
      </p:sp>
      <p:sp>
        <p:nvSpPr>
          <p:cNvPr id="14" name="Text 12"/>
          <p:cNvSpPr/>
          <p:nvPr/>
        </p:nvSpPr>
        <p:spPr>
          <a:xfrm>
            <a:off x="5349240" y="1252728"/>
            <a:ext cx="342900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Market Segmentation</a:t>
            </a:r>
            <a:endParaRPr lang="en-US" sz="1200" dirty="0"/>
          </a:p>
        </p:txBody>
      </p:sp>
      <p:sp>
        <p:nvSpPr>
          <p:cNvPr id="15" name="Text 13"/>
          <p:cNvSpPr/>
          <p:nvPr/>
        </p:nvSpPr>
        <p:spPr>
          <a:xfrm>
            <a:off x="4892040" y="1737360"/>
            <a:ext cx="3840480" cy="111556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Membagi pasar menjadi beberapa segmen berdasarkan preferensi, wilayah geografis, atau kebutuhan konsumen.</a:t>
            </a:r>
            <a:endParaRPr lang="en-US" sz="950" dirty="0"/>
          </a:p>
          <a:p>
            <a:pPr marL="0" indent="0">
              <a:buNone/>
            </a:pPr>
            <a:r>
              <a:rPr lang="en-US" sz="950" dirty="0">
                <a:solidFill>
                  <a:srgbClr val="64748B"/>
                </a:solidFill>
                <a:latin typeface="Calibri" pitchFamily="34" charset="0"/>
                <a:ea typeface="Calibri" pitchFamily="34" charset="-122"/>
                <a:cs typeface="Calibri" pitchFamily="34" charset="-120"/>
              </a:rPr>
              <a:t>Contoh: Segmentasi pasar smartphone berdasarkan daya beli.</a:t>
            </a:r>
            <a:endParaRPr lang="en-US" sz="950" dirty="0"/>
          </a:p>
        </p:txBody>
      </p:sp>
      <p:sp>
        <p:nvSpPr>
          <p:cNvPr id="16" name="Shape 14"/>
          <p:cNvSpPr/>
          <p:nvPr/>
        </p:nvSpPr>
        <p:spPr>
          <a:xfrm>
            <a:off x="274320" y="3063240"/>
            <a:ext cx="4114800" cy="178308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17" name="Shape 15"/>
          <p:cNvSpPr/>
          <p:nvPr/>
        </p:nvSpPr>
        <p:spPr>
          <a:xfrm>
            <a:off x="274320" y="3063240"/>
            <a:ext cx="4114800" cy="502920"/>
          </a:xfrm>
          <a:prstGeom prst="rect">
            <a:avLst/>
          </a:prstGeom>
          <a:solidFill>
            <a:srgbClr val="0A2342"/>
          </a:solidFill>
          <a:ln w="12700">
            <a:solidFill>
              <a:srgbClr val="0A2342"/>
            </a:solidFill>
            <a:prstDash val="solid"/>
          </a:ln>
        </p:spPr>
      </p:sp>
      <p:sp>
        <p:nvSpPr>
          <p:cNvPr id="18" name="Text 16"/>
          <p:cNvSpPr/>
          <p:nvPr/>
        </p:nvSpPr>
        <p:spPr>
          <a:xfrm>
            <a:off x="384048" y="3136392"/>
            <a:ext cx="457200" cy="384048"/>
          </a:xfrm>
          <a:prstGeom prst="rect">
            <a:avLst/>
          </a:prstGeom>
          <a:noFill/>
          <a:ln/>
        </p:spPr>
        <p:txBody>
          <a:bodyPr wrap="square" lIns="0" tIns="0" rIns="0" bIns="0" rtlCol="0" anchor="ctr"/>
          <a:lstStyle/>
          <a:p>
            <a:pPr marL="0" indent="0">
              <a:buNone/>
            </a:pPr>
            <a:r>
              <a:rPr lang="en-US" sz="1800" b="1" dirty="0">
                <a:solidFill>
                  <a:srgbClr val="000000"/>
                </a:solidFill>
                <a:latin typeface="Calibri" pitchFamily="34" charset="0"/>
                <a:ea typeface="Calibri" pitchFamily="34" charset="-122"/>
                <a:cs typeface="Calibri" pitchFamily="34" charset="-120"/>
              </a:rPr>
              <a:t>03</a:t>
            </a:r>
            <a:endParaRPr lang="en-US" sz="1800" dirty="0"/>
          </a:p>
        </p:txBody>
      </p:sp>
      <p:sp>
        <p:nvSpPr>
          <p:cNvPr id="19" name="Text 17"/>
          <p:cNvSpPr/>
          <p:nvPr/>
        </p:nvSpPr>
        <p:spPr>
          <a:xfrm>
            <a:off x="868680" y="3172968"/>
            <a:ext cx="342900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Image Compression</a:t>
            </a:r>
            <a:endParaRPr lang="en-US" sz="1200" dirty="0"/>
          </a:p>
        </p:txBody>
      </p:sp>
      <p:sp>
        <p:nvSpPr>
          <p:cNvPr id="20" name="Text 18"/>
          <p:cNvSpPr/>
          <p:nvPr/>
        </p:nvSpPr>
        <p:spPr>
          <a:xfrm>
            <a:off x="411480" y="3657600"/>
            <a:ext cx="3840480" cy="111556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Mengelompokkan warna-warna piksel gambar ke beberapa cluster warna utama untuk mengurangi ukuran file.</a:t>
            </a:r>
            <a:endParaRPr lang="en-US" sz="950" dirty="0"/>
          </a:p>
          <a:p>
            <a:pPr marL="0" indent="0">
              <a:buNone/>
            </a:pPr>
            <a:r>
              <a:rPr lang="en-US" sz="950" dirty="0">
                <a:solidFill>
                  <a:srgbClr val="64748B"/>
                </a:solidFill>
                <a:latin typeface="Calibri" pitchFamily="34" charset="0"/>
                <a:ea typeface="Calibri" pitchFamily="34" charset="-122"/>
                <a:cs typeface="Calibri" pitchFamily="34" charset="-120"/>
              </a:rPr>
              <a:t>Contoh: Gambar 16 juta warna → dikompres ke 256 warna utama saja.</a:t>
            </a:r>
            <a:endParaRPr lang="en-US" sz="950" dirty="0"/>
          </a:p>
        </p:txBody>
      </p:sp>
      <p:sp>
        <p:nvSpPr>
          <p:cNvPr id="21" name="Shape 19"/>
          <p:cNvSpPr/>
          <p:nvPr/>
        </p:nvSpPr>
        <p:spPr>
          <a:xfrm>
            <a:off x="4754880" y="3063240"/>
            <a:ext cx="4114800" cy="178308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22" name="Shape 20"/>
          <p:cNvSpPr/>
          <p:nvPr/>
        </p:nvSpPr>
        <p:spPr>
          <a:xfrm>
            <a:off x="4754880" y="3063240"/>
            <a:ext cx="4114800" cy="502920"/>
          </a:xfrm>
          <a:prstGeom prst="rect">
            <a:avLst/>
          </a:prstGeom>
          <a:solidFill>
            <a:srgbClr val="F59E0B"/>
          </a:solidFill>
          <a:ln w="12700">
            <a:solidFill>
              <a:srgbClr val="F59E0B"/>
            </a:solidFill>
            <a:prstDash val="solid"/>
          </a:ln>
        </p:spPr>
      </p:sp>
      <p:sp>
        <p:nvSpPr>
          <p:cNvPr id="23" name="Text 21"/>
          <p:cNvSpPr/>
          <p:nvPr/>
        </p:nvSpPr>
        <p:spPr>
          <a:xfrm>
            <a:off x="4864608" y="3136392"/>
            <a:ext cx="457200" cy="384048"/>
          </a:xfrm>
          <a:prstGeom prst="rect">
            <a:avLst/>
          </a:prstGeom>
          <a:noFill/>
          <a:ln/>
        </p:spPr>
        <p:txBody>
          <a:bodyPr wrap="square" lIns="0" tIns="0" rIns="0" bIns="0" rtlCol="0" anchor="ctr"/>
          <a:lstStyle/>
          <a:p>
            <a:pPr marL="0" indent="0">
              <a:buNone/>
            </a:pPr>
            <a:r>
              <a:rPr lang="en-US" sz="1800" b="1" dirty="0">
                <a:solidFill>
                  <a:srgbClr val="000000"/>
                </a:solidFill>
                <a:latin typeface="Calibri" pitchFamily="34" charset="0"/>
                <a:ea typeface="Calibri" pitchFamily="34" charset="-122"/>
                <a:cs typeface="Calibri" pitchFamily="34" charset="-120"/>
              </a:rPr>
              <a:t>04</a:t>
            </a:r>
            <a:endParaRPr lang="en-US" sz="1800" dirty="0"/>
          </a:p>
        </p:txBody>
      </p:sp>
      <p:sp>
        <p:nvSpPr>
          <p:cNvPr id="24" name="Text 22"/>
          <p:cNvSpPr/>
          <p:nvPr/>
        </p:nvSpPr>
        <p:spPr>
          <a:xfrm>
            <a:off x="5349240" y="3172968"/>
            <a:ext cx="342900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Anomaly Detection</a:t>
            </a:r>
            <a:endParaRPr lang="en-US" sz="1200" dirty="0"/>
          </a:p>
        </p:txBody>
      </p:sp>
      <p:sp>
        <p:nvSpPr>
          <p:cNvPr id="25" name="Text 23"/>
          <p:cNvSpPr/>
          <p:nvPr/>
        </p:nvSpPr>
        <p:spPr>
          <a:xfrm>
            <a:off x="4892040" y="3657600"/>
            <a:ext cx="3840480" cy="111556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Data yang tidak masuk ke cluster manapun (atau jauh dari centroid) dianggap anomali.</a:t>
            </a:r>
            <a:endParaRPr lang="en-US" sz="950" dirty="0"/>
          </a:p>
          <a:p>
            <a:pPr marL="0" indent="0">
              <a:buNone/>
            </a:pPr>
            <a:r>
              <a:rPr lang="en-US" sz="950" dirty="0">
                <a:solidFill>
                  <a:srgbClr val="64748B"/>
                </a:solidFill>
                <a:latin typeface="Calibri" pitchFamily="34" charset="0"/>
                <a:ea typeface="Calibri" pitchFamily="34" charset="-122"/>
                <a:cs typeface="Calibri" pitchFamily="34" charset="-120"/>
              </a:rPr>
              <a:t>Contoh: Mendeteksi transaksi kartu kredit yang mencurigakan.</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342"/>
          </a:solidFill>
          <a:ln w="12700">
            <a:solidFill>
              <a:srgbClr val="0A2342"/>
            </a:solidFill>
            <a:prstDash val="solid"/>
          </a:ln>
        </p:spPr>
      </p:sp>
      <p:sp>
        <p:nvSpPr>
          <p:cNvPr id="3" name="Shape 1"/>
          <p:cNvSpPr/>
          <p:nvPr/>
        </p:nvSpPr>
        <p:spPr>
          <a:xfrm>
            <a:off x="0" y="1005840"/>
            <a:ext cx="9144000" cy="45720"/>
          </a:xfrm>
          <a:prstGeom prst="rect">
            <a:avLst/>
          </a:prstGeom>
          <a:solidFill>
            <a:srgbClr val="0D9488"/>
          </a:solidFill>
          <a:ln w="12700">
            <a:solidFill>
              <a:srgbClr val="0D9488"/>
            </a:solidFill>
            <a:prstDash val="solid"/>
          </a:ln>
        </p:spPr>
      </p:sp>
      <p:sp>
        <p:nvSpPr>
          <p:cNvPr id="4" name="Text 2"/>
          <p:cNvSpPr/>
          <p:nvPr/>
        </p:nvSpPr>
        <p:spPr>
          <a:xfrm>
            <a:off x="365760" y="91440"/>
            <a:ext cx="822960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DBSCAN — Density-Based Clustering</a:t>
            </a:r>
            <a:endParaRPr lang="en-US" sz="2200" dirty="0"/>
          </a:p>
        </p:txBody>
      </p:sp>
      <p:sp>
        <p:nvSpPr>
          <p:cNvPr id="5" name="Text 3"/>
          <p:cNvSpPr/>
          <p:nvPr/>
        </p:nvSpPr>
        <p:spPr>
          <a:xfrm>
            <a:off x="365760" y="658368"/>
            <a:ext cx="8229600" cy="320040"/>
          </a:xfrm>
          <a:prstGeom prst="rect">
            <a:avLst/>
          </a:prstGeom>
          <a:noFill/>
          <a:ln/>
        </p:spPr>
        <p:txBody>
          <a:bodyPr wrap="square" lIns="0" tIns="0" rIns="0" bIns="0" rtlCol="0" anchor="ctr"/>
          <a:lstStyle/>
          <a:p>
            <a:pPr marL="0" indent="0">
              <a:buNone/>
            </a:pPr>
            <a:r>
              <a:rPr lang="en-US" sz="1100" dirty="0">
                <a:solidFill>
                  <a:srgbClr val="60A5FA"/>
                </a:solidFill>
                <a:latin typeface="Calibri" pitchFamily="34" charset="0"/>
                <a:ea typeface="Calibri" pitchFamily="34" charset="-122"/>
                <a:cs typeface="Calibri" pitchFamily="34" charset="-120"/>
              </a:rPr>
              <a:t>Alternatif powerful untuk K-Means</a:t>
            </a:r>
            <a:endParaRPr lang="en-US" sz="1100" dirty="0"/>
          </a:p>
        </p:txBody>
      </p:sp>
      <p:sp>
        <p:nvSpPr>
          <p:cNvPr id="6" name="Shape 4"/>
          <p:cNvSpPr/>
          <p:nvPr/>
        </p:nvSpPr>
        <p:spPr>
          <a:xfrm>
            <a:off x="274320" y="1143000"/>
            <a:ext cx="8595360" cy="685800"/>
          </a:xfrm>
          <a:prstGeom prst="rect">
            <a:avLst/>
          </a:prstGeom>
          <a:solidFill>
            <a:srgbClr val="EFF6FF"/>
          </a:solidFill>
          <a:ln w="12700">
            <a:solidFill>
              <a:srgbClr val="60A5FA"/>
            </a:solidFill>
            <a:prstDash val="solid"/>
          </a:ln>
        </p:spPr>
      </p:sp>
      <p:sp>
        <p:nvSpPr>
          <p:cNvPr id="7" name="Text 5"/>
          <p:cNvSpPr/>
          <p:nvPr/>
        </p:nvSpPr>
        <p:spPr>
          <a:xfrm>
            <a:off x="411480" y="1188720"/>
            <a:ext cx="8321040" cy="594360"/>
          </a:xfrm>
          <a:prstGeom prst="rect">
            <a:avLst/>
          </a:prstGeom>
          <a:noFill/>
          <a:ln/>
        </p:spPr>
        <p:txBody>
          <a:bodyPr wrap="square" lIns="0" tIns="0" rIns="0" bIns="0" rtlCol="0" anchor="ctr"/>
          <a:lstStyle/>
          <a:p>
            <a:pPr marL="0" indent="0">
              <a:buNone/>
            </a:pPr>
            <a:r>
              <a:rPr lang="en-US" sz="1050" i="1" dirty="0">
                <a:solidFill>
                  <a:srgbClr val="0A2342"/>
                </a:solidFill>
                <a:latin typeface="Calibri" pitchFamily="34" charset="0"/>
                <a:ea typeface="Calibri" pitchFamily="34" charset="-122"/>
                <a:cs typeface="Calibri" pitchFamily="34" charset="-120"/>
              </a:rPr>
              <a:t>"DBSCAN (Density-Based Spatial Clustering of Applications with Noise) adalah algoritma clustering berbasis kepadatan yang menemukan cluster berbentuk bebas TANPA harus menentukan jumlah cluster sebelumnya."</a:t>
            </a:r>
            <a:endParaRPr lang="en-US" sz="1050" dirty="0"/>
          </a:p>
        </p:txBody>
      </p:sp>
      <p:sp>
        <p:nvSpPr>
          <p:cNvPr id="8" name="Text 6"/>
          <p:cNvSpPr/>
          <p:nvPr/>
        </p:nvSpPr>
        <p:spPr>
          <a:xfrm>
            <a:off x="274320" y="1920240"/>
            <a:ext cx="85953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Dua Parameter Utama DBSCAN</a:t>
            </a:r>
            <a:endParaRPr lang="en-US" sz="1300" dirty="0"/>
          </a:p>
        </p:txBody>
      </p:sp>
      <p:sp>
        <p:nvSpPr>
          <p:cNvPr id="9" name="Shape 7"/>
          <p:cNvSpPr/>
          <p:nvPr/>
        </p:nvSpPr>
        <p:spPr>
          <a:xfrm>
            <a:off x="274320" y="2240280"/>
            <a:ext cx="4160520" cy="1005840"/>
          </a:xfrm>
          <a:prstGeom prst="rect">
            <a:avLst/>
          </a:prstGeom>
          <a:solidFill>
            <a:srgbClr val="FFFFFF"/>
          </a:solidFill>
          <a:ln w="12700">
            <a:solidFill>
              <a:srgbClr val="0D9488"/>
            </a:solidFill>
            <a:prstDash val="solid"/>
          </a:ln>
          <a:effectLst>
            <a:outerShdw blurRad="101600" dist="25400" dir="8100000" algn="bl" rotWithShape="0">
              <a:srgbClr val="000000">
                <a:alpha val="10000"/>
              </a:srgbClr>
            </a:outerShdw>
          </a:effectLst>
        </p:spPr>
      </p:sp>
      <p:sp>
        <p:nvSpPr>
          <p:cNvPr id="10" name="Shape 8"/>
          <p:cNvSpPr/>
          <p:nvPr/>
        </p:nvSpPr>
        <p:spPr>
          <a:xfrm>
            <a:off x="274320" y="2240280"/>
            <a:ext cx="4160520" cy="54864"/>
          </a:xfrm>
          <a:prstGeom prst="rect">
            <a:avLst/>
          </a:prstGeom>
          <a:solidFill>
            <a:srgbClr val="0D9488"/>
          </a:solidFill>
          <a:ln w="12700">
            <a:solidFill>
              <a:srgbClr val="0D9488"/>
            </a:solidFill>
            <a:prstDash val="solid"/>
          </a:ln>
        </p:spPr>
      </p:sp>
      <p:sp>
        <p:nvSpPr>
          <p:cNvPr id="11" name="Text 9"/>
          <p:cNvSpPr/>
          <p:nvPr/>
        </p:nvSpPr>
        <p:spPr>
          <a:xfrm>
            <a:off x="411480" y="2359152"/>
            <a:ext cx="3840480" cy="274320"/>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ε (Epsilon)</a:t>
            </a:r>
            <a:endParaRPr lang="en-US" sz="1300" dirty="0"/>
          </a:p>
        </p:txBody>
      </p:sp>
      <p:sp>
        <p:nvSpPr>
          <p:cNvPr id="12" name="Text 10"/>
          <p:cNvSpPr/>
          <p:nvPr/>
        </p:nvSpPr>
        <p:spPr>
          <a:xfrm>
            <a:off x="411480" y="2651760"/>
            <a:ext cx="3840480" cy="53035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Jarak maksimum antara dua titik agar dianggap 'saling berdekatan' (berada dalam neighborhood yang sama).</a:t>
            </a:r>
            <a:endParaRPr lang="en-US" sz="950" dirty="0"/>
          </a:p>
        </p:txBody>
      </p:sp>
      <p:sp>
        <p:nvSpPr>
          <p:cNvPr id="13" name="Shape 11"/>
          <p:cNvSpPr/>
          <p:nvPr/>
        </p:nvSpPr>
        <p:spPr>
          <a:xfrm>
            <a:off x="4709160" y="2240280"/>
            <a:ext cx="4160520" cy="1005840"/>
          </a:xfrm>
          <a:prstGeom prst="rect">
            <a:avLst/>
          </a:prstGeom>
          <a:solidFill>
            <a:srgbClr val="FFFFFF"/>
          </a:solidFill>
          <a:ln w="12700">
            <a:solidFill>
              <a:srgbClr val="0A2342"/>
            </a:solidFill>
            <a:prstDash val="solid"/>
          </a:ln>
          <a:effectLst>
            <a:outerShdw blurRad="101600" dist="25400" dir="8100000" algn="bl" rotWithShape="0">
              <a:srgbClr val="000000">
                <a:alpha val="10000"/>
              </a:srgbClr>
            </a:outerShdw>
          </a:effectLst>
        </p:spPr>
      </p:sp>
      <p:sp>
        <p:nvSpPr>
          <p:cNvPr id="14" name="Shape 12"/>
          <p:cNvSpPr/>
          <p:nvPr/>
        </p:nvSpPr>
        <p:spPr>
          <a:xfrm>
            <a:off x="4709160" y="2240280"/>
            <a:ext cx="4160520" cy="54864"/>
          </a:xfrm>
          <a:prstGeom prst="rect">
            <a:avLst/>
          </a:prstGeom>
          <a:solidFill>
            <a:srgbClr val="0A2342"/>
          </a:solidFill>
          <a:ln w="12700">
            <a:solidFill>
              <a:srgbClr val="0A2342"/>
            </a:solidFill>
            <a:prstDash val="solid"/>
          </a:ln>
        </p:spPr>
      </p:sp>
      <p:sp>
        <p:nvSpPr>
          <p:cNvPr id="15" name="Text 13"/>
          <p:cNvSpPr/>
          <p:nvPr/>
        </p:nvSpPr>
        <p:spPr>
          <a:xfrm>
            <a:off x="4846320" y="2359152"/>
            <a:ext cx="3840480" cy="274320"/>
          </a:xfrm>
          <a:prstGeom prst="rect">
            <a:avLst/>
          </a:prstGeom>
          <a:noFill/>
          <a:ln/>
        </p:spPr>
        <p:txBody>
          <a:bodyPr wrap="square" lIns="0" tIns="0" rIns="0" bIns="0" rtlCol="0" anchor="ctr"/>
          <a:lstStyle/>
          <a:p>
            <a:pPr marL="0" indent="0">
              <a:buNone/>
            </a:pPr>
            <a:r>
              <a:rPr lang="en-US" sz="1300" b="1" dirty="0">
                <a:solidFill>
                  <a:srgbClr val="0A2342"/>
                </a:solidFill>
                <a:latin typeface="Calibri" pitchFamily="34" charset="0"/>
                <a:ea typeface="Calibri" pitchFamily="34" charset="-122"/>
                <a:cs typeface="Calibri" pitchFamily="34" charset="-120"/>
              </a:rPr>
              <a:t>MinPts</a:t>
            </a:r>
            <a:endParaRPr lang="en-US" sz="1300" dirty="0"/>
          </a:p>
        </p:txBody>
      </p:sp>
      <p:sp>
        <p:nvSpPr>
          <p:cNvPr id="16" name="Text 14"/>
          <p:cNvSpPr/>
          <p:nvPr/>
        </p:nvSpPr>
        <p:spPr>
          <a:xfrm>
            <a:off x="4846320" y="2651760"/>
            <a:ext cx="3840480" cy="53035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Jumlah minimum titik yang harus ada di dalam lingkaran ε untuk membentuk cluster yang valid (core point).</a:t>
            </a:r>
            <a:endParaRPr lang="en-US" sz="950" dirty="0"/>
          </a:p>
        </p:txBody>
      </p:sp>
      <p:sp>
        <p:nvSpPr>
          <p:cNvPr id="17" name="Text 15"/>
          <p:cNvSpPr/>
          <p:nvPr/>
        </p:nvSpPr>
        <p:spPr>
          <a:xfrm>
            <a:off x="274320" y="3337560"/>
            <a:ext cx="85953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Tiga Jenis Titik dalam DBSCAN</a:t>
            </a:r>
            <a:endParaRPr lang="en-US" sz="1300" dirty="0"/>
          </a:p>
        </p:txBody>
      </p:sp>
      <p:sp>
        <p:nvSpPr>
          <p:cNvPr id="18" name="Shape 16"/>
          <p:cNvSpPr/>
          <p:nvPr/>
        </p:nvSpPr>
        <p:spPr>
          <a:xfrm>
            <a:off x="274320" y="3657600"/>
            <a:ext cx="2834640" cy="118872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19" name="Shape 17"/>
          <p:cNvSpPr/>
          <p:nvPr/>
        </p:nvSpPr>
        <p:spPr>
          <a:xfrm>
            <a:off x="411480" y="3749040"/>
            <a:ext cx="365760" cy="365760"/>
          </a:xfrm>
          <a:prstGeom prst="ellipse">
            <a:avLst/>
          </a:prstGeom>
          <a:solidFill>
            <a:srgbClr val="0D9488"/>
          </a:solidFill>
          <a:ln w="12700">
            <a:solidFill>
              <a:srgbClr val="0D9488"/>
            </a:solidFill>
            <a:prstDash val="solid"/>
          </a:ln>
        </p:spPr>
      </p:sp>
      <p:sp>
        <p:nvSpPr>
          <p:cNvPr id="20" name="Text 18"/>
          <p:cNvSpPr/>
          <p:nvPr/>
        </p:nvSpPr>
        <p:spPr>
          <a:xfrm>
            <a:off x="868680" y="3749040"/>
            <a:ext cx="2148840" cy="27432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Core Point</a:t>
            </a:r>
            <a:endParaRPr lang="en-US" sz="1100" dirty="0"/>
          </a:p>
        </p:txBody>
      </p:sp>
      <p:sp>
        <p:nvSpPr>
          <p:cNvPr id="21" name="Text 19"/>
          <p:cNvSpPr/>
          <p:nvPr/>
        </p:nvSpPr>
        <p:spPr>
          <a:xfrm>
            <a:off x="411480" y="4133088"/>
            <a:ext cx="2651760" cy="6858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Memiliki ≥ MinPts titik dalam radius ε-nya. Inti dari sebuah cluster.</a:t>
            </a:r>
            <a:endParaRPr lang="en-US" sz="950" dirty="0"/>
          </a:p>
        </p:txBody>
      </p:sp>
      <p:sp>
        <p:nvSpPr>
          <p:cNvPr id="22" name="Shape 20"/>
          <p:cNvSpPr/>
          <p:nvPr/>
        </p:nvSpPr>
        <p:spPr>
          <a:xfrm>
            <a:off x="3227832" y="3657600"/>
            <a:ext cx="2834640" cy="118872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23" name="Shape 21"/>
          <p:cNvSpPr/>
          <p:nvPr/>
        </p:nvSpPr>
        <p:spPr>
          <a:xfrm>
            <a:off x="3364992" y="3749040"/>
            <a:ext cx="365760" cy="365760"/>
          </a:xfrm>
          <a:prstGeom prst="ellipse">
            <a:avLst/>
          </a:prstGeom>
          <a:solidFill>
            <a:srgbClr val="1A56DB"/>
          </a:solidFill>
          <a:ln w="12700">
            <a:solidFill>
              <a:srgbClr val="1A56DB"/>
            </a:solidFill>
            <a:prstDash val="solid"/>
          </a:ln>
        </p:spPr>
      </p:sp>
      <p:sp>
        <p:nvSpPr>
          <p:cNvPr id="24" name="Text 22"/>
          <p:cNvSpPr/>
          <p:nvPr/>
        </p:nvSpPr>
        <p:spPr>
          <a:xfrm>
            <a:off x="3822192" y="3749040"/>
            <a:ext cx="2148840" cy="27432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Border Point</a:t>
            </a:r>
            <a:endParaRPr lang="en-US" sz="1100" dirty="0"/>
          </a:p>
        </p:txBody>
      </p:sp>
      <p:sp>
        <p:nvSpPr>
          <p:cNvPr id="25" name="Text 23"/>
          <p:cNvSpPr/>
          <p:nvPr/>
        </p:nvSpPr>
        <p:spPr>
          <a:xfrm>
            <a:off x="3364992" y="4133088"/>
            <a:ext cx="2651760" cy="6858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Berada dalam radius ε dari Core Point, namun titik tetangganya &lt; MinPts.</a:t>
            </a:r>
            <a:endParaRPr lang="en-US" sz="950" dirty="0"/>
          </a:p>
        </p:txBody>
      </p:sp>
      <p:sp>
        <p:nvSpPr>
          <p:cNvPr id="26" name="Shape 24"/>
          <p:cNvSpPr/>
          <p:nvPr/>
        </p:nvSpPr>
        <p:spPr>
          <a:xfrm>
            <a:off x="6181344" y="3657600"/>
            <a:ext cx="2834640" cy="118872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27" name="Shape 25"/>
          <p:cNvSpPr/>
          <p:nvPr/>
        </p:nvSpPr>
        <p:spPr>
          <a:xfrm>
            <a:off x="6318504" y="3749040"/>
            <a:ext cx="365760" cy="365760"/>
          </a:xfrm>
          <a:prstGeom prst="ellipse">
            <a:avLst/>
          </a:prstGeom>
          <a:solidFill>
            <a:srgbClr val="EF4444"/>
          </a:solidFill>
          <a:ln w="12700">
            <a:solidFill>
              <a:srgbClr val="EF4444"/>
            </a:solidFill>
            <a:prstDash val="solid"/>
          </a:ln>
        </p:spPr>
      </p:sp>
      <p:sp>
        <p:nvSpPr>
          <p:cNvPr id="28" name="Text 26"/>
          <p:cNvSpPr/>
          <p:nvPr/>
        </p:nvSpPr>
        <p:spPr>
          <a:xfrm>
            <a:off x="6775704" y="3749040"/>
            <a:ext cx="2148840" cy="27432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Noise Point</a:t>
            </a:r>
            <a:endParaRPr lang="en-US" sz="1100" dirty="0"/>
          </a:p>
        </p:txBody>
      </p:sp>
      <p:sp>
        <p:nvSpPr>
          <p:cNvPr id="29" name="Text 27"/>
          <p:cNvSpPr/>
          <p:nvPr/>
        </p:nvSpPr>
        <p:spPr>
          <a:xfrm>
            <a:off x="6318504" y="4133088"/>
            <a:ext cx="2651760" cy="6858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Tidak masuk cluster manapun — bukan core point dan tidak dalam radius ε core point manapun. Dianggap outlier.</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342"/>
          </a:solidFill>
          <a:ln w="12700">
            <a:solidFill>
              <a:srgbClr val="0A2342"/>
            </a:solidFill>
            <a:prstDash val="solid"/>
          </a:ln>
        </p:spPr>
      </p:sp>
      <p:sp>
        <p:nvSpPr>
          <p:cNvPr id="3" name="Shape 1"/>
          <p:cNvSpPr/>
          <p:nvPr/>
        </p:nvSpPr>
        <p:spPr>
          <a:xfrm>
            <a:off x="0" y="1005840"/>
            <a:ext cx="9144000" cy="45720"/>
          </a:xfrm>
          <a:prstGeom prst="rect">
            <a:avLst/>
          </a:prstGeom>
          <a:solidFill>
            <a:srgbClr val="0D9488"/>
          </a:solidFill>
          <a:ln w="12700">
            <a:solidFill>
              <a:srgbClr val="0D9488"/>
            </a:solidFill>
            <a:prstDash val="solid"/>
          </a:ln>
        </p:spPr>
      </p:sp>
      <p:sp>
        <p:nvSpPr>
          <p:cNvPr id="4" name="Text 2"/>
          <p:cNvSpPr/>
          <p:nvPr/>
        </p:nvSpPr>
        <p:spPr>
          <a:xfrm>
            <a:off x="365760" y="91440"/>
            <a:ext cx="822960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Algoritma DBSCAN — Langkah demi Langkah</a:t>
            </a:r>
            <a:endParaRPr lang="en-US" sz="2200" dirty="0"/>
          </a:p>
        </p:txBody>
      </p:sp>
      <p:sp>
        <p:nvSpPr>
          <p:cNvPr id="5" name="Shape 3"/>
          <p:cNvSpPr/>
          <p:nvPr/>
        </p:nvSpPr>
        <p:spPr>
          <a:xfrm>
            <a:off x="274320" y="1143000"/>
            <a:ext cx="2788920" cy="173736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6" name="Shape 4"/>
          <p:cNvSpPr/>
          <p:nvPr/>
        </p:nvSpPr>
        <p:spPr>
          <a:xfrm>
            <a:off x="274320" y="1143000"/>
            <a:ext cx="2788920" cy="54864"/>
          </a:xfrm>
          <a:prstGeom prst="rect">
            <a:avLst/>
          </a:prstGeom>
          <a:solidFill>
            <a:srgbClr val="0A2342"/>
          </a:solidFill>
          <a:ln w="12700">
            <a:solidFill>
              <a:srgbClr val="0A2342"/>
            </a:solidFill>
            <a:prstDash val="solid"/>
          </a:ln>
        </p:spPr>
      </p:sp>
      <p:sp>
        <p:nvSpPr>
          <p:cNvPr id="7" name="Shape 5"/>
          <p:cNvSpPr/>
          <p:nvPr/>
        </p:nvSpPr>
        <p:spPr>
          <a:xfrm>
            <a:off x="1412748" y="1280160"/>
            <a:ext cx="512064" cy="512064"/>
          </a:xfrm>
          <a:prstGeom prst="ellipse">
            <a:avLst/>
          </a:prstGeom>
          <a:solidFill>
            <a:srgbClr val="0A2342"/>
          </a:solidFill>
          <a:ln w="12700">
            <a:solidFill>
              <a:srgbClr val="0A2342"/>
            </a:solidFill>
            <a:prstDash val="solid"/>
          </a:ln>
        </p:spPr>
      </p:sp>
      <p:sp>
        <p:nvSpPr>
          <p:cNvPr id="8" name="Text 6"/>
          <p:cNvSpPr/>
          <p:nvPr/>
        </p:nvSpPr>
        <p:spPr>
          <a:xfrm>
            <a:off x="1412748" y="1298448"/>
            <a:ext cx="512064"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365760" y="1856232"/>
            <a:ext cx="2606040" cy="27432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Pilih Titik Acak</a:t>
            </a:r>
            <a:endParaRPr lang="en-US" sz="1100" dirty="0"/>
          </a:p>
        </p:txBody>
      </p:sp>
      <p:sp>
        <p:nvSpPr>
          <p:cNvPr id="10" name="Text 8"/>
          <p:cNvSpPr/>
          <p:nvPr/>
        </p:nvSpPr>
        <p:spPr>
          <a:xfrm>
            <a:off x="365760" y="2148840"/>
            <a:ext cx="2606040" cy="658368"/>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Ambil sembarang titik yang belum diproses dari dataset.</a:t>
            </a:r>
            <a:endParaRPr lang="en-US" sz="950" dirty="0"/>
          </a:p>
        </p:txBody>
      </p:sp>
      <p:sp>
        <p:nvSpPr>
          <p:cNvPr id="11" name="Shape 9"/>
          <p:cNvSpPr/>
          <p:nvPr/>
        </p:nvSpPr>
        <p:spPr>
          <a:xfrm>
            <a:off x="3227832" y="1143000"/>
            <a:ext cx="2788920" cy="173736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12" name="Shape 10"/>
          <p:cNvSpPr/>
          <p:nvPr/>
        </p:nvSpPr>
        <p:spPr>
          <a:xfrm>
            <a:off x="3227832" y="1143000"/>
            <a:ext cx="2788920" cy="54864"/>
          </a:xfrm>
          <a:prstGeom prst="rect">
            <a:avLst/>
          </a:prstGeom>
          <a:solidFill>
            <a:srgbClr val="0A2342"/>
          </a:solidFill>
          <a:ln w="12700">
            <a:solidFill>
              <a:srgbClr val="0A2342"/>
            </a:solidFill>
            <a:prstDash val="solid"/>
          </a:ln>
        </p:spPr>
      </p:sp>
      <p:sp>
        <p:nvSpPr>
          <p:cNvPr id="13" name="Shape 11"/>
          <p:cNvSpPr/>
          <p:nvPr/>
        </p:nvSpPr>
        <p:spPr>
          <a:xfrm>
            <a:off x="4366260" y="1280160"/>
            <a:ext cx="512064" cy="512064"/>
          </a:xfrm>
          <a:prstGeom prst="ellipse">
            <a:avLst/>
          </a:prstGeom>
          <a:solidFill>
            <a:srgbClr val="0A2342"/>
          </a:solidFill>
          <a:ln w="12700">
            <a:solidFill>
              <a:srgbClr val="0A2342"/>
            </a:solidFill>
            <a:prstDash val="solid"/>
          </a:ln>
        </p:spPr>
      </p:sp>
      <p:sp>
        <p:nvSpPr>
          <p:cNvPr id="14" name="Text 12"/>
          <p:cNvSpPr/>
          <p:nvPr/>
        </p:nvSpPr>
        <p:spPr>
          <a:xfrm>
            <a:off x="4366260" y="1298448"/>
            <a:ext cx="512064"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3319272" y="1856232"/>
            <a:ext cx="2606040" cy="27432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Cek Core Point</a:t>
            </a:r>
            <a:endParaRPr lang="en-US" sz="1100" dirty="0"/>
          </a:p>
        </p:txBody>
      </p:sp>
      <p:sp>
        <p:nvSpPr>
          <p:cNvPr id="16" name="Text 14"/>
          <p:cNvSpPr/>
          <p:nvPr/>
        </p:nvSpPr>
        <p:spPr>
          <a:xfrm>
            <a:off x="3319272" y="2148840"/>
            <a:ext cx="2606040" cy="658368"/>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Hitung jumlah titik dalam radius ε. Jika ≥ MinPts → tandai sebagai Core Point.</a:t>
            </a:r>
            <a:endParaRPr lang="en-US" sz="950" dirty="0"/>
          </a:p>
        </p:txBody>
      </p:sp>
      <p:sp>
        <p:nvSpPr>
          <p:cNvPr id="17" name="Shape 15"/>
          <p:cNvSpPr/>
          <p:nvPr/>
        </p:nvSpPr>
        <p:spPr>
          <a:xfrm>
            <a:off x="6181344" y="1143000"/>
            <a:ext cx="2788920" cy="173736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18" name="Shape 16"/>
          <p:cNvSpPr/>
          <p:nvPr/>
        </p:nvSpPr>
        <p:spPr>
          <a:xfrm>
            <a:off x="6181344" y="1143000"/>
            <a:ext cx="2788920" cy="54864"/>
          </a:xfrm>
          <a:prstGeom prst="rect">
            <a:avLst/>
          </a:prstGeom>
          <a:solidFill>
            <a:srgbClr val="0A2342"/>
          </a:solidFill>
          <a:ln w="12700">
            <a:solidFill>
              <a:srgbClr val="0A2342"/>
            </a:solidFill>
            <a:prstDash val="solid"/>
          </a:ln>
        </p:spPr>
      </p:sp>
      <p:sp>
        <p:nvSpPr>
          <p:cNvPr id="19" name="Shape 17"/>
          <p:cNvSpPr/>
          <p:nvPr/>
        </p:nvSpPr>
        <p:spPr>
          <a:xfrm>
            <a:off x="7319772" y="1280160"/>
            <a:ext cx="512064" cy="512064"/>
          </a:xfrm>
          <a:prstGeom prst="ellipse">
            <a:avLst/>
          </a:prstGeom>
          <a:solidFill>
            <a:srgbClr val="0A2342"/>
          </a:solidFill>
          <a:ln w="12700">
            <a:solidFill>
              <a:srgbClr val="0A2342"/>
            </a:solidFill>
            <a:prstDash val="solid"/>
          </a:ln>
        </p:spPr>
      </p:sp>
      <p:sp>
        <p:nvSpPr>
          <p:cNvPr id="20" name="Text 18"/>
          <p:cNvSpPr/>
          <p:nvPr/>
        </p:nvSpPr>
        <p:spPr>
          <a:xfrm>
            <a:off x="7319772" y="1298448"/>
            <a:ext cx="512064"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p:nvPr/>
        </p:nvSpPr>
        <p:spPr>
          <a:xfrm>
            <a:off x="6272784" y="1856232"/>
            <a:ext cx="2606040" cy="27432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Buat Cluster Baru</a:t>
            </a:r>
            <a:endParaRPr lang="en-US" sz="1100" dirty="0"/>
          </a:p>
        </p:txBody>
      </p:sp>
      <p:sp>
        <p:nvSpPr>
          <p:cNvPr id="22" name="Text 20"/>
          <p:cNvSpPr/>
          <p:nvPr/>
        </p:nvSpPr>
        <p:spPr>
          <a:xfrm>
            <a:off x="6272784" y="2148840"/>
            <a:ext cx="2606040" cy="658368"/>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Jika Core Point, buat cluster baru. Masukkan semua titik dalam radius ε ke cluster ini.</a:t>
            </a:r>
            <a:endParaRPr lang="en-US" sz="950" dirty="0"/>
          </a:p>
        </p:txBody>
      </p:sp>
      <p:sp>
        <p:nvSpPr>
          <p:cNvPr id="23" name="Shape 21"/>
          <p:cNvSpPr/>
          <p:nvPr/>
        </p:nvSpPr>
        <p:spPr>
          <a:xfrm>
            <a:off x="274320" y="3017520"/>
            <a:ext cx="2788920" cy="173736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24" name="Shape 22"/>
          <p:cNvSpPr/>
          <p:nvPr/>
        </p:nvSpPr>
        <p:spPr>
          <a:xfrm>
            <a:off x="274320" y="3017520"/>
            <a:ext cx="2788920" cy="54864"/>
          </a:xfrm>
          <a:prstGeom prst="rect">
            <a:avLst/>
          </a:prstGeom>
          <a:solidFill>
            <a:srgbClr val="0A2342"/>
          </a:solidFill>
          <a:ln w="12700">
            <a:solidFill>
              <a:srgbClr val="0A2342"/>
            </a:solidFill>
            <a:prstDash val="solid"/>
          </a:ln>
        </p:spPr>
      </p:sp>
      <p:sp>
        <p:nvSpPr>
          <p:cNvPr id="25" name="Shape 23"/>
          <p:cNvSpPr/>
          <p:nvPr/>
        </p:nvSpPr>
        <p:spPr>
          <a:xfrm>
            <a:off x="1412748" y="3154680"/>
            <a:ext cx="512064" cy="512064"/>
          </a:xfrm>
          <a:prstGeom prst="ellipse">
            <a:avLst/>
          </a:prstGeom>
          <a:solidFill>
            <a:srgbClr val="0A2342"/>
          </a:solidFill>
          <a:ln w="12700">
            <a:solidFill>
              <a:srgbClr val="0A2342"/>
            </a:solidFill>
            <a:prstDash val="solid"/>
          </a:ln>
        </p:spPr>
      </p:sp>
      <p:sp>
        <p:nvSpPr>
          <p:cNvPr id="26" name="Text 24"/>
          <p:cNvSpPr/>
          <p:nvPr/>
        </p:nvSpPr>
        <p:spPr>
          <a:xfrm>
            <a:off x="1412748" y="3172968"/>
            <a:ext cx="512064"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Text 25"/>
          <p:cNvSpPr/>
          <p:nvPr/>
        </p:nvSpPr>
        <p:spPr>
          <a:xfrm>
            <a:off x="365760" y="3730752"/>
            <a:ext cx="2606040" cy="27432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Expand Cluster</a:t>
            </a:r>
            <a:endParaRPr lang="en-US" sz="1100" dirty="0"/>
          </a:p>
        </p:txBody>
      </p:sp>
      <p:sp>
        <p:nvSpPr>
          <p:cNvPr id="28" name="Text 26"/>
          <p:cNvSpPr/>
          <p:nvPr/>
        </p:nvSpPr>
        <p:spPr>
          <a:xfrm>
            <a:off x="365760" y="4023360"/>
            <a:ext cx="2606040" cy="658368"/>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Untuk setiap Core Point dalam cluster, tambahkan tetangga-tetangganya (dan seterusnya secara rekursif).</a:t>
            </a:r>
            <a:endParaRPr lang="en-US" sz="950" dirty="0"/>
          </a:p>
        </p:txBody>
      </p:sp>
      <p:sp>
        <p:nvSpPr>
          <p:cNvPr id="29" name="Shape 27"/>
          <p:cNvSpPr/>
          <p:nvPr/>
        </p:nvSpPr>
        <p:spPr>
          <a:xfrm>
            <a:off x="3227832" y="3017520"/>
            <a:ext cx="2788920" cy="173736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30" name="Shape 28"/>
          <p:cNvSpPr/>
          <p:nvPr/>
        </p:nvSpPr>
        <p:spPr>
          <a:xfrm>
            <a:off x="3227832" y="3017520"/>
            <a:ext cx="2788920" cy="54864"/>
          </a:xfrm>
          <a:prstGeom prst="rect">
            <a:avLst/>
          </a:prstGeom>
          <a:solidFill>
            <a:srgbClr val="0A2342"/>
          </a:solidFill>
          <a:ln w="12700">
            <a:solidFill>
              <a:srgbClr val="0A2342"/>
            </a:solidFill>
            <a:prstDash val="solid"/>
          </a:ln>
        </p:spPr>
      </p:sp>
      <p:sp>
        <p:nvSpPr>
          <p:cNvPr id="31" name="Shape 29"/>
          <p:cNvSpPr/>
          <p:nvPr/>
        </p:nvSpPr>
        <p:spPr>
          <a:xfrm>
            <a:off x="4366260" y="3154680"/>
            <a:ext cx="512064" cy="512064"/>
          </a:xfrm>
          <a:prstGeom prst="ellipse">
            <a:avLst/>
          </a:prstGeom>
          <a:solidFill>
            <a:srgbClr val="0A2342"/>
          </a:solidFill>
          <a:ln w="12700">
            <a:solidFill>
              <a:srgbClr val="0A2342"/>
            </a:solidFill>
            <a:prstDash val="solid"/>
          </a:ln>
        </p:spPr>
      </p:sp>
      <p:sp>
        <p:nvSpPr>
          <p:cNvPr id="32" name="Text 30"/>
          <p:cNvSpPr/>
          <p:nvPr/>
        </p:nvSpPr>
        <p:spPr>
          <a:xfrm>
            <a:off x="4366260" y="3172968"/>
            <a:ext cx="512064"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3" name="Text 31"/>
          <p:cNvSpPr/>
          <p:nvPr/>
        </p:nvSpPr>
        <p:spPr>
          <a:xfrm>
            <a:off x="3319272" y="3730752"/>
            <a:ext cx="2606040" cy="27432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Tandai Noise</a:t>
            </a:r>
            <a:endParaRPr lang="en-US" sz="1100" dirty="0"/>
          </a:p>
        </p:txBody>
      </p:sp>
      <p:sp>
        <p:nvSpPr>
          <p:cNvPr id="34" name="Text 32"/>
          <p:cNvSpPr/>
          <p:nvPr/>
        </p:nvSpPr>
        <p:spPr>
          <a:xfrm>
            <a:off x="3319272" y="4023360"/>
            <a:ext cx="2606040" cy="658368"/>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Jika titik bukan Core Point dan tidak dalam radius ε dari Core Point mana pun → tandai sebagai Noise.</a:t>
            </a:r>
            <a:endParaRPr lang="en-US" sz="950" dirty="0"/>
          </a:p>
        </p:txBody>
      </p:sp>
      <p:sp>
        <p:nvSpPr>
          <p:cNvPr id="35" name="Shape 33"/>
          <p:cNvSpPr/>
          <p:nvPr/>
        </p:nvSpPr>
        <p:spPr>
          <a:xfrm>
            <a:off x="6181344" y="3017520"/>
            <a:ext cx="2788920" cy="173736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36" name="Shape 34"/>
          <p:cNvSpPr/>
          <p:nvPr/>
        </p:nvSpPr>
        <p:spPr>
          <a:xfrm>
            <a:off x="6181344" y="3017520"/>
            <a:ext cx="2788920" cy="54864"/>
          </a:xfrm>
          <a:prstGeom prst="rect">
            <a:avLst/>
          </a:prstGeom>
          <a:solidFill>
            <a:srgbClr val="0A2342"/>
          </a:solidFill>
          <a:ln w="12700">
            <a:solidFill>
              <a:srgbClr val="0A2342"/>
            </a:solidFill>
            <a:prstDash val="solid"/>
          </a:ln>
        </p:spPr>
      </p:sp>
      <p:sp>
        <p:nvSpPr>
          <p:cNvPr id="37" name="Shape 35"/>
          <p:cNvSpPr/>
          <p:nvPr/>
        </p:nvSpPr>
        <p:spPr>
          <a:xfrm>
            <a:off x="7319772" y="3154680"/>
            <a:ext cx="512064" cy="512064"/>
          </a:xfrm>
          <a:prstGeom prst="ellipse">
            <a:avLst/>
          </a:prstGeom>
          <a:solidFill>
            <a:srgbClr val="0A2342"/>
          </a:solidFill>
          <a:ln w="12700">
            <a:solidFill>
              <a:srgbClr val="0A2342"/>
            </a:solidFill>
            <a:prstDash val="solid"/>
          </a:ln>
        </p:spPr>
      </p:sp>
      <p:sp>
        <p:nvSpPr>
          <p:cNvPr id="38" name="Text 36"/>
          <p:cNvSpPr/>
          <p:nvPr/>
        </p:nvSpPr>
        <p:spPr>
          <a:xfrm>
            <a:off x="7319772" y="3172968"/>
            <a:ext cx="512064"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9" name="Text 37"/>
          <p:cNvSpPr/>
          <p:nvPr/>
        </p:nvSpPr>
        <p:spPr>
          <a:xfrm>
            <a:off x="6272784" y="3730752"/>
            <a:ext cx="2606040" cy="27432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Ulangi</a:t>
            </a:r>
            <a:endParaRPr lang="en-US" sz="1100" dirty="0"/>
          </a:p>
        </p:txBody>
      </p:sp>
      <p:sp>
        <p:nvSpPr>
          <p:cNvPr id="40" name="Text 38"/>
          <p:cNvSpPr/>
          <p:nvPr/>
        </p:nvSpPr>
        <p:spPr>
          <a:xfrm>
            <a:off x="6272784" y="4023360"/>
            <a:ext cx="2606040" cy="658368"/>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Lanjutkan ke titik yang belum diproses. Ulangi sampai semua titik sudah diproses.</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342"/>
          </a:solidFill>
          <a:ln w="12700">
            <a:solidFill>
              <a:srgbClr val="0A2342"/>
            </a:solidFill>
            <a:prstDash val="solid"/>
          </a:ln>
        </p:spPr>
      </p:sp>
      <p:sp>
        <p:nvSpPr>
          <p:cNvPr id="3" name="Shape 1"/>
          <p:cNvSpPr/>
          <p:nvPr/>
        </p:nvSpPr>
        <p:spPr>
          <a:xfrm>
            <a:off x="0" y="1005840"/>
            <a:ext cx="9144000" cy="45720"/>
          </a:xfrm>
          <a:prstGeom prst="rect">
            <a:avLst/>
          </a:prstGeom>
          <a:solidFill>
            <a:srgbClr val="0D9488"/>
          </a:solidFill>
          <a:ln w="12700">
            <a:solidFill>
              <a:srgbClr val="0D9488"/>
            </a:solidFill>
            <a:prstDash val="solid"/>
          </a:ln>
        </p:spPr>
      </p:sp>
      <p:sp>
        <p:nvSpPr>
          <p:cNvPr id="4" name="Text 2"/>
          <p:cNvSpPr/>
          <p:nvPr/>
        </p:nvSpPr>
        <p:spPr>
          <a:xfrm>
            <a:off x="365760" y="91440"/>
            <a:ext cx="822960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K-Means vs DBSCAN — Perbandingan Lengkap</a:t>
            </a:r>
            <a:endParaRPr lang="en-US" sz="2200" dirty="0"/>
          </a:p>
        </p:txBody>
      </p:sp>
      <p:sp>
        <p:nvSpPr>
          <p:cNvPr id="5" name="Text 3"/>
          <p:cNvSpPr/>
          <p:nvPr/>
        </p:nvSpPr>
        <p:spPr>
          <a:xfrm>
            <a:off x="365760" y="658368"/>
            <a:ext cx="8229600" cy="320040"/>
          </a:xfrm>
          <a:prstGeom prst="rect">
            <a:avLst/>
          </a:prstGeom>
          <a:noFill/>
          <a:ln/>
        </p:spPr>
        <p:txBody>
          <a:bodyPr wrap="square" lIns="0" tIns="0" rIns="0" bIns="0" rtlCol="0" anchor="ctr"/>
          <a:lstStyle/>
          <a:p>
            <a:pPr marL="0" indent="0">
              <a:buNone/>
            </a:pPr>
            <a:r>
              <a:rPr lang="en-US" sz="1100" dirty="0">
                <a:solidFill>
                  <a:srgbClr val="60A5FA"/>
                </a:solidFill>
                <a:latin typeface="Calibri" pitchFamily="34" charset="0"/>
                <a:ea typeface="Calibri" pitchFamily="34" charset="-122"/>
                <a:cs typeface="Calibri" pitchFamily="34" charset="-120"/>
              </a:rPr>
              <a:t>Kapan menggunakan yang mana?</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274320" y="1143000"/>
          <a:ext cx="8595360" cy="3072384"/>
        </p:xfrm>
        <a:graphic>
          <a:graphicData uri="http://schemas.openxmlformats.org/drawingml/2006/table">
            <a:tbl>
              <a:tblPr/>
              <a:tblGrid>
                <a:gridCol w="219456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384048">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Aspek</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K-Means</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56D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DBSCAN</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D9488"/>
                    </a:solidFill>
                  </a:tcPr>
                </a:tc>
                <a:extLst>
                  <a:ext uri="{0D108BD9-81ED-4DB2-BD59-A6C34878D82A}">
                    <a16:rowId xmlns:a16="http://schemas.microsoft.com/office/drawing/2014/main" val="10000"/>
                  </a:ext>
                </a:extLst>
              </a:tr>
              <a:tr h="384048">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Perlu tentukan k?</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 Ya (wajib)</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 Tidak</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Bentuk cluster</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Hanya bulat (spherical)</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Bebas (arbitrary shape)</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Handling outlier</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Tidak (outlier masuk cluster)</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 Ya (ditandai sebagai noise)</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Kompleksitas waktu</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O(n × k × iterasi)</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O(n log n) dengan indexing</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Parameter utama</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k (jumlah cluster)</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ε dan MinPts</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Kelemahan</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Butuh k, sensitif outlier</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Butuh tuning ε &amp; MinPts</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Kapan dipakai</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Cluster bulat, k diketahui</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Cluster aneh, ada outlier</a:t>
                      </a:r>
                      <a:endParaRPr lang="en-US" sz="10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Text 4"/>
          <p:cNvSpPr/>
          <p:nvPr/>
        </p:nvSpPr>
        <p:spPr>
          <a:xfrm>
            <a:off x="274320" y="4736592"/>
            <a:ext cx="8595360" cy="256032"/>
          </a:xfrm>
          <a:prstGeom prst="rect">
            <a:avLst/>
          </a:prstGeom>
          <a:noFill/>
          <a:ln/>
        </p:spPr>
        <p:txBody>
          <a:bodyPr wrap="square" lIns="0" tIns="0" rIns="0" bIns="0" rtlCol="0" anchor="ctr"/>
          <a:lstStyle/>
          <a:p>
            <a:pPr marL="0" indent="0">
              <a:buNone/>
            </a:pPr>
            <a:r>
              <a:rPr lang="en-US" sz="1000" b="1" i="1" dirty="0">
                <a:solidFill>
                  <a:srgbClr val="0D9488"/>
                </a:solidFill>
                <a:latin typeface="Calibri" pitchFamily="34" charset="0"/>
                <a:ea typeface="Calibri" pitchFamily="34" charset="-122"/>
                <a:cs typeface="Calibri" pitchFamily="34" charset="-120"/>
              </a:rPr>
              <a:t>💡 Rekomendasi: Mulai dengan K-Means untuk kesederhanaan. Gunakan DBSCAN jika data punya outlier atau cluster berbentuk tidak beraturan.</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342"/>
          </a:solidFill>
          <a:ln w="12700">
            <a:solidFill>
              <a:srgbClr val="0A2342"/>
            </a:solidFill>
            <a:prstDash val="solid"/>
          </a:ln>
        </p:spPr>
      </p:sp>
      <p:sp>
        <p:nvSpPr>
          <p:cNvPr id="3" name="Shape 1"/>
          <p:cNvSpPr/>
          <p:nvPr/>
        </p:nvSpPr>
        <p:spPr>
          <a:xfrm>
            <a:off x="0" y="1005840"/>
            <a:ext cx="9144000" cy="45720"/>
          </a:xfrm>
          <a:prstGeom prst="rect">
            <a:avLst/>
          </a:prstGeom>
          <a:solidFill>
            <a:srgbClr val="0D9488"/>
          </a:solidFill>
          <a:ln w="12700">
            <a:solidFill>
              <a:srgbClr val="0D9488"/>
            </a:solidFill>
            <a:prstDash val="solid"/>
          </a:ln>
        </p:spPr>
      </p:sp>
      <p:sp>
        <p:nvSpPr>
          <p:cNvPr id="4" name="Text 2"/>
          <p:cNvSpPr/>
          <p:nvPr/>
        </p:nvSpPr>
        <p:spPr>
          <a:xfrm>
            <a:off x="365760" y="91440"/>
            <a:ext cx="822960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Implementasi Clustering dengan Python (scikit-learn)</a:t>
            </a:r>
            <a:endParaRPr lang="en-US" sz="2200" dirty="0"/>
          </a:p>
        </p:txBody>
      </p:sp>
      <p:sp>
        <p:nvSpPr>
          <p:cNvPr id="5" name="Text 3"/>
          <p:cNvSpPr/>
          <p:nvPr/>
        </p:nvSpPr>
        <p:spPr>
          <a:xfrm>
            <a:off x="274320" y="1097280"/>
            <a:ext cx="4206240" cy="256032"/>
          </a:xfrm>
          <a:prstGeom prst="rect">
            <a:avLst/>
          </a:prstGeom>
          <a:noFill/>
          <a:ln/>
        </p:spPr>
        <p:txBody>
          <a:bodyPr wrap="square" lIns="0" tIns="0" rIns="0" bIns="0" rtlCol="0" anchor="ctr"/>
          <a:lstStyle/>
          <a:p>
            <a:pPr marL="0" indent="0">
              <a:buNone/>
            </a:pPr>
            <a:r>
              <a:rPr lang="en-US" sz="1200" b="1" dirty="0">
                <a:solidFill>
                  <a:srgbClr val="1A56DB"/>
                </a:solidFill>
                <a:latin typeface="Calibri" pitchFamily="34" charset="0"/>
                <a:ea typeface="Calibri" pitchFamily="34" charset="-122"/>
                <a:cs typeface="Calibri" pitchFamily="34" charset="-120"/>
              </a:rPr>
              <a:t>K-Means</a:t>
            </a:r>
            <a:endParaRPr lang="en-US" sz="1200" dirty="0"/>
          </a:p>
        </p:txBody>
      </p:sp>
      <p:sp>
        <p:nvSpPr>
          <p:cNvPr id="6" name="Text 4"/>
          <p:cNvSpPr/>
          <p:nvPr/>
        </p:nvSpPr>
        <p:spPr>
          <a:xfrm>
            <a:off x="4663440" y="1097280"/>
            <a:ext cx="4206240" cy="256032"/>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DBSCAN</a:t>
            </a:r>
            <a:endParaRPr lang="en-US" sz="1200" dirty="0"/>
          </a:p>
        </p:txBody>
      </p:sp>
      <p:sp>
        <p:nvSpPr>
          <p:cNvPr id="7" name="Shape 5"/>
          <p:cNvSpPr/>
          <p:nvPr/>
        </p:nvSpPr>
        <p:spPr>
          <a:xfrm>
            <a:off x="274320" y="1371600"/>
            <a:ext cx="4206240" cy="3383280"/>
          </a:xfrm>
          <a:prstGeom prst="rect">
            <a:avLst/>
          </a:prstGeom>
          <a:solidFill>
            <a:srgbClr val="1E293B"/>
          </a:solidFill>
          <a:ln w="12700">
            <a:solidFill>
              <a:srgbClr val="334155"/>
            </a:solidFill>
            <a:prstDash val="solid"/>
          </a:ln>
          <a:effectLst>
            <a:outerShdw blurRad="101600" dist="25400" dir="8100000" algn="bl" rotWithShape="0">
              <a:srgbClr val="000000">
                <a:alpha val="10000"/>
              </a:srgbClr>
            </a:outerShdw>
          </a:effectLst>
        </p:spPr>
      </p:sp>
      <p:sp>
        <p:nvSpPr>
          <p:cNvPr id="8" name="Shape 6"/>
          <p:cNvSpPr/>
          <p:nvPr/>
        </p:nvSpPr>
        <p:spPr>
          <a:xfrm>
            <a:off x="274320" y="1371600"/>
            <a:ext cx="4206240" cy="256032"/>
          </a:xfrm>
          <a:prstGeom prst="rect">
            <a:avLst/>
          </a:prstGeom>
          <a:solidFill>
            <a:srgbClr val="334155"/>
          </a:solidFill>
          <a:ln w="12700">
            <a:solidFill>
              <a:srgbClr val="334155"/>
            </a:solidFill>
            <a:prstDash val="solid"/>
          </a:ln>
        </p:spPr>
      </p:sp>
      <p:sp>
        <p:nvSpPr>
          <p:cNvPr id="9" name="Text 7"/>
          <p:cNvSpPr/>
          <p:nvPr/>
        </p:nvSpPr>
        <p:spPr>
          <a:xfrm>
            <a:off x="384048" y="1389888"/>
            <a:ext cx="1371600" cy="219456"/>
          </a:xfrm>
          <a:prstGeom prst="rect">
            <a:avLst/>
          </a:prstGeom>
          <a:noFill/>
          <a:ln/>
        </p:spPr>
        <p:txBody>
          <a:bodyPr wrap="square" lIns="0" tIns="0" rIns="0" bIns="0" rtlCol="0" anchor="ctr"/>
          <a:lstStyle/>
          <a:p>
            <a:pPr marL="0" indent="0">
              <a:buNone/>
            </a:pPr>
            <a:r>
              <a:rPr lang="en-US" sz="900" dirty="0">
                <a:solidFill>
                  <a:srgbClr val="94A3B8"/>
                </a:solidFill>
                <a:latin typeface="Consolas" pitchFamily="34" charset="0"/>
                <a:ea typeface="Consolas" pitchFamily="34" charset="-122"/>
                <a:cs typeface="Consolas" pitchFamily="34" charset="-120"/>
              </a:rPr>
              <a:t>Python</a:t>
            </a:r>
            <a:endParaRPr lang="en-US" sz="900" dirty="0"/>
          </a:p>
        </p:txBody>
      </p:sp>
      <p:sp>
        <p:nvSpPr>
          <p:cNvPr id="10" name="Text 8"/>
          <p:cNvSpPr/>
          <p:nvPr/>
        </p:nvSpPr>
        <p:spPr>
          <a:xfrm>
            <a:off x="384048" y="1664208"/>
            <a:ext cx="4005072" cy="3035808"/>
          </a:xfrm>
          <a:prstGeom prst="rect">
            <a:avLst/>
          </a:prstGeom>
          <a:noFill/>
          <a:ln/>
        </p:spPr>
        <p:txBody>
          <a:bodyPr wrap="square" lIns="0" tIns="0" rIns="0" bIns="0" rtlCol="0" anchor="ctr"/>
          <a:lstStyle/>
          <a:p>
            <a:pPr marL="0" indent="0">
              <a:buNone/>
            </a:pPr>
            <a:r>
              <a:rPr lang="en-US" sz="850" dirty="0">
                <a:solidFill>
                  <a:srgbClr val="7DD3FC"/>
                </a:solidFill>
                <a:latin typeface="Consolas" pitchFamily="34" charset="0"/>
                <a:ea typeface="Consolas" pitchFamily="34" charset="-122"/>
                <a:cs typeface="Consolas" pitchFamily="34" charset="-120"/>
              </a:rPr>
              <a:t>from sklearn.cluster import KMeans</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from sklearn.preprocessing import StandardScaler</a:t>
            </a:r>
            <a:endParaRPr lang="en-US" sz="850" dirty="0"/>
          </a:p>
          <a:p>
            <a:pPr marL="0" indent="0">
              <a:buNone/>
            </a:pP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Preprocessing</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scaler = StandardScaler()</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X_scaled = scaler.fit_transform(X)</a:t>
            </a:r>
            <a:endParaRPr lang="en-US" sz="850" dirty="0"/>
          </a:p>
          <a:p>
            <a:pPr marL="0" indent="0">
              <a:buNone/>
            </a:pP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K-Means dengan k=3</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kmeans = KMeans(n_clusters=3,</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random_state=42,</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n_init=10)</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kmeans.fit(X_scaled)</a:t>
            </a:r>
            <a:endParaRPr lang="en-US" sz="850" dirty="0"/>
          </a:p>
          <a:p>
            <a:pPr marL="0" indent="0">
              <a:buNone/>
            </a:pP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labels = kmeans.labels_</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centers = kmeans.cluster_centers_</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print("Inertia:", kmeans.inertia_)</a:t>
            </a:r>
            <a:endParaRPr lang="en-US" sz="850" dirty="0"/>
          </a:p>
        </p:txBody>
      </p:sp>
      <p:sp>
        <p:nvSpPr>
          <p:cNvPr id="11" name="Shape 9"/>
          <p:cNvSpPr/>
          <p:nvPr/>
        </p:nvSpPr>
        <p:spPr>
          <a:xfrm>
            <a:off x="4663440" y="1371600"/>
            <a:ext cx="4206240" cy="3383280"/>
          </a:xfrm>
          <a:prstGeom prst="rect">
            <a:avLst/>
          </a:prstGeom>
          <a:solidFill>
            <a:srgbClr val="1E293B"/>
          </a:solidFill>
          <a:ln w="12700">
            <a:solidFill>
              <a:srgbClr val="334155"/>
            </a:solidFill>
            <a:prstDash val="solid"/>
          </a:ln>
          <a:effectLst>
            <a:outerShdw blurRad="101600" dist="25400" dir="8100000" algn="bl" rotWithShape="0">
              <a:srgbClr val="000000">
                <a:alpha val="10000"/>
              </a:srgbClr>
            </a:outerShdw>
          </a:effectLst>
        </p:spPr>
      </p:sp>
      <p:sp>
        <p:nvSpPr>
          <p:cNvPr id="12" name="Shape 10"/>
          <p:cNvSpPr/>
          <p:nvPr/>
        </p:nvSpPr>
        <p:spPr>
          <a:xfrm>
            <a:off x="4663440" y="1371600"/>
            <a:ext cx="4206240" cy="256032"/>
          </a:xfrm>
          <a:prstGeom prst="rect">
            <a:avLst/>
          </a:prstGeom>
          <a:solidFill>
            <a:srgbClr val="334155"/>
          </a:solidFill>
          <a:ln w="12700">
            <a:solidFill>
              <a:srgbClr val="334155"/>
            </a:solidFill>
            <a:prstDash val="solid"/>
          </a:ln>
        </p:spPr>
      </p:sp>
      <p:sp>
        <p:nvSpPr>
          <p:cNvPr id="13" name="Text 11"/>
          <p:cNvSpPr/>
          <p:nvPr/>
        </p:nvSpPr>
        <p:spPr>
          <a:xfrm>
            <a:off x="4773168" y="1389888"/>
            <a:ext cx="1371600" cy="219456"/>
          </a:xfrm>
          <a:prstGeom prst="rect">
            <a:avLst/>
          </a:prstGeom>
          <a:noFill/>
          <a:ln/>
        </p:spPr>
        <p:txBody>
          <a:bodyPr wrap="square" lIns="0" tIns="0" rIns="0" bIns="0" rtlCol="0" anchor="ctr"/>
          <a:lstStyle/>
          <a:p>
            <a:pPr marL="0" indent="0">
              <a:buNone/>
            </a:pPr>
            <a:r>
              <a:rPr lang="en-US" sz="900" dirty="0">
                <a:solidFill>
                  <a:srgbClr val="94A3B8"/>
                </a:solidFill>
                <a:latin typeface="Consolas" pitchFamily="34" charset="0"/>
                <a:ea typeface="Consolas" pitchFamily="34" charset="-122"/>
                <a:cs typeface="Consolas" pitchFamily="34" charset="-120"/>
              </a:rPr>
              <a:t>Python</a:t>
            </a:r>
            <a:endParaRPr lang="en-US" sz="900" dirty="0"/>
          </a:p>
        </p:txBody>
      </p:sp>
      <p:sp>
        <p:nvSpPr>
          <p:cNvPr id="14" name="Text 12"/>
          <p:cNvSpPr/>
          <p:nvPr/>
        </p:nvSpPr>
        <p:spPr>
          <a:xfrm>
            <a:off x="4773168" y="1664208"/>
            <a:ext cx="4005072" cy="3035808"/>
          </a:xfrm>
          <a:prstGeom prst="rect">
            <a:avLst/>
          </a:prstGeom>
          <a:noFill/>
          <a:ln/>
        </p:spPr>
        <p:txBody>
          <a:bodyPr wrap="square" lIns="0" tIns="0" rIns="0" bIns="0" rtlCol="0" anchor="ctr"/>
          <a:lstStyle/>
          <a:p>
            <a:pPr marL="0" indent="0">
              <a:buNone/>
            </a:pPr>
            <a:r>
              <a:rPr lang="en-US" sz="850" dirty="0">
                <a:solidFill>
                  <a:srgbClr val="7DD3FC"/>
                </a:solidFill>
                <a:latin typeface="Consolas" pitchFamily="34" charset="0"/>
                <a:ea typeface="Consolas" pitchFamily="34" charset="-122"/>
                <a:cs typeface="Consolas" pitchFamily="34" charset="-120"/>
              </a:rPr>
              <a:t>from sklearn.cluster import DBSCAN</a:t>
            </a:r>
            <a:endParaRPr lang="en-US" sz="850" dirty="0"/>
          </a:p>
          <a:p>
            <a:pPr marL="0" indent="0">
              <a:buNone/>
            </a:pP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DBSCAN (tidak perlu k!)</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dbscan = DBSCAN(eps=0.5,</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min_samples=5)</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dbscan.fit(X_scaled)</a:t>
            </a:r>
            <a:endParaRPr lang="en-US" sz="850" dirty="0"/>
          </a:p>
          <a:p>
            <a:pPr marL="0" indent="0">
              <a:buNone/>
            </a:pP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labels = dbscan.labels_</a:t>
            </a:r>
            <a:endParaRPr lang="en-US" sz="850" dirty="0"/>
          </a:p>
          <a:p>
            <a:pPr marL="0" indent="0">
              <a:buNone/>
            </a:pP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 Hitung jumlah cluster &amp; noise</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n_clusters = len(set(labels)) - (1 if -1 in labels else 0)</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n_noise = list(labels).count(-1)</a:t>
            </a:r>
            <a:endParaRPr lang="en-US" sz="850" dirty="0"/>
          </a:p>
          <a:p>
            <a:pPr marL="0" indent="0">
              <a:buNone/>
            </a:pP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print(f"Clusters: {n_clusters}")</a:t>
            </a:r>
            <a:endParaRPr lang="en-US" sz="850" dirty="0"/>
          </a:p>
          <a:p>
            <a:pPr marL="0" indent="0">
              <a:buNone/>
            </a:pPr>
            <a:r>
              <a:rPr lang="en-US" sz="850" dirty="0">
                <a:solidFill>
                  <a:srgbClr val="7DD3FC"/>
                </a:solidFill>
                <a:latin typeface="Consolas" pitchFamily="34" charset="0"/>
                <a:ea typeface="Consolas" pitchFamily="34" charset="-122"/>
                <a:cs typeface="Consolas" pitchFamily="34" charset="-120"/>
              </a:rPr>
              <a:t>print(f"Noise points: {n_noise}")</a:t>
            </a:r>
            <a:endParaRPr lang="en-US" sz="850" dirty="0"/>
          </a:p>
        </p:txBody>
      </p:sp>
      <p:sp>
        <p:nvSpPr>
          <p:cNvPr id="15" name="Shape 13"/>
          <p:cNvSpPr/>
          <p:nvPr/>
        </p:nvSpPr>
        <p:spPr>
          <a:xfrm>
            <a:off x="274320" y="4828032"/>
            <a:ext cx="8595360" cy="201168"/>
          </a:xfrm>
          <a:prstGeom prst="rect">
            <a:avLst/>
          </a:prstGeom>
          <a:solidFill>
            <a:srgbClr val="F0FDF4"/>
          </a:solidFill>
          <a:ln w="12700">
            <a:solidFill>
              <a:srgbClr val="10B981"/>
            </a:solidFill>
            <a:prstDash val="solid"/>
          </a:ln>
        </p:spPr>
      </p:sp>
      <p:sp>
        <p:nvSpPr>
          <p:cNvPr id="16" name="Text 14"/>
          <p:cNvSpPr/>
          <p:nvPr/>
        </p:nvSpPr>
        <p:spPr>
          <a:xfrm>
            <a:off x="411480" y="4837176"/>
            <a:ext cx="8321040" cy="182880"/>
          </a:xfrm>
          <a:prstGeom prst="rect">
            <a:avLst/>
          </a:prstGeom>
          <a:noFill/>
          <a:ln/>
        </p:spPr>
        <p:txBody>
          <a:bodyPr wrap="square" lIns="0" tIns="0" rIns="0" bIns="0" rtlCol="0" anchor="ctr"/>
          <a:lstStyle/>
          <a:p>
            <a:pPr marL="0" indent="0">
              <a:buNone/>
            </a:pPr>
            <a:r>
              <a:rPr lang="en-US" sz="950" dirty="0">
                <a:solidFill>
                  <a:srgbClr val="10B981"/>
                </a:solidFill>
                <a:latin typeface="Calibri" pitchFamily="34" charset="0"/>
                <a:ea typeface="Calibri" pitchFamily="34" charset="-122"/>
                <a:cs typeface="Calibri" pitchFamily="34" charset="-120"/>
              </a:rPr>
              <a:t>Label -1 di DBSCAN berarti noise/outlier. Cluster valid diberi label 0, 1, 2, ...</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0" y="-1828800"/>
            <a:ext cx="7315200" cy="7315200"/>
          </a:xfrm>
          <a:prstGeom prst="ellipse">
            <a:avLst/>
          </a:prstGeom>
          <a:solidFill>
            <a:srgbClr val="0F172A"/>
          </a:solidFill>
          <a:ln w="12700">
            <a:solidFill>
              <a:srgbClr val="0F172A"/>
            </a:solidFill>
            <a:prstDash val="solid"/>
          </a:ln>
        </p:spPr>
      </p:sp>
      <p:sp>
        <p:nvSpPr>
          <p:cNvPr id="3" name="Shape 1"/>
          <p:cNvSpPr/>
          <p:nvPr/>
        </p:nvSpPr>
        <p:spPr>
          <a:xfrm>
            <a:off x="457200" y="1371600"/>
            <a:ext cx="91440" cy="2286000"/>
          </a:xfrm>
          <a:prstGeom prst="rect">
            <a:avLst/>
          </a:prstGeom>
          <a:solidFill>
            <a:srgbClr val="10B981"/>
          </a:solidFill>
          <a:ln w="12700">
            <a:solidFill>
              <a:srgbClr val="10B981"/>
            </a:solidFill>
            <a:prstDash val="solid"/>
          </a:ln>
        </p:spPr>
      </p:sp>
      <p:sp>
        <p:nvSpPr>
          <p:cNvPr id="4" name="Text 2"/>
          <p:cNvSpPr/>
          <p:nvPr/>
        </p:nvSpPr>
        <p:spPr>
          <a:xfrm>
            <a:off x="685800" y="1417320"/>
            <a:ext cx="4572000" cy="320040"/>
          </a:xfrm>
          <a:prstGeom prst="rect">
            <a:avLst/>
          </a:prstGeom>
          <a:noFill/>
          <a:ln/>
        </p:spPr>
        <p:txBody>
          <a:bodyPr wrap="square" lIns="0" tIns="0" rIns="0" bIns="0" rtlCol="0" anchor="ctr"/>
          <a:lstStyle/>
          <a:p>
            <a:pPr marL="0" indent="0">
              <a:buNone/>
            </a:pPr>
            <a:r>
              <a:rPr lang="en-US" sz="1200" b="1" kern="0" spc="400" dirty="0">
                <a:solidFill>
                  <a:srgbClr val="10B981"/>
                </a:solidFill>
                <a:latin typeface="Calibri" pitchFamily="34" charset="0"/>
                <a:ea typeface="Calibri" pitchFamily="34" charset="-122"/>
                <a:cs typeface="Calibri" pitchFamily="34" charset="-120"/>
              </a:rPr>
              <a:t>BAGIAN 3</a:t>
            </a:r>
            <a:endParaRPr lang="en-US" sz="1200" dirty="0"/>
          </a:p>
        </p:txBody>
      </p:sp>
      <p:sp>
        <p:nvSpPr>
          <p:cNvPr id="5" name="Text 3"/>
          <p:cNvSpPr/>
          <p:nvPr/>
        </p:nvSpPr>
        <p:spPr>
          <a:xfrm>
            <a:off x="685800" y="1783080"/>
            <a:ext cx="6858000" cy="82296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Evaluasi</a:t>
            </a:r>
            <a:endParaRPr lang="en-US" sz="4800" dirty="0"/>
          </a:p>
        </p:txBody>
      </p:sp>
      <p:sp>
        <p:nvSpPr>
          <p:cNvPr id="6" name="Text 4"/>
          <p:cNvSpPr/>
          <p:nvPr/>
        </p:nvSpPr>
        <p:spPr>
          <a:xfrm>
            <a:off x="685800" y="2514600"/>
            <a:ext cx="6858000" cy="822960"/>
          </a:xfrm>
          <a:prstGeom prst="rect">
            <a:avLst/>
          </a:prstGeom>
          <a:noFill/>
          <a:ln/>
        </p:spPr>
        <p:txBody>
          <a:bodyPr wrap="square" lIns="0" tIns="0" rIns="0" bIns="0" rtlCol="0" anchor="ctr"/>
          <a:lstStyle/>
          <a:p>
            <a:pPr marL="0" indent="0">
              <a:buNone/>
            </a:pPr>
            <a:r>
              <a:rPr lang="en-US" sz="4800" b="1" dirty="0">
                <a:solidFill>
                  <a:srgbClr val="94A3B8"/>
                </a:solidFill>
                <a:latin typeface="Calibri" pitchFamily="34" charset="0"/>
                <a:ea typeface="Calibri" pitchFamily="34" charset="-122"/>
                <a:cs typeface="Calibri" pitchFamily="34" charset="-120"/>
              </a:rPr>
              <a:t>Clustering:</a:t>
            </a:r>
            <a:endParaRPr lang="en-US" sz="4800" dirty="0"/>
          </a:p>
        </p:txBody>
      </p:sp>
      <p:sp>
        <p:nvSpPr>
          <p:cNvPr id="7" name="Text 5"/>
          <p:cNvSpPr/>
          <p:nvPr/>
        </p:nvSpPr>
        <p:spPr>
          <a:xfrm>
            <a:off x="685800" y="3246120"/>
            <a:ext cx="7315200" cy="777240"/>
          </a:xfrm>
          <a:prstGeom prst="rect">
            <a:avLst/>
          </a:prstGeom>
          <a:noFill/>
          <a:ln/>
        </p:spPr>
        <p:txBody>
          <a:bodyPr wrap="square" lIns="0" tIns="0" rIns="0" bIns="0" rtlCol="0" anchor="ctr"/>
          <a:lstStyle/>
          <a:p>
            <a:pPr marL="0" indent="0">
              <a:buNone/>
            </a:pPr>
            <a:r>
              <a:rPr lang="en-US" sz="3600" b="1" dirty="0">
                <a:solidFill>
                  <a:srgbClr val="10B981"/>
                </a:solidFill>
                <a:latin typeface="Calibri" pitchFamily="34" charset="0"/>
                <a:ea typeface="Calibri" pitchFamily="34" charset="-122"/>
                <a:cs typeface="Calibri" pitchFamily="34" charset="-120"/>
              </a:rPr>
              <a:t>Elbow &amp; Silhouette</a:t>
            </a:r>
            <a:endParaRPr lang="en-US" sz="3600" dirty="0"/>
          </a:p>
        </p:txBody>
      </p:sp>
      <p:pic>
        <p:nvPicPr>
          <p:cNvPr id="8" name="Image 0" descr="preencoded.png"/>
          <p:cNvPicPr>
            <a:picLocks noChangeAspect="1"/>
          </p:cNvPicPr>
          <p:nvPr/>
        </p:nvPicPr>
        <p:blipFill>
          <a:blip r:embed="rId3"/>
          <a:stretch>
            <a:fillRect/>
          </a:stretch>
        </p:blipFill>
        <p:spPr>
          <a:xfrm>
            <a:off x="7589520" y="2103120"/>
            <a:ext cx="1097280" cy="109728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342"/>
          </a:solidFill>
          <a:ln w="12700">
            <a:solidFill>
              <a:srgbClr val="0A2342"/>
            </a:solidFill>
            <a:prstDash val="solid"/>
          </a:ln>
        </p:spPr>
      </p:sp>
      <p:sp>
        <p:nvSpPr>
          <p:cNvPr id="3" name="Shape 1"/>
          <p:cNvSpPr/>
          <p:nvPr/>
        </p:nvSpPr>
        <p:spPr>
          <a:xfrm>
            <a:off x="0" y="1005840"/>
            <a:ext cx="9144000" cy="45720"/>
          </a:xfrm>
          <a:prstGeom prst="rect">
            <a:avLst/>
          </a:prstGeom>
          <a:solidFill>
            <a:srgbClr val="0D9488"/>
          </a:solidFill>
          <a:ln w="12700">
            <a:solidFill>
              <a:srgbClr val="0D9488"/>
            </a:solidFill>
            <a:prstDash val="solid"/>
          </a:ln>
        </p:spPr>
      </p:sp>
      <p:sp>
        <p:nvSpPr>
          <p:cNvPr id="4" name="Text 2"/>
          <p:cNvSpPr/>
          <p:nvPr/>
        </p:nvSpPr>
        <p:spPr>
          <a:xfrm>
            <a:off x="365760" y="91440"/>
            <a:ext cx="822960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Elbow Method — Mencari k Optimal</a:t>
            </a:r>
            <a:endParaRPr lang="en-US" sz="2200" dirty="0"/>
          </a:p>
        </p:txBody>
      </p:sp>
      <p:sp>
        <p:nvSpPr>
          <p:cNvPr id="5" name="Text 3"/>
          <p:cNvSpPr/>
          <p:nvPr/>
        </p:nvSpPr>
        <p:spPr>
          <a:xfrm>
            <a:off x="365760" y="658368"/>
            <a:ext cx="8229600" cy="320040"/>
          </a:xfrm>
          <a:prstGeom prst="rect">
            <a:avLst/>
          </a:prstGeom>
          <a:noFill/>
          <a:ln/>
        </p:spPr>
        <p:txBody>
          <a:bodyPr wrap="square" lIns="0" tIns="0" rIns="0" bIns="0" rtlCol="0" anchor="ctr"/>
          <a:lstStyle/>
          <a:p>
            <a:pPr marL="0" indent="0">
              <a:buNone/>
            </a:pPr>
            <a:r>
              <a:rPr lang="en-US" sz="1100" dirty="0">
                <a:solidFill>
                  <a:srgbClr val="60A5FA"/>
                </a:solidFill>
                <a:latin typeface="Calibri" pitchFamily="34" charset="0"/>
                <a:ea typeface="Calibri" pitchFamily="34" charset="-122"/>
                <a:cs typeface="Calibri" pitchFamily="34" charset="-120"/>
              </a:rPr>
              <a:t>Cara menentukan jumlah cluster yang tepat untuk K-Means</a:t>
            </a:r>
            <a:endParaRPr lang="en-US" sz="1100" dirty="0"/>
          </a:p>
        </p:txBody>
      </p:sp>
      <p:sp>
        <p:nvSpPr>
          <p:cNvPr id="6" name="Shape 4"/>
          <p:cNvSpPr/>
          <p:nvPr/>
        </p:nvSpPr>
        <p:spPr>
          <a:xfrm>
            <a:off x="274320" y="1143000"/>
            <a:ext cx="8595360" cy="594360"/>
          </a:xfrm>
          <a:prstGeom prst="rect">
            <a:avLst/>
          </a:prstGeom>
          <a:solidFill>
            <a:srgbClr val="EFF6FF"/>
          </a:solidFill>
          <a:ln w="12700">
            <a:solidFill>
              <a:srgbClr val="60A5FA"/>
            </a:solidFill>
            <a:prstDash val="solid"/>
          </a:ln>
        </p:spPr>
      </p:sp>
      <p:sp>
        <p:nvSpPr>
          <p:cNvPr id="7" name="Text 5"/>
          <p:cNvSpPr/>
          <p:nvPr/>
        </p:nvSpPr>
        <p:spPr>
          <a:xfrm>
            <a:off x="411480" y="1188720"/>
            <a:ext cx="8321040" cy="521208"/>
          </a:xfrm>
          <a:prstGeom prst="rect">
            <a:avLst/>
          </a:prstGeom>
          <a:noFill/>
          <a:ln/>
        </p:spPr>
        <p:txBody>
          <a:bodyPr wrap="square" lIns="0" tIns="0" rIns="0" bIns="0" rtlCol="0" anchor="ctr"/>
          <a:lstStyle/>
          <a:p>
            <a:pPr marL="0" indent="0">
              <a:buNone/>
            </a:pPr>
            <a:r>
              <a:rPr lang="en-US" sz="1050" dirty="0">
                <a:solidFill>
                  <a:srgbClr val="0A2342"/>
                </a:solidFill>
                <a:latin typeface="Calibri" pitchFamily="34" charset="0"/>
                <a:ea typeface="Calibri" pitchFamily="34" charset="-122"/>
                <a:cs typeface="Calibri" pitchFamily="34" charset="-120"/>
              </a:rPr>
              <a:t>Elbow Method memplot nilai Within-Cluster Sum of Squares (WCSS/Inertia) untuk berbagai nilai k. Titik di mana penurunan WCSS mulai melambat ("siku") adalah k optimal.</a:t>
            </a:r>
            <a:endParaRPr lang="en-US" sz="1050" dirty="0"/>
          </a:p>
        </p:txBody>
      </p:sp>
      <p:graphicFrame>
        <p:nvGraphicFramePr>
          <p:cNvPr id="8" name="Chart 0"/>
          <p:cNvGraphicFramePr/>
          <p:nvPr/>
        </p:nvGraphicFramePr>
        <p:xfrm>
          <a:off x="274320" y="1828800"/>
          <a:ext cx="502920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p:nvPr/>
        </p:nvSpPr>
        <p:spPr>
          <a:xfrm>
            <a:off x="5532120" y="1828800"/>
            <a:ext cx="347472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Cara Membaca Grafik Elbow</a:t>
            </a:r>
            <a:endParaRPr lang="en-US" sz="1200" dirty="0"/>
          </a:p>
        </p:txBody>
      </p:sp>
      <p:sp>
        <p:nvSpPr>
          <p:cNvPr id="10" name="Shape 7"/>
          <p:cNvSpPr/>
          <p:nvPr/>
        </p:nvSpPr>
        <p:spPr>
          <a:xfrm>
            <a:off x="5532120" y="2176272"/>
            <a:ext cx="292608" cy="292608"/>
          </a:xfrm>
          <a:prstGeom prst="ellipse">
            <a:avLst/>
          </a:prstGeom>
          <a:solidFill>
            <a:srgbClr val="0D9488"/>
          </a:solidFill>
          <a:ln w="12700">
            <a:solidFill>
              <a:srgbClr val="0D9488"/>
            </a:solidFill>
            <a:prstDash val="solid"/>
          </a:ln>
        </p:spPr>
      </p:sp>
      <p:sp>
        <p:nvSpPr>
          <p:cNvPr id="11" name="Text 8"/>
          <p:cNvSpPr/>
          <p:nvPr/>
        </p:nvSpPr>
        <p:spPr>
          <a:xfrm>
            <a:off x="5532120" y="2185416"/>
            <a:ext cx="29260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2" name="Text 9"/>
          <p:cNvSpPr/>
          <p:nvPr/>
        </p:nvSpPr>
        <p:spPr>
          <a:xfrm>
            <a:off x="5897880" y="2157984"/>
            <a:ext cx="3063240"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Plot WCSS untuk k = 1 sampai N (misalnya 10).</a:t>
            </a:r>
            <a:endParaRPr lang="en-US" sz="950" dirty="0"/>
          </a:p>
        </p:txBody>
      </p:sp>
      <p:sp>
        <p:nvSpPr>
          <p:cNvPr id="13" name="Shape 10"/>
          <p:cNvSpPr/>
          <p:nvPr/>
        </p:nvSpPr>
        <p:spPr>
          <a:xfrm>
            <a:off x="5532120" y="2585828"/>
            <a:ext cx="292608" cy="292608"/>
          </a:xfrm>
          <a:prstGeom prst="ellipse">
            <a:avLst/>
          </a:prstGeom>
          <a:solidFill>
            <a:srgbClr val="0D9488"/>
          </a:solidFill>
          <a:ln w="12700">
            <a:solidFill>
              <a:srgbClr val="0D9488"/>
            </a:solidFill>
            <a:prstDash val="solid"/>
          </a:ln>
        </p:spPr>
      </p:sp>
      <p:sp>
        <p:nvSpPr>
          <p:cNvPr id="14" name="Text 11"/>
          <p:cNvSpPr/>
          <p:nvPr/>
        </p:nvSpPr>
        <p:spPr>
          <a:xfrm>
            <a:off x="5532120" y="2594972"/>
            <a:ext cx="29260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2"/>
          <p:cNvSpPr/>
          <p:nvPr/>
        </p:nvSpPr>
        <p:spPr>
          <a:xfrm>
            <a:off x="5897880" y="2567540"/>
            <a:ext cx="3063240"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Cari titik 'siku' — titik di mana kurva mulai mendatar secara signifikan.</a:t>
            </a:r>
            <a:endParaRPr lang="en-US" sz="950" dirty="0"/>
          </a:p>
        </p:txBody>
      </p:sp>
      <p:sp>
        <p:nvSpPr>
          <p:cNvPr id="16" name="Shape 13"/>
          <p:cNvSpPr/>
          <p:nvPr/>
        </p:nvSpPr>
        <p:spPr>
          <a:xfrm>
            <a:off x="5532120" y="3040677"/>
            <a:ext cx="292608" cy="292608"/>
          </a:xfrm>
          <a:prstGeom prst="ellipse">
            <a:avLst/>
          </a:prstGeom>
          <a:solidFill>
            <a:srgbClr val="0D9488"/>
          </a:solidFill>
          <a:ln w="12700">
            <a:solidFill>
              <a:srgbClr val="0D9488"/>
            </a:solidFill>
            <a:prstDash val="solid"/>
          </a:ln>
        </p:spPr>
      </p:sp>
      <p:sp>
        <p:nvSpPr>
          <p:cNvPr id="17" name="Text 14"/>
          <p:cNvSpPr/>
          <p:nvPr/>
        </p:nvSpPr>
        <p:spPr>
          <a:xfrm>
            <a:off x="5532120" y="3049821"/>
            <a:ext cx="29260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8" name="Text 15"/>
          <p:cNvSpPr/>
          <p:nvPr/>
        </p:nvSpPr>
        <p:spPr>
          <a:xfrm>
            <a:off x="5897880" y="3022389"/>
            <a:ext cx="3063240" cy="34747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k pada titik siku = jumlah cluster optimal.</a:t>
            </a:r>
            <a:endParaRPr lang="en-US" sz="950" dirty="0"/>
          </a:p>
        </p:txBody>
      </p:sp>
      <p:sp>
        <p:nvSpPr>
          <p:cNvPr id="19" name="Shape 16"/>
          <p:cNvSpPr/>
          <p:nvPr/>
        </p:nvSpPr>
        <p:spPr>
          <a:xfrm>
            <a:off x="5532120" y="3469014"/>
            <a:ext cx="292608" cy="292608"/>
          </a:xfrm>
          <a:prstGeom prst="ellipse">
            <a:avLst/>
          </a:prstGeom>
          <a:solidFill>
            <a:srgbClr val="F59E0B"/>
          </a:solidFill>
          <a:ln w="12700">
            <a:solidFill>
              <a:srgbClr val="F59E0B"/>
            </a:solidFill>
            <a:prstDash val="solid"/>
          </a:ln>
        </p:spPr>
      </p:sp>
      <p:sp>
        <p:nvSpPr>
          <p:cNvPr id="20" name="Text 17"/>
          <p:cNvSpPr/>
          <p:nvPr/>
        </p:nvSpPr>
        <p:spPr>
          <a:xfrm>
            <a:off x="5532120" y="3478158"/>
            <a:ext cx="292608"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1" name="Text 18"/>
          <p:cNvSpPr/>
          <p:nvPr/>
        </p:nvSpPr>
        <p:spPr>
          <a:xfrm>
            <a:off x="5897880" y="3450726"/>
            <a:ext cx="3063240" cy="347472"/>
          </a:xfrm>
          <a:prstGeom prst="rect">
            <a:avLst/>
          </a:prstGeom>
          <a:noFill/>
          <a:ln/>
        </p:spPr>
        <p:txBody>
          <a:bodyPr wrap="square" lIns="0" tIns="0" rIns="0" bIns="0" rtlCol="0" anchor="ctr"/>
          <a:lstStyle/>
          <a:p>
            <a:pPr marL="0" indent="0">
              <a:buNone/>
            </a:pPr>
            <a:r>
              <a:rPr lang="en-US" sz="950" b="1" dirty="0">
                <a:solidFill>
                  <a:srgbClr val="92400E"/>
                </a:solidFill>
                <a:latin typeface="Calibri" pitchFamily="34" charset="0"/>
                <a:ea typeface="Calibri" pitchFamily="34" charset="-122"/>
                <a:cs typeface="Calibri" pitchFamily="34" charset="-120"/>
              </a:rPr>
              <a:t>Pada grafik di atas, k=3 adalah titik siku yang paling jelas.</a:t>
            </a:r>
            <a:endParaRPr lang="en-US" sz="950" dirty="0"/>
          </a:p>
        </p:txBody>
      </p:sp>
      <p:sp>
        <p:nvSpPr>
          <p:cNvPr id="22" name="Shape 19"/>
          <p:cNvSpPr/>
          <p:nvPr/>
        </p:nvSpPr>
        <p:spPr>
          <a:xfrm>
            <a:off x="5486070" y="3851826"/>
            <a:ext cx="3474719" cy="1200234"/>
          </a:xfrm>
          <a:prstGeom prst="rect">
            <a:avLst/>
          </a:prstGeom>
          <a:solidFill>
            <a:srgbClr val="1E293B"/>
          </a:solidFill>
          <a:ln w="12700">
            <a:solidFill>
              <a:srgbClr val="334155"/>
            </a:solidFill>
            <a:prstDash val="solid"/>
          </a:ln>
          <a:effectLst>
            <a:outerShdw blurRad="101600" dist="25400" dir="8100000" algn="bl" rotWithShape="0">
              <a:srgbClr val="000000">
                <a:alpha val="10000"/>
              </a:srgbClr>
            </a:outerShdw>
          </a:effectLst>
        </p:spPr>
      </p:sp>
      <p:sp>
        <p:nvSpPr>
          <p:cNvPr id="23" name="Shape 20"/>
          <p:cNvSpPr/>
          <p:nvPr/>
        </p:nvSpPr>
        <p:spPr>
          <a:xfrm>
            <a:off x="5486070" y="3851826"/>
            <a:ext cx="3474719" cy="163935"/>
          </a:xfrm>
          <a:prstGeom prst="rect">
            <a:avLst/>
          </a:prstGeom>
          <a:solidFill>
            <a:srgbClr val="334155"/>
          </a:solidFill>
          <a:ln w="12700">
            <a:solidFill>
              <a:srgbClr val="334155"/>
            </a:solidFill>
            <a:prstDash val="solid"/>
          </a:ln>
        </p:spPr>
      </p:sp>
      <p:sp>
        <p:nvSpPr>
          <p:cNvPr id="24" name="Text 21"/>
          <p:cNvSpPr/>
          <p:nvPr/>
        </p:nvSpPr>
        <p:spPr>
          <a:xfrm>
            <a:off x="5595799" y="3870114"/>
            <a:ext cx="1371600" cy="140516"/>
          </a:xfrm>
          <a:prstGeom prst="rect">
            <a:avLst/>
          </a:prstGeom>
          <a:noFill/>
          <a:ln/>
        </p:spPr>
        <p:txBody>
          <a:bodyPr wrap="square" lIns="0" tIns="0" rIns="0" bIns="0" rtlCol="0" anchor="ctr"/>
          <a:lstStyle/>
          <a:p>
            <a:pPr marL="0" indent="0">
              <a:buNone/>
            </a:pPr>
            <a:r>
              <a:rPr lang="en-US" sz="900" dirty="0">
                <a:solidFill>
                  <a:srgbClr val="94A3B8"/>
                </a:solidFill>
                <a:latin typeface="Consolas" pitchFamily="34" charset="0"/>
                <a:ea typeface="Consolas" pitchFamily="34" charset="-122"/>
                <a:cs typeface="Consolas" pitchFamily="34" charset="-120"/>
              </a:rPr>
              <a:t>Python</a:t>
            </a:r>
            <a:endParaRPr lang="en-US" sz="900" dirty="0"/>
          </a:p>
        </p:txBody>
      </p:sp>
      <p:sp>
        <p:nvSpPr>
          <p:cNvPr id="25" name="Text 22"/>
          <p:cNvSpPr/>
          <p:nvPr/>
        </p:nvSpPr>
        <p:spPr>
          <a:xfrm>
            <a:off x="5536592" y="4042750"/>
            <a:ext cx="3273551" cy="977752"/>
          </a:xfrm>
          <a:prstGeom prst="rect">
            <a:avLst/>
          </a:prstGeom>
          <a:noFill/>
          <a:ln/>
        </p:spPr>
        <p:txBody>
          <a:bodyPr wrap="square" lIns="0" tIns="0" rIns="0" bIns="0" rtlCol="0" anchor="ctr"/>
          <a:lstStyle/>
          <a:p>
            <a:pPr marL="0" indent="0">
              <a:buNone/>
            </a:pPr>
            <a:r>
              <a:rPr lang="en-US" sz="500" dirty="0">
                <a:solidFill>
                  <a:srgbClr val="7DD3FC"/>
                </a:solidFill>
                <a:latin typeface="Consolas" pitchFamily="34" charset="0"/>
                <a:ea typeface="Consolas" pitchFamily="34" charset="-122"/>
                <a:cs typeface="Consolas" pitchFamily="34" charset="-120"/>
              </a:rPr>
              <a:t># Elbow Method</a:t>
            </a:r>
            <a:endParaRPr lang="en-US" sz="500" dirty="0"/>
          </a:p>
          <a:p>
            <a:pPr marL="0" indent="0">
              <a:buNone/>
            </a:pPr>
            <a:r>
              <a:rPr lang="en-US" sz="500" dirty="0">
                <a:solidFill>
                  <a:srgbClr val="7DD3FC"/>
                </a:solidFill>
                <a:latin typeface="Consolas" pitchFamily="34" charset="0"/>
                <a:ea typeface="Consolas" pitchFamily="34" charset="-122"/>
                <a:cs typeface="Consolas" pitchFamily="34" charset="-120"/>
              </a:rPr>
              <a:t>wcss = []</a:t>
            </a:r>
            <a:endParaRPr lang="en-US" sz="500" dirty="0"/>
          </a:p>
          <a:p>
            <a:pPr marL="0" indent="0">
              <a:buNone/>
            </a:pPr>
            <a:r>
              <a:rPr lang="en-US" sz="500" dirty="0">
                <a:solidFill>
                  <a:srgbClr val="7DD3FC"/>
                </a:solidFill>
                <a:latin typeface="Consolas" pitchFamily="34" charset="0"/>
                <a:ea typeface="Consolas" pitchFamily="34" charset="-122"/>
                <a:cs typeface="Consolas" pitchFamily="34" charset="-120"/>
              </a:rPr>
              <a:t>for k in range(1, 11):</a:t>
            </a:r>
            <a:endParaRPr lang="en-US" sz="500" dirty="0"/>
          </a:p>
          <a:p>
            <a:pPr marL="0" indent="0">
              <a:buNone/>
            </a:pPr>
            <a:r>
              <a:rPr lang="en-US" sz="500" dirty="0">
                <a:solidFill>
                  <a:srgbClr val="7DD3FC"/>
                </a:solidFill>
                <a:latin typeface="Consolas" pitchFamily="34" charset="0"/>
                <a:ea typeface="Consolas" pitchFamily="34" charset="-122"/>
                <a:cs typeface="Consolas" pitchFamily="34" charset="-120"/>
              </a:rPr>
              <a:t>    km = KMeans(n_clusters=k, random_state=42)</a:t>
            </a:r>
            <a:endParaRPr lang="en-US" sz="500" dirty="0"/>
          </a:p>
          <a:p>
            <a:pPr marL="0" indent="0">
              <a:buNone/>
            </a:pPr>
            <a:r>
              <a:rPr lang="en-US" sz="500" dirty="0">
                <a:solidFill>
                  <a:srgbClr val="7DD3FC"/>
                </a:solidFill>
                <a:latin typeface="Consolas" pitchFamily="34" charset="0"/>
                <a:ea typeface="Consolas" pitchFamily="34" charset="-122"/>
                <a:cs typeface="Consolas" pitchFamily="34" charset="-120"/>
              </a:rPr>
              <a:t>    km.fit(X_scaled)</a:t>
            </a:r>
            <a:endParaRPr lang="en-US" sz="500" dirty="0"/>
          </a:p>
          <a:p>
            <a:pPr marL="0" indent="0">
              <a:buNone/>
            </a:pPr>
            <a:r>
              <a:rPr lang="en-US" sz="500" dirty="0">
                <a:solidFill>
                  <a:srgbClr val="7DD3FC"/>
                </a:solidFill>
                <a:latin typeface="Consolas" pitchFamily="34" charset="0"/>
                <a:ea typeface="Consolas" pitchFamily="34" charset="-122"/>
                <a:cs typeface="Consolas" pitchFamily="34" charset="-120"/>
              </a:rPr>
              <a:t>    wcss.append(km.inertia_)</a:t>
            </a:r>
            <a:endParaRPr lang="en-US" sz="500" dirty="0"/>
          </a:p>
          <a:p>
            <a:pPr marL="0" indent="0">
              <a:buNone/>
            </a:pPr>
            <a:r>
              <a:rPr lang="en-US" sz="500" dirty="0"/>
              <a:t>a</a:t>
            </a:r>
          </a:p>
          <a:p>
            <a:pPr marL="0" indent="0">
              <a:buNone/>
            </a:pPr>
            <a:r>
              <a:rPr lang="en-US" sz="500" dirty="0">
                <a:solidFill>
                  <a:srgbClr val="7DD3FC"/>
                </a:solidFill>
                <a:latin typeface="Consolas" pitchFamily="34" charset="0"/>
                <a:ea typeface="Consolas" pitchFamily="34" charset="-122"/>
                <a:cs typeface="Consolas" pitchFamily="34" charset="-120"/>
              </a:rPr>
              <a:t>plt.plot(range(1, 11), wcss, 'bo-')</a:t>
            </a:r>
            <a:endParaRPr lang="en-US" sz="500" dirty="0"/>
          </a:p>
          <a:p>
            <a:pPr marL="0" indent="0">
              <a:buNone/>
            </a:pPr>
            <a:r>
              <a:rPr lang="en-US" sz="500" dirty="0">
                <a:solidFill>
                  <a:srgbClr val="7DD3FC"/>
                </a:solidFill>
                <a:latin typeface="Consolas" pitchFamily="34" charset="0"/>
                <a:ea typeface="Consolas" pitchFamily="34" charset="-122"/>
                <a:cs typeface="Consolas" pitchFamily="34" charset="-120"/>
              </a:rPr>
              <a:t>plt.xlabel('Jumlah Cluster (k)')</a:t>
            </a:r>
            <a:endParaRPr lang="en-US" sz="500" dirty="0"/>
          </a:p>
          <a:p>
            <a:pPr marL="0" indent="0">
              <a:buNone/>
            </a:pPr>
            <a:r>
              <a:rPr lang="en-US" sz="500" dirty="0">
                <a:solidFill>
                  <a:srgbClr val="7DD3FC"/>
                </a:solidFill>
                <a:latin typeface="Consolas" pitchFamily="34" charset="0"/>
                <a:ea typeface="Consolas" pitchFamily="34" charset="-122"/>
                <a:cs typeface="Consolas" pitchFamily="34" charset="-120"/>
              </a:rPr>
              <a:t>plt.ylabel('WCSS / Inertia')</a:t>
            </a:r>
            <a:endParaRPr lang="en-US" sz="500" dirty="0"/>
          </a:p>
          <a:p>
            <a:pPr marL="0" indent="0">
              <a:buNone/>
            </a:pPr>
            <a:r>
              <a:rPr lang="en-US" sz="500" dirty="0">
                <a:solidFill>
                  <a:srgbClr val="7DD3FC"/>
                </a:solidFill>
                <a:latin typeface="Consolas" pitchFamily="34" charset="0"/>
                <a:ea typeface="Consolas" pitchFamily="34" charset="-122"/>
                <a:cs typeface="Consolas" pitchFamily="34" charset="-120"/>
              </a:rPr>
              <a:t>plt.title('Elbow Method')</a:t>
            </a:r>
            <a:endParaRPr lang="en-US" sz="500" dirty="0"/>
          </a:p>
          <a:p>
            <a:pPr marL="0" indent="0">
              <a:buNone/>
            </a:pPr>
            <a:r>
              <a:rPr lang="en-US" sz="500" dirty="0">
                <a:solidFill>
                  <a:srgbClr val="7DD3FC"/>
                </a:solidFill>
                <a:latin typeface="Consolas" pitchFamily="34" charset="0"/>
                <a:ea typeface="Consolas" pitchFamily="34" charset="-122"/>
                <a:cs typeface="Consolas" pitchFamily="34" charset="-120"/>
              </a:rPr>
              <a:t>plt.show()</a:t>
            </a:r>
            <a:endParaRPr lang="en-US" sz="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342"/>
          </a:solidFill>
          <a:ln w="12700">
            <a:solidFill>
              <a:srgbClr val="0A2342"/>
            </a:solidFill>
            <a:prstDash val="solid"/>
          </a:ln>
        </p:spPr>
      </p:sp>
      <p:sp>
        <p:nvSpPr>
          <p:cNvPr id="3" name="Shape 1"/>
          <p:cNvSpPr/>
          <p:nvPr/>
        </p:nvSpPr>
        <p:spPr>
          <a:xfrm>
            <a:off x="0" y="1005840"/>
            <a:ext cx="9144000" cy="45720"/>
          </a:xfrm>
          <a:prstGeom prst="rect">
            <a:avLst/>
          </a:prstGeom>
          <a:solidFill>
            <a:srgbClr val="0D9488"/>
          </a:solidFill>
          <a:ln w="12700">
            <a:solidFill>
              <a:srgbClr val="0D9488"/>
            </a:solidFill>
            <a:prstDash val="solid"/>
          </a:ln>
        </p:spPr>
      </p:sp>
      <p:sp>
        <p:nvSpPr>
          <p:cNvPr id="4" name="Text 2"/>
          <p:cNvSpPr/>
          <p:nvPr/>
        </p:nvSpPr>
        <p:spPr>
          <a:xfrm>
            <a:off x="365760" y="91440"/>
            <a:ext cx="822960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Silhouette Score — Kualitas Clustering</a:t>
            </a:r>
            <a:endParaRPr lang="en-US" sz="2200" dirty="0"/>
          </a:p>
        </p:txBody>
      </p:sp>
      <p:sp>
        <p:nvSpPr>
          <p:cNvPr id="5" name="Text 3"/>
          <p:cNvSpPr/>
          <p:nvPr/>
        </p:nvSpPr>
        <p:spPr>
          <a:xfrm>
            <a:off x="365760" y="658368"/>
            <a:ext cx="8229600" cy="320040"/>
          </a:xfrm>
          <a:prstGeom prst="rect">
            <a:avLst/>
          </a:prstGeom>
          <a:noFill/>
          <a:ln/>
        </p:spPr>
        <p:txBody>
          <a:bodyPr wrap="square" lIns="0" tIns="0" rIns="0" bIns="0" rtlCol="0" anchor="ctr"/>
          <a:lstStyle/>
          <a:p>
            <a:pPr marL="0" indent="0">
              <a:buNone/>
            </a:pPr>
            <a:r>
              <a:rPr lang="en-US" sz="1100" dirty="0">
                <a:solidFill>
                  <a:srgbClr val="60A5FA"/>
                </a:solidFill>
                <a:latin typeface="Calibri" pitchFamily="34" charset="0"/>
                <a:ea typeface="Calibri" pitchFamily="34" charset="-122"/>
                <a:cs typeface="Calibri" pitchFamily="34" charset="-120"/>
              </a:rPr>
              <a:t>Ukuran seberapa 'baik' setiap data point masuk ke clusternya</a:t>
            </a:r>
            <a:endParaRPr lang="en-US" sz="1100" dirty="0"/>
          </a:p>
        </p:txBody>
      </p:sp>
      <p:sp>
        <p:nvSpPr>
          <p:cNvPr id="6" name="Shape 4"/>
          <p:cNvSpPr/>
          <p:nvPr/>
        </p:nvSpPr>
        <p:spPr>
          <a:xfrm>
            <a:off x="274320" y="1143000"/>
            <a:ext cx="8595360" cy="594360"/>
          </a:xfrm>
          <a:prstGeom prst="rect">
            <a:avLst/>
          </a:prstGeom>
          <a:solidFill>
            <a:srgbClr val="EFF6FF"/>
          </a:solidFill>
          <a:ln w="12700">
            <a:solidFill>
              <a:srgbClr val="60A5FA"/>
            </a:solidFill>
            <a:prstDash val="solid"/>
          </a:ln>
        </p:spPr>
      </p:sp>
      <p:sp>
        <p:nvSpPr>
          <p:cNvPr id="7" name="Text 5"/>
          <p:cNvSpPr/>
          <p:nvPr/>
        </p:nvSpPr>
        <p:spPr>
          <a:xfrm>
            <a:off x="411480" y="1188720"/>
            <a:ext cx="8321040" cy="521208"/>
          </a:xfrm>
          <a:prstGeom prst="rect">
            <a:avLst/>
          </a:prstGeom>
          <a:noFill/>
          <a:ln/>
        </p:spPr>
        <p:txBody>
          <a:bodyPr wrap="square" lIns="0" tIns="0" rIns="0" bIns="0" rtlCol="0" anchor="ctr"/>
          <a:lstStyle/>
          <a:p>
            <a:pPr marL="0" indent="0">
              <a:buNone/>
            </a:pPr>
            <a:r>
              <a:rPr lang="en-US" sz="1050" dirty="0">
                <a:solidFill>
                  <a:srgbClr val="0A2342"/>
                </a:solidFill>
                <a:latin typeface="Calibri" pitchFamily="34" charset="0"/>
                <a:ea typeface="Calibri" pitchFamily="34" charset="-122"/>
                <a:cs typeface="Calibri" pitchFamily="34" charset="-120"/>
              </a:rPr>
              <a:t>Silhouette Score mengukur kemiripan suatu data point terhadap clusternya sendiri dibandingkan dengan cluster terdekat lainnya. Nilainya berkisar dari -1 hingga +1.</a:t>
            </a:r>
            <a:endParaRPr lang="en-US" sz="1050" dirty="0"/>
          </a:p>
        </p:txBody>
      </p:sp>
      <p:sp>
        <p:nvSpPr>
          <p:cNvPr id="8" name="Shape 6"/>
          <p:cNvSpPr/>
          <p:nvPr/>
        </p:nvSpPr>
        <p:spPr>
          <a:xfrm>
            <a:off x="274320" y="1828800"/>
            <a:ext cx="4114800" cy="118872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9" name="Text 7"/>
          <p:cNvSpPr/>
          <p:nvPr/>
        </p:nvSpPr>
        <p:spPr>
          <a:xfrm>
            <a:off x="411480" y="1892808"/>
            <a:ext cx="3840480" cy="256032"/>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Formula Silhouette Score:</a:t>
            </a:r>
            <a:endParaRPr lang="en-US" sz="1100" dirty="0"/>
          </a:p>
        </p:txBody>
      </p:sp>
      <p:sp>
        <p:nvSpPr>
          <p:cNvPr id="10" name="Text 8"/>
          <p:cNvSpPr/>
          <p:nvPr/>
        </p:nvSpPr>
        <p:spPr>
          <a:xfrm>
            <a:off x="411480" y="2176272"/>
            <a:ext cx="3840480" cy="347472"/>
          </a:xfrm>
          <a:prstGeom prst="rect">
            <a:avLst/>
          </a:prstGeom>
          <a:noFill/>
          <a:ln/>
        </p:spPr>
        <p:txBody>
          <a:bodyPr wrap="square" lIns="0" tIns="0" rIns="0" bIns="0" rtlCol="0" anchor="ctr"/>
          <a:lstStyle/>
          <a:p>
            <a:pPr marL="0" indent="0">
              <a:buNone/>
            </a:pPr>
            <a:r>
              <a:rPr lang="en-US" sz="1300" b="1" dirty="0">
                <a:solidFill>
                  <a:srgbClr val="0D9488"/>
                </a:solidFill>
                <a:latin typeface="Consolas" pitchFamily="34" charset="0"/>
                <a:ea typeface="Consolas" pitchFamily="34" charset="-122"/>
                <a:cs typeface="Consolas" pitchFamily="34" charset="-120"/>
              </a:rPr>
              <a:t>s(i) = (b(i) − a(i)) / max(a(i), b(i))</a:t>
            </a:r>
            <a:endParaRPr lang="en-US" sz="1300" dirty="0"/>
          </a:p>
        </p:txBody>
      </p:sp>
      <p:sp>
        <p:nvSpPr>
          <p:cNvPr id="11" name="Text 9"/>
          <p:cNvSpPr/>
          <p:nvPr/>
        </p:nvSpPr>
        <p:spPr>
          <a:xfrm>
            <a:off x="411480" y="2560320"/>
            <a:ext cx="3840480" cy="411480"/>
          </a:xfrm>
          <a:prstGeom prst="rect">
            <a:avLst/>
          </a:prstGeom>
          <a:noFill/>
          <a:ln/>
        </p:spPr>
        <p:txBody>
          <a:bodyPr wrap="square" lIns="0" tIns="0" rIns="0" bIns="0" rtlCol="0" anchor="ctr"/>
          <a:lstStyle/>
          <a:p>
            <a:pPr marL="0" indent="0">
              <a:buNone/>
            </a:pPr>
            <a:r>
              <a:rPr lang="en-US" sz="950" b="1" dirty="0">
                <a:solidFill>
                  <a:srgbClr val="1A56DB"/>
                </a:solidFill>
                <a:latin typeface="Calibri" pitchFamily="34" charset="0"/>
                <a:ea typeface="Calibri" pitchFamily="34" charset="-122"/>
                <a:cs typeface="Calibri" pitchFamily="34" charset="-120"/>
              </a:rPr>
              <a:t>a(i)</a:t>
            </a:r>
            <a:r>
              <a:rPr lang="en-US" sz="950" dirty="0">
                <a:solidFill>
                  <a:srgbClr val="64748B"/>
                </a:solidFill>
                <a:latin typeface="Calibri" pitchFamily="34" charset="0"/>
                <a:ea typeface="Calibri" pitchFamily="34" charset="-122"/>
                <a:cs typeface="Calibri" pitchFamily="34" charset="-120"/>
              </a:rPr>
              <a:t> = rata-rata jarak ke semua titik dalam cluster sendiri
</a:t>
            </a:r>
            <a:r>
              <a:rPr lang="en-US" sz="950" b="1" dirty="0">
                <a:solidFill>
                  <a:srgbClr val="EF4444"/>
                </a:solidFill>
                <a:latin typeface="Calibri" pitchFamily="34" charset="0"/>
                <a:ea typeface="Calibri" pitchFamily="34" charset="-122"/>
                <a:cs typeface="Calibri" pitchFamily="34" charset="-120"/>
              </a:rPr>
              <a:t>b(i)</a:t>
            </a:r>
            <a:r>
              <a:rPr lang="en-US" sz="950" dirty="0">
                <a:solidFill>
                  <a:srgbClr val="64748B"/>
                </a:solidFill>
                <a:latin typeface="Calibri" pitchFamily="34" charset="0"/>
                <a:ea typeface="Calibri" pitchFamily="34" charset="-122"/>
                <a:cs typeface="Calibri" pitchFamily="34" charset="-120"/>
              </a:rPr>
              <a:t> = rata-rata jarak ke cluster terdekat lainnya</a:t>
            </a:r>
            <a:endParaRPr lang="en-US" sz="950" dirty="0"/>
          </a:p>
        </p:txBody>
      </p:sp>
      <p:sp>
        <p:nvSpPr>
          <p:cNvPr id="12" name="Text 10"/>
          <p:cNvSpPr/>
          <p:nvPr/>
        </p:nvSpPr>
        <p:spPr>
          <a:xfrm>
            <a:off x="4572000" y="1828800"/>
            <a:ext cx="438912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Interpretasi Nilai</a:t>
            </a:r>
            <a:endParaRPr lang="en-US" sz="1200" dirty="0"/>
          </a:p>
        </p:txBody>
      </p:sp>
      <p:sp>
        <p:nvSpPr>
          <p:cNvPr id="13" name="Shape 11"/>
          <p:cNvSpPr/>
          <p:nvPr/>
        </p:nvSpPr>
        <p:spPr>
          <a:xfrm>
            <a:off x="4572000" y="2148840"/>
            <a:ext cx="4297680" cy="411480"/>
          </a:xfrm>
          <a:prstGeom prst="rect">
            <a:avLst/>
          </a:prstGeom>
          <a:solidFill>
            <a:srgbClr val="FFFFFF"/>
          </a:solidFill>
          <a:ln w="12700">
            <a:solidFill>
              <a:srgbClr val="E2E8F0"/>
            </a:solidFill>
            <a:prstDash val="solid"/>
          </a:ln>
        </p:spPr>
      </p:sp>
      <p:sp>
        <p:nvSpPr>
          <p:cNvPr id="14" name="Shape 12"/>
          <p:cNvSpPr/>
          <p:nvPr/>
        </p:nvSpPr>
        <p:spPr>
          <a:xfrm>
            <a:off x="4572000" y="2148840"/>
            <a:ext cx="54864" cy="411480"/>
          </a:xfrm>
          <a:prstGeom prst="rect">
            <a:avLst/>
          </a:prstGeom>
          <a:solidFill>
            <a:srgbClr val="10B981"/>
          </a:solidFill>
          <a:ln w="12700">
            <a:solidFill>
              <a:srgbClr val="10B981"/>
            </a:solidFill>
            <a:prstDash val="solid"/>
          </a:ln>
        </p:spPr>
      </p:sp>
      <p:sp>
        <p:nvSpPr>
          <p:cNvPr id="15" name="Text 13"/>
          <p:cNvSpPr/>
          <p:nvPr/>
        </p:nvSpPr>
        <p:spPr>
          <a:xfrm>
            <a:off x="4681728" y="2176272"/>
            <a:ext cx="1554480" cy="201168"/>
          </a:xfrm>
          <a:prstGeom prst="rect">
            <a:avLst/>
          </a:prstGeom>
          <a:noFill/>
          <a:ln/>
        </p:spPr>
        <p:txBody>
          <a:bodyPr wrap="square" lIns="0" tIns="0" rIns="0" bIns="0" rtlCol="0" anchor="ctr"/>
          <a:lstStyle/>
          <a:p>
            <a:pPr marL="0" indent="0">
              <a:buNone/>
            </a:pPr>
            <a:r>
              <a:rPr lang="en-US" sz="1000" b="1" dirty="0">
                <a:solidFill>
                  <a:srgbClr val="1E293B"/>
                </a:solidFill>
                <a:latin typeface="Consolas" pitchFamily="34" charset="0"/>
                <a:ea typeface="Consolas" pitchFamily="34" charset="-122"/>
                <a:cs typeface="Consolas" pitchFamily="34" charset="-120"/>
              </a:rPr>
              <a:t>+0.7 hingga +1.0</a:t>
            </a:r>
            <a:endParaRPr lang="en-US" sz="1000" dirty="0"/>
          </a:p>
        </p:txBody>
      </p:sp>
      <p:sp>
        <p:nvSpPr>
          <p:cNvPr id="16" name="Text 14"/>
          <p:cNvSpPr/>
          <p:nvPr/>
        </p:nvSpPr>
        <p:spPr>
          <a:xfrm>
            <a:off x="4681728" y="2359152"/>
            <a:ext cx="4069080" cy="164592"/>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Sangat Baik: Cluster sangat jelas dan terpisah dengan baik.</a:t>
            </a:r>
            <a:endParaRPr lang="en-US" sz="850" dirty="0"/>
          </a:p>
        </p:txBody>
      </p:sp>
      <p:sp>
        <p:nvSpPr>
          <p:cNvPr id="17" name="Shape 15"/>
          <p:cNvSpPr/>
          <p:nvPr/>
        </p:nvSpPr>
        <p:spPr>
          <a:xfrm>
            <a:off x="4572000" y="2606040"/>
            <a:ext cx="4297680" cy="411480"/>
          </a:xfrm>
          <a:prstGeom prst="rect">
            <a:avLst/>
          </a:prstGeom>
          <a:solidFill>
            <a:srgbClr val="FFFFFF"/>
          </a:solidFill>
          <a:ln w="12700">
            <a:solidFill>
              <a:srgbClr val="E2E8F0"/>
            </a:solidFill>
            <a:prstDash val="solid"/>
          </a:ln>
        </p:spPr>
      </p:sp>
      <p:sp>
        <p:nvSpPr>
          <p:cNvPr id="18" name="Shape 16"/>
          <p:cNvSpPr/>
          <p:nvPr/>
        </p:nvSpPr>
        <p:spPr>
          <a:xfrm>
            <a:off x="4572000" y="2606040"/>
            <a:ext cx="54864" cy="411480"/>
          </a:xfrm>
          <a:prstGeom prst="rect">
            <a:avLst/>
          </a:prstGeom>
          <a:solidFill>
            <a:srgbClr val="0D9488"/>
          </a:solidFill>
          <a:ln w="12700">
            <a:solidFill>
              <a:srgbClr val="0D9488"/>
            </a:solidFill>
            <a:prstDash val="solid"/>
          </a:ln>
        </p:spPr>
      </p:sp>
      <p:sp>
        <p:nvSpPr>
          <p:cNvPr id="19" name="Text 17"/>
          <p:cNvSpPr/>
          <p:nvPr/>
        </p:nvSpPr>
        <p:spPr>
          <a:xfrm>
            <a:off x="4681728" y="2633472"/>
            <a:ext cx="1554480" cy="201168"/>
          </a:xfrm>
          <a:prstGeom prst="rect">
            <a:avLst/>
          </a:prstGeom>
          <a:noFill/>
          <a:ln/>
        </p:spPr>
        <p:txBody>
          <a:bodyPr wrap="square" lIns="0" tIns="0" rIns="0" bIns="0" rtlCol="0" anchor="ctr"/>
          <a:lstStyle/>
          <a:p>
            <a:pPr marL="0" indent="0">
              <a:buNone/>
            </a:pPr>
            <a:r>
              <a:rPr lang="en-US" sz="1000" b="1" dirty="0">
                <a:solidFill>
                  <a:srgbClr val="1E293B"/>
                </a:solidFill>
                <a:latin typeface="Consolas" pitchFamily="34" charset="0"/>
                <a:ea typeface="Consolas" pitchFamily="34" charset="-122"/>
                <a:cs typeface="Consolas" pitchFamily="34" charset="-120"/>
              </a:rPr>
              <a:t>+0.4 hingga +0.7</a:t>
            </a:r>
            <a:endParaRPr lang="en-US" sz="1000" dirty="0"/>
          </a:p>
        </p:txBody>
      </p:sp>
      <p:sp>
        <p:nvSpPr>
          <p:cNvPr id="20" name="Text 18"/>
          <p:cNvSpPr/>
          <p:nvPr/>
        </p:nvSpPr>
        <p:spPr>
          <a:xfrm>
            <a:off x="4681728" y="2816352"/>
            <a:ext cx="4069080" cy="164592"/>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Cukup Baik: Cluster cukup jelas namun ada beberapa tumpang tindih.</a:t>
            </a:r>
            <a:endParaRPr lang="en-US" sz="850" dirty="0"/>
          </a:p>
        </p:txBody>
      </p:sp>
      <p:sp>
        <p:nvSpPr>
          <p:cNvPr id="21" name="Shape 19"/>
          <p:cNvSpPr/>
          <p:nvPr/>
        </p:nvSpPr>
        <p:spPr>
          <a:xfrm>
            <a:off x="4572000" y="3063240"/>
            <a:ext cx="4297680" cy="411480"/>
          </a:xfrm>
          <a:prstGeom prst="rect">
            <a:avLst/>
          </a:prstGeom>
          <a:solidFill>
            <a:srgbClr val="FFFFFF"/>
          </a:solidFill>
          <a:ln w="12700">
            <a:solidFill>
              <a:srgbClr val="E2E8F0"/>
            </a:solidFill>
            <a:prstDash val="solid"/>
          </a:ln>
        </p:spPr>
      </p:sp>
      <p:sp>
        <p:nvSpPr>
          <p:cNvPr id="22" name="Shape 20"/>
          <p:cNvSpPr/>
          <p:nvPr/>
        </p:nvSpPr>
        <p:spPr>
          <a:xfrm>
            <a:off x="4572000" y="3063240"/>
            <a:ext cx="54864" cy="411480"/>
          </a:xfrm>
          <a:prstGeom prst="rect">
            <a:avLst/>
          </a:prstGeom>
          <a:solidFill>
            <a:srgbClr val="F59E0B"/>
          </a:solidFill>
          <a:ln w="12700">
            <a:solidFill>
              <a:srgbClr val="F59E0B"/>
            </a:solidFill>
            <a:prstDash val="solid"/>
          </a:ln>
        </p:spPr>
      </p:sp>
      <p:sp>
        <p:nvSpPr>
          <p:cNvPr id="23" name="Text 21"/>
          <p:cNvSpPr/>
          <p:nvPr/>
        </p:nvSpPr>
        <p:spPr>
          <a:xfrm>
            <a:off x="4681728" y="3090672"/>
            <a:ext cx="1554480" cy="201168"/>
          </a:xfrm>
          <a:prstGeom prst="rect">
            <a:avLst/>
          </a:prstGeom>
          <a:noFill/>
          <a:ln/>
        </p:spPr>
        <p:txBody>
          <a:bodyPr wrap="square" lIns="0" tIns="0" rIns="0" bIns="0" rtlCol="0" anchor="ctr"/>
          <a:lstStyle/>
          <a:p>
            <a:pPr marL="0" indent="0">
              <a:buNone/>
            </a:pPr>
            <a:r>
              <a:rPr lang="en-US" sz="1000" b="1" dirty="0">
                <a:solidFill>
                  <a:srgbClr val="1E293B"/>
                </a:solidFill>
                <a:latin typeface="Consolas" pitchFamily="34" charset="0"/>
                <a:ea typeface="Consolas" pitchFamily="34" charset="-122"/>
                <a:cs typeface="Consolas" pitchFamily="34" charset="-120"/>
              </a:rPr>
              <a:t>0 hingga +0.4</a:t>
            </a:r>
            <a:endParaRPr lang="en-US" sz="1000" dirty="0"/>
          </a:p>
        </p:txBody>
      </p:sp>
      <p:sp>
        <p:nvSpPr>
          <p:cNvPr id="24" name="Text 22"/>
          <p:cNvSpPr/>
          <p:nvPr/>
        </p:nvSpPr>
        <p:spPr>
          <a:xfrm>
            <a:off x="4681728" y="3273552"/>
            <a:ext cx="4069080" cy="164592"/>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Lemah: Cluster kurang jelas, banyak tumpang tindih.</a:t>
            </a:r>
            <a:endParaRPr lang="en-US" sz="850" dirty="0"/>
          </a:p>
        </p:txBody>
      </p:sp>
      <p:sp>
        <p:nvSpPr>
          <p:cNvPr id="25" name="Shape 23"/>
          <p:cNvSpPr/>
          <p:nvPr/>
        </p:nvSpPr>
        <p:spPr>
          <a:xfrm>
            <a:off x="4572000" y="3520440"/>
            <a:ext cx="4297680" cy="411480"/>
          </a:xfrm>
          <a:prstGeom prst="rect">
            <a:avLst/>
          </a:prstGeom>
          <a:solidFill>
            <a:srgbClr val="FFFFFF"/>
          </a:solidFill>
          <a:ln w="12700">
            <a:solidFill>
              <a:srgbClr val="E2E8F0"/>
            </a:solidFill>
            <a:prstDash val="solid"/>
          </a:ln>
        </p:spPr>
      </p:sp>
      <p:sp>
        <p:nvSpPr>
          <p:cNvPr id="26" name="Shape 24"/>
          <p:cNvSpPr/>
          <p:nvPr/>
        </p:nvSpPr>
        <p:spPr>
          <a:xfrm>
            <a:off x="4572000" y="3520440"/>
            <a:ext cx="54864" cy="411480"/>
          </a:xfrm>
          <a:prstGeom prst="rect">
            <a:avLst/>
          </a:prstGeom>
          <a:solidFill>
            <a:srgbClr val="EF4444"/>
          </a:solidFill>
          <a:ln w="12700">
            <a:solidFill>
              <a:srgbClr val="EF4444"/>
            </a:solidFill>
            <a:prstDash val="solid"/>
          </a:ln>
        </p:spPr>
      </p:sp>
      <p:sp>
        <p:nvSpPr>
          <p:cNvPr id="27" name="Text 25"/>
          <p:cNvSpPr/>
          <p:nvPr/>
        </p:nvSpPr>
        <p:spPr>
          <a:xfrm>
            <a:off x="4681728" y="3547872"/>
            <a:ext cx="1554480" cy="201168"/>
          </a:xfrm>
          <a:prstGeom prst="rect">
            <a:avLst/>
          </a:prstGeom>
          <a:noFill/>
          <a:ln/>
        </p:spPr>
        <p:txBody>
          <a:bodyPr wrap="square" lIns="0" tIns="0" rIns="0" bIns="0" rtlCol="0" anchor="ctr"/>
          <a:lstStyle/>
          <a:p>
            <a:pPr marL="0" indent="0">
              <a:buNone/>
            </a:pPr>
            <a:r>
              <a:rPr lang="en-US" sz="1000" b="1" dirty="0">
                <a:solidFill>
                  <a:srgbClr val="1E293B"/>
                </a:solidFill>
                <a:latin typeface="Consolas" pitchFamily="34" charset="0"/>
                <a:ea typeface="Consolas" pitchFamily="34" charset="-122"/>
                <a:cs typeface="Consolas" pitchFamily="34" charset="-120"/>
              </a:rPr>
              <a:t>Di bawah 0</a:t>
            </a:r>
            <a:endParaRPr lang="en-US" sz="1000" dirty="0"/>
          </a:p>
        </p:txBody>
      </p:sp>
      <p:sp>
        <p:nvSpPr>
          <p:cNvPr id="28" name="Text 26"/>
          <p:cNvSpPr/>
          <p:nvPr/>
        </p:nvSpPr>
        <p:spPr>
          <a:xfrm>
            <a:off x="4681728" y="3730752"/>
            <a:ext cx="4069080" cy="164592"/>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Salah Cluster: Data point mungkin masuk ke cluster yang salah.</a:t>
            </a:r>
            <a:endParaRPr lang="en-US" sz="850" dirty="0"/>
          </a:p>
        </p:txBody>
      </p:sp>
      <p:sp>
        <p:nvSpPr>
          <p:cNvPr id="29" name="Shape 27"/>
          <p:cNvSpPr/>
          <p:nvPr/>
        </p:nvSpPr>
        <p:spPr>
          <a:xfrm>
            <a:off x="274320" y="3108960"/>
            <a:ext cx="4114800" cy="1874520"/>
          </a:xfrm>
          <a:prstGeom prst="rect">
            <a:avLst/>
          </a:prstGeom>
          <a:solidFill>
            <a:srgbClr val="1E293B"/>
          </a:solidFill>
          <a:ln w="12700">
            <a:solidFill>
              <a:srgbClr val="334155"/>
            </a:solidFill>
            <a:prstDash val="solid"/>
          </a:ln>
          <a:effectLst>
            <a:outerShdw blurRad="101600" dist="25400" dir="8100000" algn="bl" rotWithShape="0">
              <a:srgbClr val="000000">
                <a:alpha val="10000"/>
              </a:srgbClr>
            </a:outerShdw>
          </a:effectLst>
        </p:spPr>
      </p:sp>
      <p:sp>
        <p:nvSpPr>
          <p:cNvPr id="30" name="Shape 28"/>
          <p:cNvSpPr/>
          <p:nvPr/>
        </p:nvSpPr>
        <p:spPr>
          <a:xfrm>
            <a:off x="274320" y="3108960"/>
            <a:ext cx="4114800" cy="256032"/>
          </a:xfrm>
          <a:prstGeom prst="rect">
            <a:avLst/>
          </a:prstGeom>
          <a:solidFill>
            <a:srgbClr val="334155"/>
          </a:solidFill>
          <a:ln w="12700">
            <a:solidFill>
              <a:srgbClr val="334155"/>
            </a:solidFill>
            <a:prstDash val="solid"/>
          </a:ln>
        </p:spPr>
      </p:sp>
      <p:sp>
        <p:nvSpPr>
          <p:cNvPr id="31" name="Text 29"/>
          <p:cNvSpPr/>
          <p:nvPr/>
        </p:nvSpPr>
        <p:spPr>
          <a:xfrm>
            <a:off x="384048" y="3127248"/>
            <a:ext cx="1371600" cy="219456"/>
          </a:xfrm>
          <a:prstGeom prst="rect">
            <a:avLst/>
          </a:prstGeom>
          <a:noFill/>
          <a:ln/>
        </p:spPr>
        <p:txBody>
          <a:bodyPr wrap="square" lIns="0" tIns="0" rIns="0" bIns="0" rtlCol="0" anchor="ctr"/>
          <a:lstStyle/>
          <a:p>
            <a:pPr marL="0" indent="0">
              <a:buNone/>
            </a:pPr>
            <a:r>
              <a:rPr lang="en-US" sz="900" dirty="0">
                <a:solidFill>
                  <a:srgbClr val="94A3B8"/>
                </a:solidFill>
                <a:latin typeface="Consolas" pitchFamily="34" charset="0"/>
                <a:ea typeface="Consolas" pitchFamily="34" charset="-122"/>
                <a:cs typeface="Consolas" pitchFamily="34" charset="-120"/>
              </a:rPr>
              <a:t>Python</a:t>
            </a:r>
            <a:endParaRPr lang="en-US" sz="900" dirty="0"/>
          </a:p>
        </p:txBody>
      </p:sp>
      <p:sp>
        <p:nvSpPr>
          <p:cNvPr id="32" name="Text 30"/>
          <p:cNvSpPr/>
          <p:nvPr/>
        </p:nvSpPr>
        <p:spPr>
          <a:xfrm>
            <a:off x="384048" y="3401568"/>
            <a:ext cx="4018496" cy="1527048"/>
          </a:xfrm>
          <a:prstGeom prst="rect">
            <a:avLst/>
          </a:prstGeom>
          <a:noFill/>
          <a:ln/>
        </p:spPr>
        <p:txBody>
          <a:bodyPr wrap="square" lIns="0" tIns="0" rIns="0" bIns="0" rtlCol="0" anchor="ctr"/>
          <a:lstStyle/>
          <a:p>
            <a:pPr marL="0" indent="0">
              <a:buNone/>
            </a:pPr>
            <a:r>
              <a:rPr lang="en-US" sz="500" dirty="0">
                <a:solidFill>
                  <a:srgbClr val="7DD3FC"/>
                </a:solidFill>
                <a:latin typeface="Consolas" pitchFamily="34" charset="0"/>
                <a:ea typeface="Consolas" pitchFamily="34" charset="-122"/>
                <a:cs typeface="Consolas" pitchFamily="34" charset="-120"/>
              </a:rPr>
              <a:t>from sklearn.metrics import silhouette_score</a:t>
            </a:r>
            <a:endParaRPr lang="en-US" sz="500" dirty="0"/>
          </a:p>
          <a:p>
            <a:pPr marL="0" indent="0">
              <a:buNone/>
            </a:pPr>
            <a:r>
              <a:rPr lang="en-US" sz="500" dirty="0">
                <a:solidFill>
                  <a:srgbClr val="7DD3FC"/>
                </a:solidFill>
                <a:latin typeface="Consolas" pitchFamily="34" charset="0"/>
                <a:ea typeface="Consolas" pitchFamily="34" charset="-122"/>
                <a:cs typeface="Consolas" pitchFamily="34" charset="-120"/>
              </a:rPr>
              <a:t>import matplotlib.pyplot as </a:t>
            </a:r>
            <a:r>
              <a:rPr lang="en-US" sz="500" dirty="0" err="1">
                <a:solidFill>
                  <a:srgbClr val="7DD3FC"/>
                </a:solidFill>
                <a:latin typeface="Consolas" pitchFamily="34" charset="0"/>
                <a:ea typeface="Consolas" pitchFamily="34" charset="-122"/>
                <a:cs typeface="Consolas" pitchFamily="34" charset="-120"/>
              </a:rPr>
              <a:t>plt</a:t>
            </a:r>
            <a:endParaRPr lang="en-US" sz="500" dirty="0"/>
          </a:p>
          <a:p>
            <a:pPr marL="0" indent="0">
              <a:buNone/>
            </a:pPr>
            <a:r>
              <a:rPr lang="en-US" sz="500" dirty="0">
                <a:solidFill>
                  <a:srgbClr val="7DD3FC"/>
                </a:solidFill>
                <a:latin typeface="Consolas" pitchFamily="34" charset="0"/>
                <a:ea typeface="Consolas" pitchFamily="34" charset="-122"/>
                <a:cs typeface="Consolas" pitchFamily="34" charset="-120"/>
              </a:rPr>
              <a:t># Hitung silhouette score</a:t>
            </a:r>
            <a:endParaRPr lang="en-US" sz="500" dirty="0"/>
          </a:p>
          <a:p>
            <a:pPr marL="0" indent="0">
              <a:buNone/>
            </a:pPr>
            <a:r>
              <a:rPr lang="en-US" sz="500" dirty="0">
                <a:solidFill>
                  <a:srgbClr val="7DD3FC"/>
                </a:solidFill>
                <a:latin typeface="Consolas" pitchFamily="34" charset="0"/>
                <a:ea typeface="Consolas" pitchFamily="34" charset="-122"/>
                <a:cs typeface="Consolas" pitchFamily="34" charset="-120"/>
              </a:rPr>
              <a:t>score = silhouette_score(X_scaled, labels)</a:t>
            </a:r>
            <a:endParaRPr lang="en-US" sz="500" dirty="0"/>
          </a:p>
          <a:p>
            <a:pPr marL="0" indent="0">
              <a:buNone/>
            </a:pPr>
            <a:r>
              <a:rPr lang="en-US" sz="500" dirty="0">
                <a:solidFill>
                  <a:srgbClr val="7DD3FC"/>
                </a:solidFill>
                <a:latin typeface="Consolas" pitchFamily="34" charset="0"/>
                <a:ea typeface="Consolas" pitchFamily="34" charset="-122"/>
                <a:cs typeface="Consolas" pitchFamily="34" charset="-120"/>
              </a:rPr>
              <a:t>print(f"Silhouette Score: {score:.3f}")</a:t>
            </a:r>
            <a:endParaRPr lang="en-US" sz="500" dirty="0"/>
          </a:p>
          <a:p>
            <a:pPr marL="0" indent="0">
              <a:buNone/>
            </a:pPr>
            <a:endParaRPr lang="en-US" sz="500" dirty="0"/>
          </a:p>
          <a:p>
            <a:pPr marL="0" indent="0">
              <a:buNone/>
            </a:pPr>
            <a:r>
              <a:rPr lang="en-US" sz="500" dirty="0">
                <a:solidFill>
                  <a:srgbClr val="7DD3FC"/>
                </a:solidFill>
                <a:latin typeface="Consolas" pitchFamily="34" charset="0"/>
                <a:ea typeface="Consolas" pitchFamily="34" charset="-122"/>
                <a:cs typeface="Consolas" pitchFamily="34" charset="-120"/>
              </a:rPr>
              <a:t># Bandingkan berbagai k</a:t>
            </a:r>
            <a:endParaRPr lang="en-US" sz="500" dirty="0"/>
          </a:p>
          <a:p>
            <a:pPr marL="0" indent="0">
              <a:buNone/>
            </a:pPr>
            <a:r>
              <a:rPr lang="en-US" sz="500" dirty="0">
                <a:solidFill>
                  <a:srgbClr val="7DD3FC"/>
                </a:solidFill>
                <a:latin typeface="Consolas" pitchFamily="34" charset="0"/>
                <a:ea typeface="Consolas" pitchFamily="34" charset="-122"/>
                <a:cs typeface="Consolas" pitchFamily="34" charset="-120"/>
              </a:rPr>
              <a:t>scores = []</a:t>
            </a:r>
            <a:endParaRPr lang="en-US" sz="500" dirty="0"/>
          </a:p>
          <a:p>
            <a:pPr marL="0" indent="0">
              <a:buNone/>
            </a:pPr>
            <a:r>
              <a:rPr lang="en-US" sz="500" dirty="0">
                <a:solidFill>
                  <a:srgbClr val="7DD3FC"/>
                </a:solidFill>
                <a:latin typeface="Consolas" pitchFamily="34" charset="0"/>
                <a:ea typeface="Consolas" pitchFamily="34" charset="-122"/>
                <a:cs typeface="Consolas" pitchFamily="34" charset="-120"/>
              </a:rPr>
              <a:t>for k in range(2, 11):</a:t>
            </a:r>
            <a:endParaRPr lang="en-US" sz="500" dirty="0"/>
          </a:p>
          <a:p>
            <a:pPr marL="0" indent="0">
              <a:buNone/>
            </a:pPr>
            <a:r>
              <a:rPr lang="en-US" sz="500" dirty="0">
                <a:solidFill>
                  <a:srgbClr val="7DD3FC"/>
                </a:solidFill>
                <a:latin typeface="Consolas" pitchFamily="34" charset="0"/>
                <a:ea typeface="Consolas" pitchFamily="34" charset="-122"/>
                <a:cs typeface="Consolas" pitchFamily="34" charset="-120"/>
              </a:rPr>
              <a:t>    km = KMeans(n_clusters=k, random_state=42)</a:t>
            </a:r>
            <a:endParaRPr lang="en-US" sz="500" dirty="0"/>
          </a:p>
          <a:p>
            <a:pPr marL="0" indent="0">
              <a:buNone/>
            </a:pPr>
            <a:r>
              <a:rPr lang="en-US" sz="500" dirty="0">
                <a:solidFill>
                  <a:srgbClr val="7DD3FC"/>
                </a:solidFill>
                <a:latin typeface="Consolas" pitchFamily="34" charset="0"/>
                <a:ea typeface="Consolas" pitchFamily="34" charset="-122"/>
                <a:cs typeface="Consolas" pitchFamily="34" charset="-120"/>
              </a:rPr>
              <a:t>    lbl = km.fit_predict(X_scaled)</a:t>
            </a:r>
            <a:endParaRPr lang="en-US" sz="500" dirty="0"/>
          </a:p>
          <a:p>
            <a:pPr marL="0" indent="0">
              <a:buNone/>
            </a:pPr>
            <a:r>
              <a:rPr lang="en-US" sz="500" dirty="0">
                <a:solidFill>
                  <a:srgbClr val="7DD3FC"/>
                </a:solidFill>
                <a:latin typeface="Consolas" pitchFamily="34" charset="0"/>
                <a:ea typeface="Consolas" pitchFamily="34" charset="-122"/>
                <a:cs typeface="Consolas" pitchFamily="34" charset="-120"/>
              </a:rPr>
              <a:t>    scores.append(silhouette_score(X_scaled, lbl))</a:t>
            </a:r>
            <a:endParaRPr lang="en-US" sz="500" dirty="0"/>
          </a:p>
          <a:p>
            <a:pPr marL="0" indent="0">
              <a:buNone/>
            </a:pPr>
            <a:endParaRPr lang="en-US" sz="500" dirty="0"/>
          </a:p>
          <a:p>
            <a:pPr marL="0" indent="0">
              <a:buNone/>
            </a:pPr>
            <a:r>
              <a:rPr lang="en-US" sz="500" dirty="0">
                <a:solidFill>
                  <a:srgbClr val="7DD3FC"/>
                </a:solidFill>
                <a:latin typeface="Consolas" pitchFamily="34" charset="0"/>
                <a:ea typeface="Consolas" pitchFamily="34" charset="-122"/>
                <a:cs typeface="Consolas" pitchFamily="34" charset="-120"/>
              </a:rPr>
              <a:t>plt.plot(range(2, 11), scores, 'go-')</a:t>
            </a:r>
            <a:endParaRPr lang="en-US" sz="500" dirty="0"/>
          </a:p>
          <a:p>
            <a:pPr marL="0" indent="0">
              <a:buNone/>
            </a:pPr>
            <a:r>
              <a:rPr lang="en-US" sz="500" dirty="0">
                <a:solidFill>
                  <a:srgbClr val="7DD3FC"/>
                </a:solidFill>
                <a:latin typeface="Consolas" pitchFamily="34" charset="0"/>
                <a:ea typeface="Consolas" pitchFamily="34" charset="-122"/>
                <a:cs typeface="Consolas" pitchFamily="34" charset="-120"/>
              </a:rPr>
              <a:t>plt.xlabel('k'); plt.ylabel('Silhouette Score')</a:t>
            </a:r>
            <a:endParaRPr lang="en-US" sz="500" dirty="0"/>
          </a:p>
          <a:p>
            <a:pPr marL="0" indent="0">
              <a:buNone/>
            </a:pPr>
            <a:r>
              <a:rPr lang="en-US" sz="500" dirty="0">
                <a:solidFill>
                  <a:srgbClr val="7DD3FC"/>
                </a:solidFill>
                <a:latin typeface="Consolas" pitchFamily="34" charset="0"/>
                <a:ea typeface="Consolas" pitchFamily="34" charset="-122"/>
                <a:cs typeface="Consolas" pitchFamily="34" charset="-120"/>
              </a:rPr>
              <a:t>plt.title('Silhouette Score vs k')</a:t>
            </a:r>
            <a:endParaRPr lang="en-US" sz="500" dirty="0"/>
          </a:p>
          <a:p>
            <a:pPr marL="0" indent="0">
              <a:buNone/>
            </a:pPr>
            <a:r>
              <a:rPr lang="en-US" sz="500" dirty="0">
                <a:solidFill>
                  <a:srgbClr val="7DD3FC"/>
                </a:solidFill>
                <a:latin typeface="Consolas" pitchFamily="34" charset="0"/>
                <a:ea typeface="Consolas" pitchFamily="34" charset="-122"/>
                <a:cs typeface="Consolas" pitchFamily="34" charset="-120"/>
              </a:rPr>
              <a:t>plt.show()</a:t>
            </a:r>
            <a:endParaRPr lang="en-US" sz="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342"/>
          </a:solidFill>
          <a:ln w="12700">
            <a:solidFill>
              <a:srgbClr val="0A2342"/>
            </a:solidFill>
            <a:prstDash val="solid"/>
          </a:ln>
        </p:spPr>
      </p:sp>
      <p:sp>
        <p:nvSpPr>
          <p:cNvPr id="3" name="Shape 1"/>
          <p:cNvSpPr/>
          <p:nvPr/>
        </p:nvSpPr>
        <p:spPr>
          <a:xfrm>
            <a:off x="0" y="1005840"/>
            <a:ext cx="9144000" cy="45720"/>
          </a:xfrm>
          <a:prstGeom prst="rect">
            <a:avLst/>
          </a:prstGeom>
          <a:solidFill>
            <a:srgbClr val="0D9488"/>
          </a:solidFill>
          <a:ln w="12700">
            <a:solidFill>
              <a:srgbClr val="0D9488"/>
            </a:solidFill>
            <a:prstDash val="solid"/>
          </a:ln>
        </p:spPr>
      </p:sp>
      <p:sp>
        <p:nvSpPr>
          <p:cNvPr id="4" name="Text 2"/>
          <p:cNvSpPr/>
          <p:nvPr/>
        </p:nvSpPr>
        <p:spPr>
          <a:xfrm>
            <a:off x="365760" y="91440"/>
            <a:ext cx="822960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Ringkasan Materi</a:t>
            </a:r>
            <a:endParaRPr lang="en-US" sz="2200" dirty="0"/>
          </a:p>
        </p:txBody>
      </p:sp>
      <p:sp>
        <p:nvSpPr>
          <p:cNvPr id="5" name="Text 3"/>
          <p:cNvSpPr/>
          <p:nvPr/>
        </p:nvSpPr>
        <p:spPr>
          <a:xfrm>
            <a:off x="365760" y="658368"/>
            <a:ext cx="8229600" cy="320040"/>
          </a:xfrm>
          <a:prstGeom prst="rect">
            <a:avLst/>
          </a:prstGeom>
          <a:noFill/>
          <a:ln/>
        </p:spPr>
        <p:txBody>
          <a:bodyPr wrap="square" lIns="0" tIns="0" rIns="0" bIns="0" rtlCol="0" anchor="ctr"/>
          <a:lstStyle/>
          <a:p>
            <a:pPr marL="0" indent="0">
              <a:buNone/>
            </a:pPr>
            <a:r>
              <a:rPr lang="en-US" sz="1100" dirty="0">
                <a:solidFill>
                  <a:srgbClr val="60A5FA"/>
                </a:solidFill>
                <a:latin typeface="Calibri" pitchFamily="34" charset="0"/>
                <a:ea typeface="Calibri" pitchFamily="34" charset="-122"/>
                <a:cs typeface="Calibri" pitchFamily="34" charset="-120"/>
              </a:rPr>
              <a:t>Recap: Unsupervised Learning — Week 8</a:t>
            </a:r>
            <a:endParaRPr lang="en-US" sz="1100" dirty="0"/>
          </a:p>
        </p:txBody>
      </p:sp>
      <p:sp>
        <p:nvSpPr>
          <p:cNvPr id="6" name="Shape 4"/>
          <p:cNvSpPr/>
          <p:nvPr/>
        </p:nvSpPr>
        <p:spPr>
          <a:xfrm>
            <a:off x="274320" y="1143000"/>
            <a:ext cx="2788920" cy="182880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7" name="Shape 5"/>
          <p:cNvSpPr/>
          <p:nvPr/>
        </p:nvSpPr>
        <p:spPr>
          <a:xfrm>
            <a:off x="274320" y="1143000"/>
            <a:ext cx="2788920" cy="411480"/>
          </a:xfrm>
          <a:prstGeom prst="rect">
            <a:avLst/>
          </a:prstGeom>
          <a:solidFill>
            <a:srgbClr val="0A2342"/>
          </a:solidFill>
          <a:ln w="12700">
            <a:solidFill>
              <a:srgbClr val="0A2342"/>
            </a:solidFill>
            <a:prstDash val="solid"/>
          </a:ln>
        </p:spPr>
      </p:sp>
      <p:sp>
        <p:nvSpPr>
          <p:cNvPr id="8" name="Text 6"/>
          <p:cNvSpPr/>
          <p:nvPr/>
        </p:nvSpPr>
        <p:spPr>
          <a:xfrm>
            <a:off x="365760" y="1225296"/>
            <a:ext cx="260604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Unsupervised Learning</a:t>
            </a:r>
            <a:endParaRPr lang="en-US" sz="1200" dirty="0"/>
          </a:p>
        </p:txBody>
      </p:sp>
      <p:sp>
        <p:nvSpPr>
          <p:cNvPr id="9" name="Shape 7"/>
          <p:cNvSpPr/>
          <p:nvPr/>
        </p:nvSpPr>
        <p:spPr>
          <a:xfrm>
            <a:off x="384048" y="1645920"/>
            <a:ext cx="45720" cy="182880"/>
          </a:xfrm>
          <a:prstGeom prst="rect">
            <a:avLst/>
          </a:prstGeom>
          <a:solidFill>
            <a:srgbClr val="0A2342"/>
          </a:solidFill>
          <a:ln w="12700">
            <a:solidFill>
              <a:srgbClr val="0A2342"/>
            </a:solidFill>
            <a:prstDash val="solid"/>
          </a:ln>
        </p:spPr>
      </p:sp>
      <p:sp>
        <p:nvSpPr>
          <p:cNvPr id="10" name="Text 8"/>
          <p:cNvSpPr/>
          <p:nvPr/>
        </p:nvSpPr>
        <p:spPr>
          <a:xfrm>
            <a:off x="493776" y="1618488"/>
            <a:ext cx="2496312"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Belajar dari data tanpa label</a:t>
            </a:r>
            <a:endParaRPr lang="en-US" sz="900" dirty="0"/>
          </a:p>
        </p:txBody>
      </p:sp>
      <p:sp>
        <p:nvSpPr>
          <p:cNvPr id="11" name="Shape 9"/>
          <p:cNvSpPr/>
          <p:nvPr/>
        </p:nvSpPr>
        <p:spPr>
          <a:xfrm>
            <a:off x="384048" y="2048256"/>
            <a:ext cx="45720" cy="182880"/>
          </a:xfrm>
          <a:prstGeom prst="rect">
            <a:avLst/>
          </a:prstGeom>
          <a:solidFill>
            <a:srgbClr val="0A2342"/>
          </a:solidFill>
          <a:ln w="12700">
            <a:solidFill>
              <a:srgbClr val="0A2342"/>
            </a:solidFill>
            <a:prstDash val="solid"/>
          </a:ln>
        </p:spPr>
      </p:sp>
      <p:sp>
        <p:nvSpPr>
          <p:cNvPr id="12" name="Text 10"/>
          <p:cNvSpPr/>
          <p:nvPr/>
        </p:nvSpPr>
        <p:spPr>
          <a:xfrm>
            <a:off x="493776" y="2020824"/>
            <a:ext cx="2496312"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Tujuan: temukan pola/struktur tersembunyi</a:t>
            </a:r>
            <a:endParaRPr lang="en-US" sz="900" dirty="0"/>
          </a:p>
        </p:txBody>
      </p:sp>
      <p:sp>
        <p:nvSpPr>
          <p:cNvPr id="13" name="Shape 11"/>
          <p:cNvSpPr/>
          <p:nvPr/>
        </p:nvSpPr>
        <p:spPr>
          <a:xfrm>
            <a:off x="384048" y="2450592"/>
            <a:ext cx="45720" cy="182880"/>
          </a:xfrm>
          <a:prstGeom prst="rect">
            <a:avLst/>
          </a:prstGeom>
          <a:solidFill>
            <a:srgbClr val="0A2342"/>
          </a:solidFill>
          <a:ln w="12700">
            <a:solidFill>
              <a:srgbClr val="0A2342"/>
            </a:solidFill>
            <a:prstDash val="solid"/>
          </a:ln>
        </p:spPr>
      </p:sp>
      <p:sp>
        <p:nvSpPr>
          <p:cNvPr id="14" name="Text 12"/>
          <p:cNvSpPr/>
          <p:nvPr/>
        </p:nvSpPr>
        <p:spPr>
          <a:xfrm>
            <a:off x="493776" y="2423160"/>
            <a:ext cx="2496312"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Dua tipe utama: Dimensionality Reduction &amp; Clustering</a:t>
            </a:r>
            <a:endParaRPr lang="en-US" sz="900" dirty="0"/>
          </a:p>
        </p:txBody>
      </p:sp>
      <p:sp>
        <p:nvSpPr>
          <p:cNvPr id="15" name="Shape 13"/>
          <p:cNvSpPr/>
          <p:nvPr/>
        </p:nvSpPr>
        <p:spPr>
          <a:xfrm>
            <a:off x="3227832" y="1143000"/>
            <a:ext cx="2788920" cy="182880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16" name="Shape 14"/>
          <p:cNvSpPr/>
          <p:nvPr/>
        </p:nvSpPr>
        <p:spPr>
          <a:xfrm>
            <a:off x="3227832" y="1143000"/>
            <a:ext cx="2788920" cy="411480"/>
          </a:xfrm>
          <a:prstGeom prst="rect">
            <a:avLst/>
          </a:prstGeom>
          <a:solidFill>
            <a:srgbClr val="0D9488"/>
          </a:solidFill>
          <a:ln w="12700">
            <a:solidFill>
              <a:srgbClr val="0D9488"/>
            </a:solidFill>
            <a:prstDash val="solid"/>
          </a:ln>
        </p:spPr>
      </p:sp>
      <p:sp>
        <p:nvSpPr>
          <p:cNvPr id="17" name="Text 15"/>
          <p:cNvSpPr/>
          <p:nvPr/>
        </p:nvSpPr>
        <p:spPr>
          <a:xfrm>
            <a:off x="3319272" y="1225296"/>
            <a:ext cx="260604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PCA</a:t>
            </a:r>
            <a:endParaRPr lang="en-US" sz="1200" dirty="0"/>
          </a:p>
        </p:txBody>
      </p:sp>
      <p:sp>
        <p:nvSpPr>
          <p:cNvPr id="18" name="Shape 16"/>
          <p:cNvSpPr/>
          <p:nvPr/>
        </p:nvSpPr>
        <p:spPr>
          <a:xfrm>
            <a:off x="3337560" y="1645920"/>
            <a:ext cx="45720" cy="182880"/>
          </a:xfrm>
          <a:prstGeom prst="rect">
            <a:avLst/>
          </a:prstGeom>
          <a:solidFill>
            <a:srgbClr val="0D9488"/>
          </a:solidFill>
          <a:ln w="12700">
            <a:solidFill>
              <a:srgbClr val="0D9488"/>
            </a:solidFill>
            <a:prstDash val="solid"/>
          </a:ln>
        </p:spPr>
      </p:sp>
      <p:sp>
        <p:nvSpPr>
          <p:cNvPr id="19" name="Text 17"/>
          <p:cNvSpPr/>
          <p:nvPr/>
        </p:nvSpPr>
        <p:spPr>
          <a:xfrm>
            <a:off x="3447288" y="1618488"/>
            <a:ext cx="2496312"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Mencari arah variansi terbesar (Principal Components)</a:t>
            </a:r>
            <a:endParaRPr lang="en-US" sz="900" dirty="0"/>
          </a:p>
        </p:txBody>
      </p:sp>
      <p:sp>
        <p:nvSpPr>
          <p:cNvPr id="20" name="Shape 18"/>
          <p:cNvSpPr/>
          <p:nvPr/>
        </p:nvSpPr>
        <p:spPr>
          <a:xfrm>
            <a:off x="3337560" y="2048256"/>
            <a:ext cx="45720" cy="182880"/>
          </a:xfrm>
          <a:prstGeom prst="rect">
            <a:avLst/>
          </a:prstGeom>
          <a:solidFill>
            <a:srgbClr val="0D9488"/>
          </a:solidFill>
          <a:ln w="12700">
            <a:solidFill>
              <a:srgbClr val="0D9488"/>
            </a:solidFill>
            <a:prstDash val="solid"/>
          </a:ln>
        </p:spPr>
      </p:sp>
      <p:sp>
        <p:nvSpPr>
          <p:cNvPr id="21" name="Text 19"/>
          <p:cNvSpPr/>
          <p:nvPr/>
        </p:nvSpPr>
        <p:spPr>
          <a:xfrm>
            <a:off x="3447288" y="2020824"/>
            <a:ext cx="2496312"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Langkah: Scale → Covariance Matrix → Eigendecomp → Project</a:t>
            </a:r>
            <a:endParaRPr lang="en-US" sz="900" dirty="0"/>
          </a:p>
        </p:txBody>
      </p:sp>
      <p:sp>
        <p:nvSpPr>
          <p:cNvPr id="22" name="Shape 20"/>
          <p:cNvSpPr/>
          <p:nvPr/>
        </p:nvSpPr>
        <p:spPr>
          <a:xfrm>
            <a:off x="3337560" y="2450592"/>
            <a:ext cx="45720" cy="182880"/>
          </a:xfrm>
          <a:prstGeom prst="rect">
            <a:avLst/>
          </a:prstGeom>
          <a:solidFill>
            <a:srgbClr val="0D9488"/>
          </a:solidFill>
          <a:ln w="12700">
            <a:solidFill>
              <a:srgbClr val="0D9488"/>
            </a:solidFill>
            <a:prstDash val="solid"/>
          </a:ln>
        </p:spPr>
      </p:sp>
      <p:sp>
        <p:nvSpPr>
          <p:cNvPr id="23" name="Text 21"/>
          <p:cNvSpPr/>
          <p:nvPr/>
        </p:nvSpPr>
        <p:spPr>
          <a:xfrm>
            <a:off x="3447288" y="2423160"/>
            <a:ext cx="2496312"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Gunakan ketika: visualisasi, noise reduction, atau fitur terlalu banyak</a:t>
            </a:r>
            <a:endParaRPr lang="en-US" sz="900" dirty="0"/>
          </a:p>
        </p:txBody>
      </p:sp>
      <p:sp>
        <p:nvSpPr>
          <p:cNvPr id="24" name="Shape 22"/>
          <p:cNvSpPr/>
          <p:nvPr/>
        </p:nvSpPr>
        <p:spPr>
          <a:xfrm>
            <a:off x="6181344" y="1143000"/>
            <a:ext cx="2788920" cy="182880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25" name="Shape 23"/>
          <p:cNvSpPr/>
          <p:nvPr/>
        </p:nvSpPr>
        <p:spPr>
          <a:xfrm>
            <a:off x="6181344" y="1143000"/>
            <a:ext cx="2788920" cy="411480"/>
          </a:xfrm>
          <a:prstGeom prst="rect">
            <a:avLst/>
          </a:prstGeom>
          <a:solidFill>
            <a:srgbClr val="1A56DB"/>
          </a:solidFill>
          <a:ln w="12700">
            <a:solidFill>
              <a:srgbClr val="1A56DB"/>
            </a:solidFill>
            <a:prstDash val="solid"/>
          </a:ln>
        </p:spPr>
      </p:sp>
      <p:sp>
        <p:nvSpPr>
          <p:cNvPr id="26" name="Text 24"/>
          <p:cNvSpPr/>
          <p:nvPr/>
        </p:nvSpPr>
        <p:spPr>
          <a:xfrm>
            <a:off x="6272784" y="1225296"/>
            <a:ext cx="260604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K-Means</a:t>
            </a:r>
            <a:endParaRPr lang="en-US" sz="1200" dirty="0"/>
          </a:p>
        </p:txBody>
      </p:sp>
      <p:sp>
        <p:nvSpPr>
          <p:cNvPr id="27" name="Shape 25"/>
          <p:cNvSpPr/>
          <p:nvPr/>
        </p:nvSpPr>
        <p:spPr>
          <a:xfrm>
            <a:off x="6291072" y="1645920"/>
            <a:ext cx="45720" cy="182880"/>
          </a:xfrm>
          <a:prstGeom prst="rect">
            <a:avLst/>
          </a:prstGeom>
          <a:solidFill>
            <a:srgbClr val="1A56DB"/>
          </a:solidFill>
          <a:ln w="12700">
            <a:solidFill>
              <a:srgbClr val="1A56DB"/>
            </a:solidFill>
            <a:prstDash val="solid"/>
          </a:ln>
        </p:spPr>
      </p:sp>
      <p:sp>
        <p:nvSpPr>
          <p:cNvPr id="28" name="Text 26"/>
          <p:cNvSpPr/>
          <p:nvPr/>
        </p:nvSpPr>
        <p:spPr>
          <a:xfrm>
            <a:off x="6400800" y="1618488"/>
            <a:ext cx="2496312"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Cluster berdasarkan kedekatan ke centroid</a:t>
            </a:r>
            <a:endParaRPr lang="en-US" sz="900" dirty="0"/>
          </a:p>
        </p:txBody>
      </p:sp>
      <p:sp>
        <p:nvSpPr>
          <p:cNvPr id="29" name="Shape 27"/>
          <p:cNvSpPr/>
          <p:nvPr/>
        </p:nvSpPr>
        <p:spPr>
          <a:xfrm>
            <a:off x="6291072" y="2048256"/>
            <a:ext cx="45720" cy="182880"/>
          </a:xfrm>
          <a:prstGeom prst="rect">
            <a:avLst/>
          </a:prstGeom>
          <a:solidFill>
            <a:srgbClr val="1A56DB"/>
          </a:solidFill>
          <a:ln w="12700">
            <a:solidFill>
              <a:srgbClr val="1A56DB"/>
            </a:solidFill>
            <a:prstDash val="solid"/>
          </a:ln>
        </p:spPr>
      </p:sp>
      <p:sp>
        <p:nvSpPr>
          <p:cNvPr id="30" name="Text 28"/>
          <p:cNvSpPr/>
          <p:nvPr/>
        </p:nvSpPr>
        <p:spPr>
          <a:xfrm>
            <a:off x="6400800" y="2020824"/>
            <a:ext cx="2496312"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Harus tentukan k terlebih dahulu</a:t>
            </a:r>
            <a:endParaRPr lang="en-US" sz="900" dirty="0"/>
          </a:p>
        </p:txBody>
      </p:sp>
      <p:sp>
        <p:nvSpPr>
          <p:cNvPr id="31" name="Shape 29"/>
          <p:cNvSpPr/>
          <p:nvPr/>
        </p:nvSpPr>
        <p:spPr>
          <a:xfrm>
            <a:off x="6291072" y="2450592"/>
            <a:ext cx="45720" cy="182880"/>
          </a:xfrm>
          <a:prstGeom prst="rect">
            <a:avLst/>
          </a:prstGeom>
          <a:solidFill>
            <a:srgbClr val="1A56DB"/>
          </a:solidFill>
          <a:ln w="12700">
            <a:solidFill>
              <a:srgbClr val="1A56DB"/>
            </a:solidFill>
            <a:prstDash val="solid"/>
          </a:ln>
        </p:spPr>
      </p:sp>
      <p:sp>
        <p:nvSpPr>
          <p:cNvPr id="32" name="Text 30"/>
          <p:cNvSpPr/>
          <p:nvPr/>
        </p:nvSpPr>
        <p:spPr>
          <a:xfrm>
            <a:off x="6400800" y="2423160"/>
            <a:ext cx="2496312"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Baik untuk cluster berbentuk bulat &amp; tidak ada outlier</a:t>
            </a:r>
            <a:endParaRPr lang="en-US" sz="900" dirty="0"/>
          </a:p>
        </p:txBody>
      </p:sp>
      <p:sp>
        <p:nvSpPr>
          <p:cNvPr id="33" name="Shape 31"/>
          <p:cNvSpPr/>
          <p:nvPr/>
        </p:nvSpPr>
        <p:spPr>
          <a:xfrm>
            <a:off x="1572768" y="3108960"/>
            <a:ext cx="2788920" cy="182880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34" name="Shape 32"/>
          <p:cNvSpPr/>
          <p:nvPr/>
        </p:nvSpPr>
        <p:spPr>
          <a:xfrm>
            <a:off x="1572768" y="3108960"/>
            <a:ext cx="2788920" cy="411480"/>
          </a:xfrm>
          <a:prstGeom prst="rect">
            <a:avLst/>
          </a:prstGeom>
          <a:solidFill>
            <a:srgbClr val="F59E0B"/>
          </a:solidFill>
          <a:ln w="12700">
            <a:solidFill>
              <a:srgbClr val="F59E0B"/>
            </a:solidFill>
            <a:prstDash val="solid"/>
          </a:ln>
        </p:spPr>
      </p:sp>
      <p:sp>
        <p:nvSpPr>
          <p:cNvPr id="35" name="Text 33"/>
          <p:cNvSpPr/>
          <p:nvPr/>
        </p:nvSpPr>
        <p:spPr>
          <a:xfrm>
            <a:off x="1664208" y="3191256"/>
            <a:ext cx="260604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DBSCAN</a:t>
            </a:r>
            <a:endParaRPr lang="en-US" sz="1200" dirty="0"/>
          </a:p>
        </p:txBody>
      </p:sp>
      <p:sp>
        <p:nvSpPr>
          <p:cNvPr id="36" name="Shape 34"/>
          <p:cNvSpPr/>
          <p:nvPr/>
        </p:nvSpPr>
        <p:spPr>
          <a:xfrm>
            <a:off x="1682496" y="3611880"/>
            <a:ext cx="45720" cy="182880"/>
          </a:xfrm>
          <a:prstGeom prst="rect">
            <a:avLst/>
          </a:prstGeom>
          <a:solidFill>
            <a:srgbClr val="F59E0B"/>
          </a:solidFill>
          <a:ln w="12700">
            <a:solidFill>
              <a:srgbClr val="F59E0B"/>
            </a:solidFill>
            <a:prstDash val="solid"/>
          </a:ln>
        </p:spPr>
      </p:sp>
      <p:sp>
        <p:nvSpPr>
          <p:cNvPr id="37" name="Text 35"/>
          <p:cNvSpPr/>
          <p:nvPr/>
        </p:nvSpPr>
        <p:spPr>
          <a:xfrm>
            <a:off x="1792224" y="3584448"/>
            <a:ext cx="2496312"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Cluster berdasarkan kepadatan (density)</a:t>
            </a:r>
            <a:endParaRPr lang="en-US" sz="900" dirty="0"/>
          </a:p>
        </p:txBody>
      </p:sp>
      <p:sp>
        <p:nvSpPr>
          <p:cNvPr id="38" name="Shape 36"/>
          <p:cNvSpPr/>
          <p:nvPr/>
        </p:nvSpPr>
        <p:spPr>
          <a:xfrm>
            <a:off x="1682496" y="4014216"/>
            <a:ext cx="45720" cy="182880"/>
          </a:xfrm>
          <a:prstGeom prst="rect">
            <a:avLst/>
          </a:prstGeom>
          <a:solidFill>
            <a:srgbClr val="F59E0B"/>
          </a:solidFill>
          <a:ln w="12700">
            <a:solidFill>
              <a:srgbClr val="F59E0B"/>
            </a:solidFill>
            <a:prstDash val="solid"/>
          </a:ln>
        </p:spPr>
      </p:sp>
      <p:sp>
        <p:nvSpPr>
          <p:cNvPr id="39" name="Text 37"/>
          <p:cNvSpPr/>
          <p:nvPr/>
        </p:nvSpPr>
        <p:spPr>
          <a:xfrm>
            <a:off x="1792224" y="3986784"/>
            <a:ext cx="2496312"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Tidak perlu k; bisa deteksi outlier otomatis</a:t>
            </a:r>
            <a:endParaRPr lang="en-US" sz="900" dirty="0"/>
          </a:p>
        </p:txBody>
      </p:sp>
      <p:sp>
        <p:nvSpPr>
          <p:cNvPr id="40" name="Shape 38"/>
          <p:cNvSpPr/>
          <p:nvPr/>
        </p:nvSpPr>
        <p:spPr>
          <a:xfrm>
            <a:off x="1682496" y="4416552"/>
            <a:ext cx="45720" cy="182880"/>
          </a:xfrm>
          <a:prstGeom prst="rect">
            <a:avLst/>
          </a:prstGeom>
          <a:solidFill>
            <a:srgbClr val="F59E0B"/>
          </a:solidFill>
          <a:ln w="12700">
            <a:solidFill>
              <a:srgbClr val="F59E0B"/>
            </a:solidFill>
            <a:prstDash val="solid"/>
          </a:ln>
        </p:spPr>
      </p:sp>
      <p:sp>
        <p:nvSpPr>
          <p:cNvPr id="41" name="Text 39"/>
          <p:cNvSpPr/>
          <p:nvPr/>
        </p:nvSpPr>
        <p:spPr>
          <a:xfrm>
            <a:off x="1792224" y="4389120"/>
            <a:ext cx="2496312"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Baik untuk cluster berbentuk bebas &amp; data dengan noise</a:t>
            </a:r>
            <a:endParaRPr lang="en-US" sz="900" dirty="0"/>
          </a:p>
        </p:txBody>
      </p:sp>
      <p:sp>
        <p:nvSpPr>
          <p:cNvPr id="42" name="Shape 40"/>
          <p:cNvSpPr/>
          <p:nvPr/>
        </p:nvSpPr>
        <p:spPr>
          <a:xfrm>
            <a:off x="4526280" y="3108960"/>
            <a:ext cx="2788920" cy="1828800"/>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43" name="Shape 41"/>
          <p:cNvSpPr/>
          <p:nvPr/>
        </p:nvSpPr>
        <p:spPr>
          <a:xfrm>
            <a:off x="4526280" y="3108960"/>
            <a:ext cx="2788920" cy="411480"/>
          </a:xfrm>
          <a:prstGeom prst="rect">
            <a:avLst/>
          </a:prstGeom>
          <a:solidFill>
            <a:srgbClr val="10B981"/>
          </a:solidFill>
          <a:ln w="12700">
            <a:solidFill>
              <a:srgbClr val="10B981"/>
            </a:solidFill>
            <a:prstDash val="solid"/>
          </a:ln>
        </p:spPr>
      </p:sp>
      <p:sp>
        <p:nvSpPr>
          <p:cNvPr id="44" name="Text 42"/>
          <p:cNvSpPr/>
          <p:nvPr/>
        </p:nvSpPr>
        <p:spPr>
          <a:xfrm>
            <a:off x="4617720" y="3191256"/>
            <a:ext cx="260604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Evaluasi Clustering</a:t>
            </a:r>
            <a:endParaRPr lang="en-US" sz="1200" dirty="0"/>
          </a:p>
        </p:txBody>
      </p:sp>
      <p:sp>
        <p:nvSpPr>
          <p:cNvPr id="45" name="Shape 43"/>
          <p:cNvSpPr/>
          <p:nvPr/>
        </p:nvSpPr>
        <p:spPr>
          <a:xfrm>
            <a:off x="4636008" y="3611880"/>
            <a:ext cx="45720" cy="182880"/>
          </a:xfrm>
          <a:prstGeom prst="rect">
            <a:avLst/>
          </a:prstGeom>
          <a:solidFill>
            <a:srgbClr val="10B981"/>
          </a:solidFill>
          <a:ln w="12700">
            <a:solidFill>
              <a:srgbClr val="10B981"/>
            </a:solidFill>
            <a:prstDash val="solid"/>
          </a:ln>
        </p:spPr>
      </p:sp>
      <p:sp>
        <p:nvSpPr>
          <p:cNvPr id="46" name="Text 44"/>
          <p:cNvSpPr/>
          <p:nvPr/>
        </p:nvSpPr>
        <p:spPr>
          <a:xfrm>
            <a:off x="4745736" y="3584448"/>
            <a:ext cx="2496312"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Elbow Method: cari 'siku' pada grafik WCSS vs k</a:t>
            </a:r>
            <a:endParaRPr lang="en-US" sz="900" dirty="0"/>
          </a:p>
        </p:txBody>
      </p:sp>
      <p:sp>
        <p:nvSpPr>
          <p:cNvPr id="47" name="Shape 45"/>
          <p:cNvSpPr/>
          <p:nvPr/>
        </p:nvSpPr>
        <p:spPr>
          <a:xfrm>
            <a:off x="4636008" y="4014216"/>
            <a:ext cx="45720" cy="182880"/>
          </a:xfrm>
          <a:prstGeom prst="rect">
            <a:avLst/>
          </a:prstGeom>
          <a:solidFill>
            <a:srgbClr val="10B981"/>
          </a:solidFill>
          <a:ln w="12700">
            <a:solidFill>
              <a:srgbClr val="10B981"/>
            </a:solidFill>
            <a:prstDash val="solid"/>
          </a:ln>
        </p:spPr>
      </p:sp>
      <p:sp>
        <p:nvSpPr>
          <p:cNvPr id="48" name="Text 46"/>
          <p:cNvSpPr/>
          <p:nvPr/>
        </p:nvSpPr>
        <p:spPr>
          <a:xfrm>
            <a:off x="4745736" y="3986784"/>
            <a:ext cx="2496312"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Silhouette Score: nilai antara -1 dan +1 (makin tinggi makin baik)</a:t>
            </a:r>
            <a:endParaRPr lang="en-US" sz="900" dirty="0"/>
          </a:p>
        </p:txBody>
      </p:sp>
      <p:sp>
        <p:nvSpPr>
          <p:cNvPr id="49" name="Shape 47"/>
          <p:cNvSpPr/>
          <p:nvPr/>
        </p:nvSpPr>
        <p:spPr>
          <a:xfrm>
            <a:off x="4636008" y="4416552"/>
            <a:ext cx="45720" cy="182880"/>
          </a:xfrm>
          <a:prstGeom prst="rect">
            <a:avLst/>
          </a:prstGeom>
          <a:solidFill>
            <a:srgbClr val="10B981"/>
          </a:solidFill>
          <a:ln w="12700">
            <a:solidFill>
              <a:srgbClr val="10B981"/>
            </a:solidFill>
            <a:prstDash val="solid"/>
          </a:ln>
        </p:spPr>
      </p:sp>
      <p:sp>
        <p:nvSpPr>
          <p:cNvPr id="50" name="Text 48"/>
          <p:cNvSpPr/>
          <p:nvPr/>
        </p:nvSpPr>
        <p:spPr>
          <a:xfrm>
            <a:off x="4745736" y="4389120"/>
            <a:ext cx="2496312" cy="329184"/>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Gunakan keduanya untuk validasi k optimal</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2342"/>
          </a:solidFill>
          <a:ln w="12700">
            <a:solidFill>
              <a:srgbClr val="0A2342"/>
            </a:solidFill>
            <a:prstDash val="solid"/>
          </a:ln>
        </p:spPr>
      </p:sp>
      <p:sp>
        <p:nvSpPr>
          <p:cNvPr id="3" name="Shape 1"/>
          <p:cNvSpPr/>
          <p:nvPr/>
        </p:nvSpPr>
        <p:spPr>
          <a:xfrm>
            <a:off x="0" y="1005840"/>
            <a:ext cx="9144000" cy="45720"/>
          </a:xfrm>
          <a:prstGeom prst="rect">
            <a:avLst/>
          </a:prstGeom>
          <a:solidFill>
            <a:srgbClr val="0D9488"/>
          </a:solidFill>
          <a:ln w="12700">
            <a:solidFill>
              <a:srgbClr val="0D9488"/>
            </a:solidFill>
            <a:prstDash val="solid"/>
          </a:ln>
        </p:spPr>
      </p:sp>
      <p:sp>
        <p:nvSpPr>
          <p:cNvPr id="4" name="Text 2"/>
          <p:cNvSpPr/>
          <p:nvPr/>
        </p:nvSpPr>
        <p:spPr>
          <a:xfrm>
            <a:off x="365760" y="91440"/>
            <a:ext cx="822960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Referensi</a:t>
            </a:r>
            <a:endParaRPr lang="en-US" sz="2200" dirty="0"/>
          </a:p>
        </p:txBody>
      </p:sp>
      <p:sp>
        <p:nvSpPr>
          <p:cNvPr id="5" name="Text 3"/>
          <p:cNvSpPr/>
          <p:nvPr/>
        </p:nvSpPr>
        <p:spPr>
          <a:xfrm>
            <a:off x="365760" y="658368"/>
            <a:ext cx="8229600" cy="320040"/>
          </a:xfrm>
          <a:prstGeom prst="rect">
            <a:avLst/>
          </a:prstGeom>
          <a:noFill/>
          <a:ln/>
        </p:spPr>
        <p:txBody>
          <a:bodyPr wrap="square" lIns="0" tIns="0" rIns="0" bIns="0" rtlCol="0" anchor="ctr"/>
          <a:lstStyle/>
          <a:p>
            <a:pPr marL="0" indent="0">
              <a:buNone/>
            </a:pPr>
            <a:r>
              <a:rPr lang="en-US" sz="1100" dirty="0">
                <a:solidFill>
                  <a:srgbClr val="60A5FA"/>
                </a:solidFill>
                <a:latin typeface="Calibri" pitchFamily="34" charset="0"/>
                <a:ea typeface="Calibri" pitchFamily="34" charset="-122"/>
                <a:cs typeface="Calibri" pitchFamily="34" charset="-120"/>
              </a:rPr>
              <a:t>Sumber belajar lebih lanjut</a:t>
            </a:r>
            <a:endParaRPr lang="en-US" sz="1100" dirty="0"/>
          </a:p>
        </p:txBody>
      </p:sp>
      <p:sp>
        <p:nvSpPr>
          <p:cNvPr id="6" name="Shape 4"/>
          <p:cNvSpPr/>
          <p:nvPr/>
        </p:nvSpPr>
        <p:spPr>
          <a:xfrm>
            <a:off x="274320" y="1143000"/>
            <a:ext cx="8595360" cy="1170432"/>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7" name="Shape 5"/>
          <p:cNvSpPr/>
          <p:nvPr/>
        </p:nvSpPr>
        <p:spPr>
          <a:xfrm>
            <a:off x="274320" y="1143000"/>
            <a:ext cx="64008" cy="1170432"/>
          </a:xfrm>
          <a:prstGeom prst="rect">
            <a:avLst/>
          </a:prstGeom>
          <a:solidFill>
            <a:srgbClr val="0D9488"/>
          </a:solidFill>
          <a:ln w="12700">
            <a:solidFill>
              <a:srgbClr val="0D9488"/>
            </a:solidFill>
            <a:prstDash val="solid"/>
          </a:ln>
        </p:spPr>
      </p:sp>
      <p:sp>
        <p:nvSpPr>
          <p:cNvPr id="8" name="Text 6"/>
          <p:cNvSpPr/>
          <p:nvPr/>
        </p:nvSpPr>
        <p:spPr>
          <a:xfrm>
            <a:off x="457200" y="1216152"/>
            <a:ext cx="822960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Buku Teks</a:t>
            </a:r>
            <a:endParaRPr lang="en-US" sz="1200" dirty="0"/>
          </a:p>
        </p:txBody>
      </p:sp>
      <p:sp>
        <p:nvSpPr>
          <p:cNvPr id="9" name="Shape 7"/>
          <p:cNvSpPr/>
          <p:nvPr/>
        </p:nvSpPr>
        <p:spPr>
          <a:xfrm>
            <a:off x="457200" y="1527048"/>
            <a:ext cx="109728" cy="109728"/>
          </a:xfrm>
          <a:prstGeom prst="ellipse">
            <a:avLst/>
          </a:prstGeom>
          <a:solidFill>
            <a:srgbClr val="0D9488"/>
          </a:solidFill>
          <a:ln w="12700">
            <a:solidFill>
              <a:srgbClr val="0D9488"/>
            </a:solidFill>
            <a:prstDash val="solid"/>
          </a:ln>
        </p:spPr>
      </p:sp>
      <p:sp>
        <p:nvSpPr>
          <p:cNvPr id="10" name="Text 8"/>
          <p:cNvSpPr/>
          <p:nvPr/>
        </p:nvSpPr>
        <p:spPr>
          <a:xfrm>
            <a:off x="640080" y="1499616"/>
            <a:ext cx="8092440"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Bishop, C.M. (2006). Pattern Recognition and Machine Learning. Springer.</a:t>
            </a:r>
            <a:endParaRPr lang="en-US" sz="900" dirty="0"/>
          </a:p>
        </p:txBody>
      </p:sp>
      <p:sp>
        <p:nvSpPr>
          <p:cNvPr id="11" name="Shape 9"/>
          <p:cNvSpPr/>
          <p:nvPr/>
        </p:nvSpPr>
        <p:spPr>
          <a:xfrm>
            <a:off x="457200" y="1783080"/>
            <a:ext cx="109728" cy="109728"/>
          </a:xfrm>
          <a:prstGeom prst="ellipse">
            <a:avLst/>
          </a:prstGeom>
          <a:solidFill>
            <a:srgbClr val="0D9488"/>
          </a:solidFill>
          <a:ln w="12700">
            <a:solidFill>
              <a:srgbClr val="0D9488"/>
            </a:solidFill>
            <a:prstDash val="solid"/>
          </a:ln>
        </p:spPr>
      </p:sp>
      <p:sp>
        <p:nvSpPr>
          <p:cNvPr id="12" name="Text 10"/>
          <p:cNvSpPr/>
          <p:nvPr/>
        </p:nvSpPr>
        <p:spPr>
          <a:xfrm>
            <a:off x="640080" y="1755648"/>
            <a:ext cx="8092440"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Géron, A. (2022). Hands-On Machine Learning with Scikit-Learn, Keras &amp; TensorFlow. O'Reilly.</a:t>
            </a:r>
            <a:endParaRPr lang="en-US" sz="900" dirty="0"/>
          </a:p>
        </p:txBody>
      </p:sp>
      <p:sp>
        <p:nvSpPr>
          <p:cNvPr id="13" name="Shape 11"/>
          <p:cNvSpPr/>
          <p:nvPr/>
        </p:nvSpPr>
        <p:spPr>
          <a:xfrm>
            <a:off x="457200" y="2039112"/>
            <a:ext cx="109728" cy="109728"/>
          </a:xfrm>
          <a:prstGeom prst="ellipse">
            <a:avLst/>
          </a:prstGeom>
          <a:solidFill>
            <a:srgbClr val="0D9488"/>
          </a:solidFill>
          <a:ln w="12700">
            <a:solidFill>
              <a:srgbClr val="0D9488"/>
            </a:solidFill>
            <a:prstDash val="solid"/>
          </a:ln>
        </p:spPr>
      </p:sp>
      <p:sp>
        <p:nvSpPr>
          <p:cNvPr id="14" name="Text 12"/>
          <p:cNvSpPr/>
          <p:nvPr/>
        </p:nvSpPr>
        <p:spPr>
          <a:xfrm>
            <a:off x="640080" y="2011680"/>
            <a:ext cx="8092440"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James, G. et al. (2021). An Introduction to Statistical Learning. Springer.</a:t>
            </a:r>
            <a:endParaRPr lang="en-US" sz="900" dirty="0"/>
          </a:p>
        </p:txBody>
      </p:sp>
      <p:sp>
        <p:nvSpPr>
          <p:cNvPr id="15" name="Shape 13"/>
          <p:cNvSpPr/>
          <p:nvPr/>
        </p:nvSpPr>
        <p:spPr>
          <a:xfrm>
            <a:off x="274320" y="2423160"/>
            <a:ext cx="8595360" cy="1170432"/>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16" name="Shape 14"/>
          <p:cNvSpPr/>
          <p:nvPr/>
        </p:nvSpPr>
        <p:spPr>
          <a:xfrm>
            <a:off x="274320" y="2423160"/>
            <a:ext cx="64008" cy="1170432"/>
          </a:xfrm>
          <a:prstGeom prst="rect">
            <a:avLst/>
          </a:prstGeom>
          <a:solidFill>
            <a:srgbClr val="1A56DB"/>
          </a:solidFill>
          <a:ln w="12700">
            <a:solidFill>
              <a:srgbClr val="1A56DB"/>
            </a:solidFill>
            <a:prstDash val="solid"/>
          </a:ln>
        </p:spPr>
      </p:sp>
      <p:sp>
        <p:nvSpPr>
          <p:cNvPr id="17" name="Text 15"/>
          <p:cNvSpPr/>
          <p:nvPr/>
        </p:nvSpPr>
        <p:spPr>
          <a:xfrm>
            <a:off x="457200" y="2496312"/>
            <a:ext cx="822960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Online &amp; Dokumentasi</a:t>
            </a:r>
            <a:endParaRPr lang="en-US" sz="1200" dirty="0"/>
          </a:p>
        </p:txBody>
      </p:sp>
      <p:sp>
        <p:nvSpPr>
          <p:cNvPr id="18" name="Shape 16"/>
          <p:cNvSpPr/>
          <p:nvPr/>
        </p:nvSpPr>
        <p:spPr>
          <a:xfrm>
            <a:off x="457200" y="2807208"/>
            <a:ext cx="109728" cy="109728"/>
          </a:xfrm>
          <a:prstGeom prst="ellipse">
            <a:avLst/>
          </a:prstGeom>
          <a:solidFill>
            <a:srgbClr val="1A56DB"/>
          </a:solidFill>
          <a:ln w="12700">
            <a:solidFill>
              <a:srgbClr val="1A56DB"/>
            </a:solidFill>
            <a:prstDash val="solid"/>
          </a:ln>
        </p:spPr>
      </p:sp>
      <p:sp>
        <p:nvSpPr>
          <p:cNvPr id="19" name="Text 17"/>
          <p:cNvSpPr/>
          <p:nvPr/>
        </p:nvSpPr>
        <p:spPr>
          <a:xfrm>
            <a:off x="640080" y="2779776"/>
            <a:ext cx="8092440"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scikit-learn Official Documentation: https://scikit-learn.org/stable/</a:t>
            </a:r>
            <a:endParaRPr lang="en-US" sz="900" dirty="0"/>
          </a:p>
        </p:txBody>
      </p:sp>
      <p:sp>
        <p:nvSpPr>
          <p:cNvPr id="20" name="Shape 18"/>
          <p:cNvSpPr/>
          <p:nvPr/>
        </p:nvSpPr>
        <p:spPr>
          <a:xfrm>
            <a:off x="457200" y="3063240"/>
            <a:ext cx="109728" cy="109728"/>
          </a:xfrm>
          <a:prstGeom prst="ellipse">
            <a:avLst/>
          </a:prstGeom>
          <a:solidFill>
            <a:srgbClr val="1A56DB"/>
          </a:solidFill>
          <a:ln w="12700">
            <a:solidFill>
              <a:srgbClr val="1A56DB"/>
            </a:solidFill>
            <a:prstDash val="solid"/>
          </a:ln>
        </p:spPr>
      </p:sp>
      <p:sp>
        <p:nvSpPr>
          <p:cNvPr id="21" name="Text 19"/>
          <p:cNvSpPr/>
          <p:nvPr/>
        </p:nvSpPr>
        <p:spPr>
          <a:xfrm>
            <a:off x="640080" y="3035808"/>
            <a:ext cx="8092440"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Towards Data Science: https://towardsdatascience.com (PCA, K-Means, DBSCAN)</a:t>
            </a:r>
            <a:endParaRPr lang="en-US" sz="900" dirty="0"/>
          </a:p>
        </p:txBody>
      </p:sp>
      <p:sp>
        <p:nvSpPr>
          <p:cNvPr id="22" name="Shape 20"/>
          <p:cNvSpPr/>
          <p:nvPr/>
        </p:nvSpPr>
        <p:spPr>
          <a:xfrm>
            <a:off x="457200" y="3319272"/>
            <a:ext cx="109728" cy="109728"/>
          </a:xfrm>
          <a:prstGeom prst="ellipse">
            <a:avLst/>
          </a:prstGeom>
          <a:solidFill>
            <a:srgbClr val="1A56DB"/>
          </a:solidFill>
          <a:ln w="12700">
            <a:solidFill>
              <a:srgbClr val="1A56DB"/>
            </a:solidFill>
            <a:prstDash val="solid"/>
          </a:ln>
        </p:spPr>
      </p:sp>
      <p:sp>
        <p:nvSpPr>
          <p:cNvPr id="23" name="Text 21"/>
          <p:cNvSpPr/>
          <p:nvPr/>
        </p:nvSpPr>
        <p:spPr>
          <a:xfrm>
            <a:off x="640080" y="3291840"/>
            <a:ext cx="8092440"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Dicoding Indonesia: https://www.dicoding.com/blog/supervised-vs-unsupervised-learning-mana-yang-sesuai-untuk-data-kamu/</a:t>
            </a:r>
            <a:endParaRPr lang="en-US" sz="900" dirty="0"/>
          </a:p>
        </p:txBody>
      </p:sp>
      <p:sp>
        <p:nvSpPr>
          <p:cNvPr id="24" name="Shape 22"/>
          <p:cNvSpPr/>
          <p:nvPr/>
        </p:nvSpPr>
        <p:spPr>
          <a:xfrm>
            <a:off x="274320" y="3703320"/>
            <a:ext cx="8595360" cy="1170432"/>
          </a:xfrm>
          <a:prstGeom prst="rect">
            <a:avLst/>
          </a:prstGeom>
          <a:solidFill>
            <a:srgbClr val="FFFFFF"/>
          </a:solidFill>
          <a:ln w="12700">
            <a:solidFill>
              <a:srgbClr val="E2E8F0"/>
            </a:solidFill>
            <a:prstDash val="solid"/>
          </a:ln>
          <a:effectLst>
            <a:outerShdw blurRad="101600" dist="25400" dir="8100000" algn="bl" rotWithShape="0">
              <a:srgbClr val="000000">
                <a:alpha val="10000"/>
              </a:srgbClr>
            </a:outerShdw>
          </a:effectLst>
        </p:spPr>
      </p:sp>
      <p:sp>
        <p:nvSpPr>
          <p:cNvPr id="25" name="Shape 23"/>
          <p:cNvSpPr/>
          <p:nvPr/>
        </p:nvSpPr>
        <p:spPr>
          <a:xfrm>
            <a:off x="274320" y="3703320"/>
            <a:ext cx="64008" cy="1170432"/>
          </a:xfrm>
          <a:prstGeom prst="rect">
            <a:avLst/>
          </a:prstGeom>
          <a:solidFill>
            <a:srgbClr val="0A2342"/>
          </a:solidFill>
          <a:ln w="12700">
            <a:solidFill>
              <a:srgbClr val="0A2342"/>
            </a:solidFill>
            <a:prstDash val="solid"/>
          </a:ln>
        </p:spPr>
      </p:sp>
      <p:sp>
        <p:nvSpPr>
          <p:cNvPr id="26" name="Text 24"/>
          <p:cNvSpPr/>
          <p:nvPr/>
        </p:nvSpPr>
        <p:spPr>
          <a:xfrm>
            <a:off x="457200" y="3776472"/>
            <a:ext cx="8229600"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Paper / Artikel Ilmiah</a:t>
            </a:r>
            <a:endParaRPr lang="en-US" sz="1200" dirty="0"/>
          </a:p>
        </p:txBody>
      </p:sp>
      <p:sp>
        <p:nvSpPr>
          <p:cNvPr id="27" name="Shape 25"/>
          <p:cNvSpPr/>
          <p:nvPr/>
        </p:nvSpPr>
        <p:spPr>
          <a:xfrm>
            <a:off x="457200" y="4087368"/>
            <a:ext cx="109728" cy="109728"/>
          </a:xfrm>
          <a:prstGeom prst="ellipse">
            <a:avLst/>
          </a:prstGeom>
          <a:solidFill>
            <a:srgbClr val="0A2342"/>
          </a:solidFill>
          <a:ln w="12700">
            <a:solidFill>
              <a:srgbClr val="0A2342"/>
            </a:solidFill>
            <a:prstDash val="solid"/>
          </a:ln>
        </p:spPr>
      </p:sp>
      <p:sp>
        <p:nvSpPr>
          <p:cNvPr id="28" name="Text 26"/>
          <p:cNvSpPr/>
          <p:nvPr/>
        </p:nvSpPr>
        <p:spPr>
          <a:xfrm>
            <a:off x="640080" y="4059936"/>
            <a:ext cx="8092440"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Pearson, K. (1901). 'On Lines and Planes of Closest Fit to Systems of Points in Space'. Philosophical Magazine.</a:t>
            </a:r>
            <a:endParaRPr lang="en-US" sz="900" dirty="0"/>
          </a:p>
        </p:txBody>
      </p:sp>
      <p:sp>
        <p:nvSpPr>
          <p:cNvPr id="29" name="Shape 27"/>
          <p:cNvSpPr/>
          <p:nvPr/>
        </p:nvSpPr>
        <p:spPr>
          <a:xfrm>
            <a:off x="457200" y="4343400"/>
            <a:ext cx="109728" cy="109728"/>
          </a:xfrm>
          <a:prstGeom prst="ellipse">
            <a:avLst/>
          </a:prstGeom>
          <a:solidFill>
            <a:srgbClr val="0A2342"/>
          </a:solidFill>
          <a:ln w="12700">
            <a:solidFill>
              <a:srgbClr val="0A2342"/>
            </a:solidFill>
            <a:prstDash val="solid"/>
          </a:ln>
        </p:spPr>
      </p:sp>
      <p:sp>
        <p:nvSpPr>
          <p:cNvPr id="30" name="Text 28"/>
          <p:cNvSpPr/>
          <p:nvPr/>
        </p:nvSpPr>
        <p:spPr>
          <a:xfrm>
            <a:off x="640080" y="4315968"/>
            <a:ext cx="8092440"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Ester, M. et al. (1996). 'A Density-Based Algorithm for Discovering Clusters in Large Spatial Databases with Noise'. KDD-96.</a:t>
            </a:r>
            <a:endParaRPr lang="en-US" sz="900" dirty="0"/>
          </a:p>
        </p:txBody>
      </p:sp>
      <p:sp>
        <p:nvSpPr>
          <p:cNvPr id="31" name="Shape 29"/>
          <p:cNvSpPr/>
          <p:nvPr/>
        </p:nvSpPr>
        <p:spPr>
          <a:xfrm>
            <a:off x="457200" y="4599432"/>
            <a:ext cx="109728" cy="109728"/>
          </a:xfrm>
          <a:prstGeom prst="ellipse">
            <a:avLst/>
          </a:prstGeom>
          <a:solidFill>
            <a:srgbClr val="0A2342"/>
          </a:solidFill>
          <a:ln w="12700">
            <a:solidFill>
              <a:srgbClr val="0A2342"/>
            </a:solidFill>
            <a:prstDash val="solid"/>
          </a:ln>
        </p:spPr>
      </p:sp>
      <p:sp>
        <p:nvSpPr>
          <p:cNvPr id="32" name="Text 30"/>
          <p:cNvSpPr/>
          <p:nvPr/>
        </p:nvSpPr>
        <p:spPr>
          <a:xfrm>
            <a:off x="640080" y="4572000"/>
            <a:ext cx="8092440"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MacQueen, J. (1967). 'Some Methods for Classification and Analysis of Multivariate Observations'. Berkeley Symposium.</a:t>
            </a:r>
            <a:endParaRPr lang="en-US" sz="900" dirty="0"/>
          </a:p>
        </p:txBody>
      </p:sp>
      <p:sp>
        <p:nvSpPr>
          <p:cNvPr id="33" name="Text 31"/>
          <p:cNvSpPr/>
          <p:nvPr/>
        </p:nvSpPr>
        <p:spPr>
          <a:xfrm>
            <a:off x="274320" y="4846320"/>
            <a:ext cx="8595360" cy="201168"/>
          </a:xfrm>
          <a:prstGeom prst="rect">
            <a:avLst/>
          </a:prstGeom>
          <a:noFill/>
          <a:ln/>
        </p:spPr>
        <p:txBody>
          <a:bodyPr wrap="square" lIns="0" tIns="0" rIns="0" bIns="0"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Disusun untuk: D4 Robotics Engineering — Politeknik Negeri Batam | Machine Learning Week 8</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2342"/>
          </a:solidFill>
          <a:ln w="12700">
            <a:solidFill>
              <a:srgbClr val="0A2342"/>
            </a:solidFill>
            <a:prstDash val="solid"/>
          </a:ln>
        </p:spPr>
      </p:sp>
      <p:sp>
        <p:nvSpPr>
          <p:cNvPr id="3" name="Shape 1"/>
          <p:cNvSpPr/>
          <p:nvPr/>
        </p:nvSpPr>
        <p:spPr>
          <a:xfrm>
            <a:off x="-1371600" y="-1371600"/>
            <a:ext cx="5486400" cy="5486400"/>
          </a:xfrm>
          <a:prstGeom prst="ellipse">
            <a:avLst/>
          </a:prstGeom>
          <a:solidFill>
            <a:srgbClr val="0D1F3C"/>
          </a:solidFill>
          <a:ln w="12700">
            <a:solidFill>
              <a:srgbClr val="0D1F3C"/>
            </a:solidFill>
            <a:prstDash val="solid"/>
          </a:ln>
        </p:spPr>
      </p:sp>
      <p:sp>
        <p:nvSpPr>
          <p:cNvPr id="4" name="Shape 2"/>
          <p:cNvSpPr/>
          <p:nvPr/>
        </p:nvSpPr>
        <p:spPr>
          <a:xfrm>
            <a:off x="5486400" y="1371600"/>
            <a:ext cx="5486400" cy="5486400"/>
          </a:xfrm>
          <a:prstGeom prst="ellipse">
            <a:avLst/>
          </a:prstGeom>
          <a:solidFill>
            <a:srgbClr val="0D1F3C"/>
          </a:solidFill>
          <a:ln w="12700">
            <a:solidFill>
              <a:srgbClr val="0D1F3C"/>
            </a:solidFill>
            <a:prstDash val="solid"/>
          </a:ln>
        </p:spPr>
      </p:sp>
      <p:sp>
        <p:nvSpPr>
          <p:cNvPr id="5" name="Shape 3"/>
          <p:cNvSpPr/>
          <p:nvPr/>
        </p:nvSpPr>
        <p:spPr>
          <a:xfrm>
            <a:off x="3200400" y="457200"/>
            <a:ext cx="2743200" cy="54864"/>
          </a:xfrm>
          <a:prstGeom prst="rect">
            <a:avLst/>
          </a:prstGeom>
          <a:solidFill>
            <a:srgbClr val="0D9488"/>
          </a:solidFill>
          <a:ln w="12700">
            <a:solidFill>
              <a:srgbClr val="0D9488"/>
            </a:solidFill>
            <a:prstDash val="solid"/>
          </a:ln>
        </p:spPr>
      </p:sp>
      <p:sp>
        <p:nvSpPr>
          <p:cNvPr id="6" name="Text 4"/>
          <p:cNvSpPr/>
          <p:nvPr/>
        </p:nvSpPr>
        <p:spPr>
          <a:xfrm>
            <a:off x="0" y="1005840"/>
            <a:ext cx="9144000" cy="1005840"/>
          </a:xfrm>
          <a:prstGeom prst="rect">
            <a:avLst/>
          </a:prstGeom>
          <a:noFill/>
          <a:ln/>
        </p:spPr>
        <p:txBody>
          <a:bodyPr wrap="square" lIns="0" tIns="0" rIns="0" bIns="0" rtlCol="0" anchor="ctr"/>
          <a:lstStyle/>
          <a:p>
            <a:pPr marL="0" indent="0" algn="ctr">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7" name="Shape 5"/>
          <p:cNvSpPr/>
          <p:nvPr/>
        </p:nvSpPr>
        <p:spPr>
          <a:xfrm>
            <a:off x="3200400" y="2011680"/>
            <a:ext cx="2743200" cy="54864"/>
          </a:xfrm>
          <a:prstGeom prst="rect">
            <a:avLst/>
          </a:prstGeom>
          <a:solidFill>
            <a:srgbClr val="0D9488"/>
          </a:solidFill>
          <a:ln w="12700">
            <a:solidFill>
              <a:srgbClr val="0D9488"/>
            </a:solidFill>
            <a:prstDash val="solid"/>
          </a:ln>
        </p:spPr>
      </p:sp>
      <p:sp>
        <p:nvSpPr>
          <p:cNvPr id="8" name="Text 6"/>
          <p:cNvSpPr/>
          <p:nvPr/>
        </p:nvSpPr>
        <p:spPr>
          <a:xfrm>
            <a:off x="0" y="2286000"/>
            <a:ext cx="9144000" cy="411480"/>
          </a:xfrm>
          <a:prstGeom prst="rect">
            <a:avLst/>
          </a:prstGeom>
          <a:noFill/>
          <a:ln/>
        </p:spPr>
        <p:txBody>
          <a:bodyPr wrap="square" lIns="0" tIns="0" rIns="0" bIns="0" rtlCol="0" anchor="ctr"/>
          <a:lstStyle/>
          <a:p>
            <a:pPr marL="0" indent="0" algn="ctr">
              <a:buNone/>
            </a:pPr>
            <a:r>
              <a:rPr lang="en-US" sz="1800" dirty="0">
                <a:solidFill>
                  <a:srgbClr val="60A5FA"/>
                </a:solidFill>
                <a:latin typeface="Calibri" pitchFamily="34" charset="0"/>
                <a:ea typeface="Calibri" pitchFamily="34" charset="-122"/>
                <a:cs typeface="Calibri" pitchFamily="34" charset="-120"/>
              </a:rPr>
              <a:t>Ada pertanyaan?</a:t>
            </a:r>
            <a:endParaRPr lang="en-US" sz="1800" dirty="0"/>
          </a:p>
        </p:txBody>
      </p:sp>
      <p:pic>
        <p:nvPicPr>
          <p:cNvPr id="9" name="Image 0" descr="preencoded.png"/>
          <p:cNvPicPr>
            <a:picLocks noChangeAspect="1"/>
          </p:cNvPicPr>
          <p:nvPr/>
        </p:nvPicPr>
        <p:blipFill>
          <a:blip r:embed="rId3"/>
          <a:stretch>
            <a:fillRect/>
          </a:stretch>
        </p:blipFill>
        <p:spPr>
          <a:xfrm>
            <a:off x="4114800" y="2834640"/>
            <a:ext cx="914400" cy="914400"/>
          </a:xfrm>
          <a:prstGeom prst="rect">
            <a:avLst/>
          </a:prstGeom>
        </p:spPr>
      </p:pic>
      <p:sp>
        <p:nvSpPr>
          <p:cNvPr id="10" name="Text 7"/>
          <p:cNvSpPr/>
          <p:nvPr/>
        </p:nvSpPr>
        <p:spPr>
          <a:xfrm>
            <a:off x="0" y="3931920"/>
            <a:ext cx="9144000" cy="27432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Machine Learning — Week 8 | Unsupervised Learning</a:t>
            </a:r>
            <a:endParaRPr lang="en-US" sz="1100" dirty="0"/>
          </a:p>
        </p:txBody>
      </p:sp>
      <p:sp>
        <p:nvSpPr>
          <p:cNvPr id="11" name="Text 8"/>
          <p:cNvSpPr/>
          <p:nvPr/>
        </p:nvSpPr>
        <p:spPr>
          <a:xfrm>
            <a:off x="0" y="4251960"/>
            <a:ext cx="9144000" cy="274320"/>
          </a:xfrm>
          <a:prstGeom prst="rect">
            <a:avLst/>
          </a:prstGeom>
          <a:noFill/>
          <a:ln/>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D4 Robotics Engineering | Politeknik Negeri Batam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3147</Words>
  <Application>Microsoft Office PowerPoint</Application>
  <PresentationFormat>On-screen Show (16:9)</PresentationFormat>
  <Paragraphs>447</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Unsupervised Learning - Week 8</dc:title>
  <dc:subject>PptxGenJS Presentation</dc:subject>
  <dc:creator>Politeknik Negeri Batam</dc:creator>
  <cp:lastModifiedBy>Fahrizal D. Devgan</cp:lastModifiedBy>
  <cp:revision>2</cp:revision>
  <dcterms:created xsi:type="dcterms:W3CDTF">2026-05-17T07:44:06Z</dcterms:created>
  <dcterms:modified xsi:type="dcterms:W3CDTF">2026-05-17T08:27:14Z</dcterms:modified>
</cp:coreProperties>
</file>