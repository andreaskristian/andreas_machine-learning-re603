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57" r:id="rId2"/>
    <p:sldId id="260" r:id="rId3"/>
    <p:sldId id="289" r:id="rId4"/>
    <p:sldId id="290" r:id="rId5"/>
    <p:sldId id="309" r:id="rId6"/>
    <p:sldId id="291" r:id="rId7"/>
    <p:sldId id="310" r:id="rId8"/>
    <p:sldId id="311" r:id="rId9"/>
    <p:sldId id="312" r:id="rId10"/>
    <p:sldId id="313" r:id="rId11"/>
    <p:sldId id="314" r:id="rId12"/>
    <p:sldId id="320" r:id="rId13"/>
    <p:sldId id="318" r:id="rId14"/>
    <p:sldId id="319" r:id="rId15"/>
    <p:sldId id="315" r:id="rId16"/>
    <p:sldId id="316" r:id="rId17"/>
    <p:sldId id="323" r:id="rId18"/>
    <p:sldId id="321" r:id="rId19"/>
    <p:sldId id="322" r:id="rId20"/>
    <p:sldId id="324" r:id="rId21"/>
    <p:sldId id="325" r:id="rId22"/>
    <p:sldId id="326" r:id="rId23"/>
    <p:sldId id="327" r:id="rId24"/>
    <p:sldId id="328" r:id="rId25"/>
    <p:sldId id="279" r:id="rId26"/>
    <p:sldId id="281" r:id="rId27"/>
  </p:sldIdLst>
  <p:sldSz cx="18288000" cy="10287000"/>
  <p:notesSz cx="6858000" cy="9144000"/>
  <p:embeddedFontLst>
    <p:embeddedFont>
      <p:font typeface="Georgia" panose="02040502050405020303" pitchFamily="18" charset="0"/>
      <p:regular r:id="rId29"/>
      <p:bold r:id="rId30"/>
      <p:italic r:id="rId31"/>
      <p:boldItalic r:id="rId32"/>
    </p:embeddedFont>
    <p:embeddedFont>
      <p:font typeface="Montserrat" panose="00000500000000000000" pitchFamily="2" charset="0"/>
      <p:regular r:id="rId33"/>
      <p:bold r:id="rId34"/>
      <p:italic r:id="rId35"/>
      <p:boldItalic r:id="rId36"/>
    </p:embeddedFont>
    <p:embeddedFont>
      <p:font typeface="Montserrat Classic" panose="020B0604020202020204" charset="0"/>
      <p:regular r:id="rId37"/>
    </p:embeddedFont>
    <p:embeddedFont>
      <p:font typeface="Montserrat Classic Bold" panose="020B0604020202020204" charset="0"/>
      <p:regular r:id="rId38"/>
    </p:embeddedFont>
    <p:embeddedFont>
      <p:font typeface="Open Sans" panose="020B0606030504020204" pitchFamily="34" charset="0"/>
      <p:regular r:id="rId39"/>
      <p:bold r:id="rId40"/>
      <p:italic r:id="rId41"/>
      <p:boldItalic r:id="rId42"/>
    </p:embeddedFont>
    <p:embeddedFont>
      <p:font typeface="Open Sans Extra Bold" panose="020B0604020202020204" charset="0"/>
      <p:regular r:id="rId43"/>
    </p:embeddedFont>
    <p:embeddedFont>
      <p:font typeface="Raleway" pitchFamily="2" charset="0"/>
      <p:regular r:id="rId44"/>
      <p:bold r:id="rId45"/>
      <p:italic r:id="rId46"/>
      <p:boldItalic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377C"/>
    <a:srgbClr val="EAEFF6"/>
    <a:srgbClr val="CFD9E9"/>
    <a:srgbClr val="F39D0C"/>
    <a:srgbClr val="3B82F6"/>
    <a:srgbClr val="F59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9976" autoAdjust="0"/>
  </p:normalViewPr>
  <p:slideViewPr>
    <p:cSldViewPr>
      <p:cViewPr varScale="1">
        <p:scale>
          <a:sx n="45" d="100"/>
          <a:sy n="45" d="100"/>
        </p:scale>
        <p:origin x="108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font" Target="fonts/font19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91C830-9C34-4941-A1BF-6C8F11E448ED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DCA36-99ED-481A-ADCF-ED808D6602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93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586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39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BBA62-93CB-EA8D-3944-3EA976F22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0BA9C7-57C1-1441-2042-1DBFB85D2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B00DFF-3224-5BC0-C09C-D493E1040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31801" marR="0" lvl="1" indent="-21590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endParaRPr lang="en-US" sz="1200" b="0" i="0" u="none" strike="noStrike" cap="none" dirty="0">
              <a:solidFill>
                <a:srgbClr val="52525B"/>
              </a:solidFill>
              <a:effectLst/>
              <a:latin typeface="Open Sans" panose="020B0606030504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41C9E-EABE-9A0D-253D-FF3AC03400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00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70D76-4D2F-370E-1643-DEE345112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433A6-1ADC-5B63-3845-B9380C966F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F60E38-A623-C3B9-0792-1451D8985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A8EFD-87DF-F864-2A26-BA33C226B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080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DA986-9256-A334-DB23-24C11AEFC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1F294F-58A0-0756-B6BC-A82E1DB93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31ACAD-C36A-F750-6BF3-DB3E560FF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43AEC-C193-8D76-EE3F-AE9F1FF2D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224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1A63E-DD7B-9F5C-FD3C-9C349441B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BA82C-B44D-D6A1-A022-9B199DB93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B30AD-6A6F-1983-EBF3-B182D5891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782818-4DBB-E365-AC28-D9A18D9E79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053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40E84-C4BE-8872-DCEC-FBE37FB8B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1E0790-B760-2AE1-2B8B-3D8FFEDB0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573E2-0F11-2157-F0F6-344CF58BB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C42ED-7E5A-3B85-74CE-DC40285F5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3035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05EBE-2980-219A-91F6-D8F5BB28C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841C53-0302-CEE4-C6BD-34BFE34EA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1FA10B-9737-539B-F354-C23B670E6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0F167-C2D1-342B-B08F-DFD4316E87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511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84AC3-7FD6-FAD7-8EB9-928037C62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97114-0CB7-FFC9-DDFA-CA4C101B3B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6A4854-8764-6352-3879-6E82C7201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EA512-EDFE-6E58-7129-9CA40B875F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377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88D5B-E5C2-7AEA-203E-E99E0FEE4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60E76E-FF8C-F48A-1AF3-1DB72AB42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D8D240-083C-84E3-6C05-4020BA638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24C98-3C02-654C-7D6C-07ADD62B3D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4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612CA-70C7-F4B5-9CD3-9D54B1B41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70BCD-0C03-8AD6-824B-72CEAE436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13361D-7AB4-34D3-CD61-D62031DAF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6FEF1-DBBD-196D-EEA7-D4013BE79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020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0F507-7A52-61BB-2ED9-E8887812C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2BAE58-F528-D95C-D4DA-D5567203D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ABEA7-8604-6F4A-BDC5-FED24343F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C4936-CB8C-6CF2-7924-E2EBBCFB5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06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32FB2-0501-1196-10B2-2ABF79808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61A1B-9D2C-86F4-D7D0-0178BEE87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31DBB-D0EE-3190-94E8-A748E5A9F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92DD4-D917-F06E-0E7D-169627DA8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9755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11408-AD1E-1241-B90E-F1A43368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60B10B-E489-F728-4E98-C37EF7748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9A4484-F0D6-6FDF-F41C-4233BC8C8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7497F-F3CE-6978-E05D-532BD74561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894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FF931-04EE-096E-6546-5A647B26D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6CA50-2377-B58D-CFB8-75109133D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9ECDE4-5277-56CF-74DF-B774271C3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D4CA5-C4D6-97F7-0127-69A3A49860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61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32F84-E227-E425-3899-D1D19E0CC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BF0B1-2AF0-963F-FC45-0B0E33C8A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B55377-1D0D-727A-D1EF-EA798E222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46CC0-06B7-73AC-427C-BA1C5A036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3843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7BF94-BB19-B6FC-DF96-E97039CE6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6C9073-A7F0-C31D-C6D2-43069FE9E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43ABA4-5B6F-11EB-9B3A-21BBF7DC1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32A6A-82CB-9C69-DF13-E509C576D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783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24FCA-CF44-7AD3-8DE9-9B09332B5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32449-D6D1-4416-83A7-5A7B8EFF4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795070-8882-9E70-2BF0-9D7CADB56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8C2D2-C441-DFFC-3257-896BF41328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730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92CA8-3C57-0187-1D7D-898DCE93E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64FDF-0D82-2852-0362-B52315A4B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9120D-72C8-1E3F-328D-7F775816B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7F6B0-EE1D-EB55-09E0-85D1B038F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951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641B0-F8E0-24E0-74F7-68A3A5943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C09F2-14EA-8182-61E1-FB9B5D446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93F6D-37E7-6E16-40FF-A86C54A83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121AF-D5DB-41D6-D1A3-431CFAD2C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5694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3D129-14CA-1C7A-37F6-6ECC1677F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3C559C-C4D7-8303-45D8-7BA47B88F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2F2A0-3708-AF64-92EE-822685787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F7E80-8C5D-E025-29B9-3C26E3D78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4602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45A13-4814-AA02-831F-590AFCCB8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5BA96A-53D1-B9C6-9BCE-A6CACC5670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22C0E3-F108-DE30-7996-FDC6D46EB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A4C6A-B59A-DBA2-10EB-BE9F33589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4147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23CF1-DC6A-FA47-BC3E-2F3E1304E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A9EC28-1C56-74C4-78B2-F41D50E18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7F767B-F00C-0F46-04B6-A9140E21C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5F800-C20F-52A9-CA62-B708EFBE23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6170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35849-49F3-8CA1-771C-0B3D1FBB5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2B3EE8-0181-B201-5FF8-3E0499879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04234A-60F8-E5A2-035E-E9B73660D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E8ACE-BEC1-9742-6789-B2D8B58661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231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DCA36-99ED-481A-ADCF-ED808D66022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67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over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g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coding.com/blog/supervised-vs-unsupervised-learning-mana-yang-sesuai-untuk-data-kamu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tyangluhtu.wordpress.com/2013/04/19/langkah-umum-principal-component-analysis/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"/>
            <a:ext cx="18288000" cy="10287001"/>
          </a:xfrm>
          <a:custGeom>
            <a:avLst/>
            <a:gdLst/>
            <a:ahLst/>
            <a:cxnLst/>
            <a:rect l="l" t="t" r="r" b="b"/>
            <a:pathLst>
              <a:path w="18288000" h="12194939">
                <a:moveTo>
                  <a:pt x="0" y="0"/>
                </a:moveTo>
                <a:lnTo>
                  <a:pt x="18288000" y="0"/>
                </a:lnTo>
                <a:lnTo>
                  <a:pt x="18288000" y="12194940"/>
                </a:lnTo>
                <a:lnTo>
                  <a:pt x="0" y="121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DFDFD">
                <a:alpha val="7882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05748" y="323497"/>
            <a:ext cx="1690679" cy="1410406"/>
          </a:xfrm>
          <a:custGeom>
            <a:avLst/>
            <a:gdLst/>
            <a:ahLst/>
            <a:cxnLst/>
            <a:rect l="l" t="t" r="r" b="b"/>
            <a:pathLst>
              <a:path w="1690679" h="1410406">
                <a:moveTo>
                  <a:pt x="0" y="0"/>
                </a:moveTo>
                <a:lnTo>
                  <a:pt x="1690679" y="0"/>
                </a:lnTo>
                <a:lnTo>
                  <a:pt x="1690679" y="1410406"/>
                </a:lnTo>
                <a:lnTo>
                  <a:pt x="0" y="14104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0" y="9963502"/>
            <a:ext cx="18287996" cy="323497"/>
            <a:chOff x="0" y="0"/>
            <a:chExt cx="3793620" cy="2880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93620" cy="288059"/>
            </a:xfrm>
            <a:custGeom>
              <a:avLst/>
              <a:gdLst/>
              <a:ahLst/>
              <a:cxnLst/>
              <a:rect l="l" t="t" r="r" b="b"/>
              <a:pathLst>
                <a:path w="3793620" h="288059">
                  <a:moveTo>
                    <a:pt x="0" y="0"/>
                  </a:moveTo>
                  <a:lnTo>
                    <a:pt x="3793620" y="0"/>
                  </a:lnTo>
                  <a:lnTo>
                    <a:pt x="3793620" y="288059"/>
                  </a:lnTo>
                  <a:lnTo>
                    <a:pt x="0" y="288059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793620" cy="326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996427" y="395391"/>
            <a:ext cx="154333" cy="1266619"/>
          </a:xfrm>
          <a:custGeom>
            <a:avLst/>
            <a:gdLst/>
            <a:ahLst/>
            <a:cxnLst/>
            <a:rect l="l" t="t" r="r" b="b"/>
            <a:pathLst>
              <a:path w="154333" h="1266619">
                <a:moveTo>
                  <a:pt x="0" y="0"/>
                </a:moveTo>
                <a:lnTo>
                  <a:pt x="154334" y="0"/>
                </a:lnTo>
                <a:lnTo>
                  <a:pt x="154334" y="1266618"/>
                </a:lnTo>
                <a:lnTo>
                  <a:pt x="0" y="1266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2801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2246414" y="2885248"/>
            <a:ext cx="13795173" cy="1273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72"/>
              </a:lnSpc>
            </a:pPr>
            <a:r>
              <a:rPr lang="en-US" sz="9060" b="1" spc="63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Machine Learning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40434" y="4838700"/>
            <a:ext cx="8807132" cy="188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Week 8</a:t>
            </a:r>
          </a:p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D4 Robotics Engineering Study Program</a:t>
            </a:r>
          </a:p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Department of Electrical Engineering</a:t>
            </a:r>
          </a:p>
          <a:p>
            <a:pPr algn="ctr">
              <a:lnSpc>
                <a:spcPts val="3775"/>
              </a:lnSpc>
            </a:pPr>
            <a:r>
              <a:rPr lang="en-US" sz="2696" spc="121" dirty="0" err="1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Politeknik</a:t>
            </a: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Negeri Batam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17839" y="404916"/>
            <a:ext cx="2167395" cy="1250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824" spc="11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Politeknik</a:t>
            </a:r>
          </a:p>
          <a:p>
            <a:pPr algn="l">
              <a:lnSpc>
                <a:spcPts val="3276"/>
              </a:lnSpc>
            </a:pPr>
            <a:r>
              <a:rPr lang="en-US" sz="2824" spc="11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Negeri Batam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66831" y="7475884"/>
            <a:ext cx="9753969" cy="432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5"/>
              </a:lnSpc>
            </a:pPr>
            <a:r>
              <a:rPr lang="en-US" sz="2696" spc="121" dirty="0">
                <a:solidFill>
                  <a:srgbClr val="08377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Unsupervised Learning</a:t>
            </a:r>
          </a:p>
        </p:txBody>
      </p:sp>
      <p:sp>
        <p:nvSpPr>
          <p:cNvPr id="20" name="AutoShape 20"/>
          <p:cNvSpPr/>
          <p:nvPr/>
        </p:nvSpPr>
        <p:spPr>
          <a:xfrm>
            <a:off x="5897880" y="7082061"/>
            <a:ext cx="6492240" cy="0"/>
          </a:xfrm>
          <a:prstGeom prst="line">
            <a:avLst/>
          </a:prstGeom>
          <a:ln w="38100" cap="flat">
            <a:solidFill>
              <a:srgbClr val="0837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3660642" y="692652"/>
            <a:ext cx="9983428" cy="171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</a:t>
            </a:r>
          </a:p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Unsupervised Learning?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EF4B10-9E55-953C-43EB-77A9EFC35A4F}"/>
              </a:ext>
            </a:extLst>
          </p:cNvPr>
          <p:cNvSpPr txBox="1"/>
          <p:nvPr/>
        </p:nvSpPr>
        <p:spPr>
          <a:xfrm>
            <a:off x="4419600" y="4404713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i="0" dirty="0">
                <a:solidFill>
                  <a:srgbClr val="52525B"/>
                </a:solidFill>
                <a:effectLst/>
                <a:latin typeface="Open Sans" panose="020B0606030504020204" pitchFamily="34" charset="0"/>
              </a:rPr>
              <a:t>– Arthur Samuel, 1959</a:t>
            </a:r>
            <a:endParaRPr lang="en-US" sz="24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6FE887-133B-51E9-A3A2-B7775F0B93E5}"/>
              </a:ext>
            </a:extLst>
          </p:cNvPr>
          <p:cNvSpPr txBox="1">
            <a:spLocks/>
          </p:cNvSpPr>
          <p:nvPr/>
        </p:nvSpPr>
        <p:spPr>
          <a:xfrm>
            <a:off x="10455660" y="9206513"/>
            <a:ext cx="4874621" cy="4301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D" sz="1600" dirty="0">
                <a:solidFill>
                  <a:srgbClr val="074364"/>
                </a:solidFill>
                <a:latin typeface="Raleway" pitchFamily="2" charset="0"/>
              </a:rPr>
              <a:t>https://www.dicoding.com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74364"/>
              </a:solidFill>
              <a:effectLst/>
              <a:latin typeface="Raleway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F7A0CE2-C36D-A0F9-9345-930858699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578" y="2730034"/>
            <a:ext cx="12157556" cy="6382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14606-5FF2-C405-FAD9-9CE2E0D13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15EF5BE-1C25-71CC-171C-936962438ABF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DD060A0-CEB3-D715-C472-F2CF6DEFE779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A5B1FC9-270A-803C-B3B1-046F5B5BB432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C9CCAFC-4DD2-6401-EBE9-2E1974888D0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7299F49-BFFA-1F64-86B2-5669F5E22C6D}"/>
              </a:ext>
            </a:extLst>
          </p:cNvPr>
          <p:cNvSpPr txBox="1"/>
          <p:nvPr/>
        </p:nvSpPr>
        <p:spPr>
          <a:xfrm>
            <a:off x="762000" y="1028700"/>
            <a:ext cx="15773400" cy="8075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400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Unsupervised Learning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EB3945-E453-56DD-4A4D-319B179B1BB6}"/>
              </a:ext>
            </a:extLst>
          </p:cNvPr>
          <p:cNvSpPr txBox="1"/>
          <p:nvPr/>
        </p:nvSpPr>
        <p:spPr>
          <a:xfrm>
            <a:off x="1149350" y="2455875"/>
            <a:ext cx="15386050" cy="224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Montserrat" panose="00000500000000000000" pitchFamily="2" charset="0"/>
              </a:rPr>
              <a:t>"Unsupervised" </a:t>
            </a:r>
            <a:r>
              <a:rPr lang="en-US" sz="2400" dirty="0" err="1">
                <a:latin typeface="Montserrat" panose="00000500000000000000" pitchFamily="2" charset="0"/>
              </a:rPr>
              <a:t>berasal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dari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istilah</a:t>
            </a:r>
            <a:r>
              <a:rPr lang="en-US" sz="2400" dirty="0">
                <a:latin typeface="Montserrat" panose="00000500000000000000" pitchFamily="2" charset="0"/>
              </a:rPr>
              <a:t> dalam </a:t>
            </a:r>
            <a:r>
              <a:rPr lang="en-US" sz="2400" dirty="0" err="1">
                <a:latin typeface="Montserrat" panose="00000500000000000000" pitchFamily="2" charset="0"/>
              </a:rPr>
              <a:t>bahasa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Inggris</a:t>
            </a:r>
            <a:r>
              <a:rPr lang="en-US" sz="2400" dirty="0">
                <a:latin typeface="Montserrat" panose="00000500000000000000" pitchFamily="2" charset="0"/>
              </a:rPr>
              <a:t> yang </a:t>
            </a:r>
            <a:r>
              <a:rPr lang="en-US" sz="2400" dirty="0" err="1">
                <a:latin typeface="Montserrat" panose="00000500000000000000" pitchFamily="2" charset="0"/>
              </a:rPr>
              <a:t>artinya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b="1" dirty="0">
                <a:latin typeface="Montserrat" panose="00000500000000000000" pitchFamily="2" charset="0"/>
              </a:rPr>
              <a:t>"tidak </a:t>
            </a:r>
            <a:r>
              <a:rPr lang="en-US" sz="2400" b="1" dirty="0" err="1">
                <a:latin typeface="Montserrat" panose="00000500000000000000" pitchFamily="2" charset="0"/>
              </a:rPr>
              <a:t>diawasi</a:t>
            </a:r>
            <a:r>
              <a:rPr lang="en-US" sz="2400" b="1" dirty="0">
                <a:latin typeface="Montserrat" panose="00000500000000000000" pitchFamily="2" charset="0"/>
              </a:rPr>
              <a:t>"</a:t>
            </a:r>
            <a:r>
              <a:rPr lang="en-US" sz="2400" dirty="0">
                <a:latin typeface="Montserrat" panose="00000500000000000000" pitchFamily="2" charset="0"/>
              </a:rPr>
              <a:t>. Dalam </a:t>
            </a:r>
            <a:r>
              <a:rPr lang="en-US" sz="2400" dirty="0" err="1">
                <a:latin typeface="Montserrat" panose="00000500000000000000" pitchFamily="2" charset="0"/>
              </a:rPr>
              <a:t>konteks</a:t>
            </a:r>
            <a:r>
              <a:rPr lang="en-US" sz="2400" dirty="0">
                <a:latin typeface="Montserrat" panose="00000500000000000000" pitchFamily="2" charset="0"/>
              </a:rPr>
              <a:t> pembelajaran </a:t>
            </a:r>
            <a:r>
              <a:rPr lang="en-US" sz="2400" dirty="0" err="1">
                <a:latin typeface="Montserrat" panose="00000500000000000000" pitchFamily="2" charset="0"/>
              </a:rPr>
              <a:t>mesin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atau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b="1" dirty="0">
                <a:latin typeface="Montserrat" panose="00000500000000000000" pitchFamily="2" charset="0"/>
              </a:rPr>
              <a:t>machine learning</a:t>
            </a:r>
            <a:r>
              <a:rPr lang="en-US" sz="2400" dirty="0">
                <a:latin typeface="Montserrat" panose="00000500000000000000" pitchFamily="2" charset="0"/>
              </a:rPr>
              <a:t>, "unsupervised learning" adalah salah </a:t>
            </a:r>
            <a:r>
              <a:rPr lang="en-US" sz="2400" dirty="0" err="1">
                <a:latin typeface="Montserrat" panose="00000500000000000000" pitchFamily="2" charset="0"/>
              </a:rPr>
              <a:t>satu</a:t>
            </a:r>
            <a:r>
              <a:rPr lang="en-US" sz="2400" dirty="0">
                <a:latin typeface="Montserrat" panose="00000500000000000000" pitchFamily="2" charset="0"/>
              </a:rPr>
              <a:t> jenis metode pembelajaran di mana </a:t>
            </a:r>
            <a:r>
              <a:rPr lang="en-US" sz="2400" b="1" dirty="0">
                <a:latin typeface="Montserrat" panose="00000500000000000000" pitchFamily="2" charset="0"/>
              </a:rPr>
              <a:t>model </a:t>
            </a:r>
            <a:r>
              <a:rPr lang="en-US" sz="2400" b="1" dirty="0" err="1">
                <a:latin typeface="Montserrat" panose="00000500000000000000" pitchFamily="2" charset="0"/>
              </a:rPr>
              <a:t>dilatih</a:t>
            </a:r>
            <a:r>
              <a:rPr lang="en-US" sz="2400" b="1" dirty="0">
                <a:latin typeface="Montserrat" panose="00000500000000000000" pitchFamily="2" charset="0"/>
              </a:rPr>
              <a:t> tanpa label </a:t>
            </a:r>
            <a:r>
              <a:rPr lang="en-US" sz="2400" b="1" dirty="0" err="1">
                <a:latin typeface="Montserrat" panose="00000500000000000000" pitchFamily="2" charset="0"/>
              </a:rPr>
              <a:t>atau</a:t>
            </a:r>
            <a:r>
              <a:rPr lang="en-US" sz="2400" b="1" dirty="0">
                <a:latin typeface="Montserrat" panose="00000500000000000000" pitchFamily="2" charset="0"/>
              </a:rPr>
              <a:t> </a:t>
            </a:r>
            <a:r>
              <a:rPr lang="en-US" sz="2400" b="1" dirty="0" err="1">
                <a:latin typeface="Montserrat" panose="00000500000000000000" pitchFamily="2" charset="0"/>
              </a:rPr>
              <a:t>jawaban</a:t>
            </a:r>
            <a:r>
              <a:rPr lang="en-US" sz="2400" b="1" dirty="0">
                <a:latin typeface="Montserrat" panose="00000500000000000000" pitchFamily="2" charset="0"/>
              </a:rPr>
              <a:t> yang sudah </a:t>
            </a:r>
            <a:r>
              <a:rPr lang="en-US" sz="2400" b="1" dirty="0" err="1">
                <a:latin typeface="Montserrat" panose="00000500000000000000" pitchFamily="2" charset="0"/>
              </a:rPr>
              <a:t>diketahui</a:t>
            </a:r>
            <a:r>
              <a:rPr lang="en-US" sz="2400" dirty="0"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69EA20C-E42F-A9A0-F3EA-649E87156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77" y="5166153"/>
            <a:ext cx="6613183" cy="3471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5245164-690A-3665-FC26-D8D7FA9FAEC0}"/>
              </a:ext>
            </a:extLst>
          </p:cNvPr>
          <p:cNvSpPr txBox="1">
            <a:spLocks/>
          </p:cNvSpPr>
          <p:nvPr/>
        </p:nvSpPr>
        <p:spPr>
          <a:xfrm>
            <a:off x="1510059" y="8828132"/>
            <a:ext cx="4874621" cy="4301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D" sz="1600" dirty="0">
                <a:solidFill>
                  <a:srgbClr val="074364"/>
                </a:solidFill>
                <a:latin typeface="Raleway" pitchFamily="2" charset="0"/>
              </a:rPr>
              <a:t>https://www.dicoding.com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74364"/>
              </a:solidFill>
              <a:effectLst/>
              <a:latin typeface="Raleway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5F8968-0C77-8958-F5CD-2EC47433A525}"/>
              </a:ext>
            </a:extLst>
          </p:cNvPr>
          <p:cNvSpPr txBox="1"/>
          <p:nvPr/>
        </p:nvSpPr>
        <p:spPr>
          <a:xfrm>
            <a:off x="7735054" y="5321328"/>
            <a:ext cx="8851146" cy="169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 err="1">
                <a:latin typeface="Montserrat" panose="00000500000000000000" pitchFamily="2" charset="0"/>
              </a:rPr>
              <a:t>Karakteristik</a:t>
            </a:r>
            <a:r>
              <a:rPr lang="en-US" sz="2400" b="1" dirty="0">
                <a:latin typeface="Montserrat" panose="00000500000000000000" pitchFamily="2" charset="0"/>
              </a:rPr>
              <a:t> Unsupervised Learning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dirty="0" err="1">
                <a:latin typeface="Montserrat" panose="00000500000000000000" pitchFamily="2" charset="0"/>
              </a:rPr>
              <a:t>Datanya</a:t>
            </a:r>
            <a:r>
              <a:rPr lang="en-US" sz="2400" dirty="0">
                <a:latin typeface="Montserrat" panose="00000500000000000000" pitchFamily="2" charset="0"/>
              </a:rPr>
              <a:t> tidak </a:t>
            </a:r>
            <a:r>
              <a:rPr lang="en-US" sz="2400" dirty="0" err="1">
                <a:latin typeface="Montserrat" panose="00000500000000000000" pitchFamily="2" charset="0"/>
              </a:rPr>
              <a:t>berlabel</a:t>
            </a:r>
            <a:endParaRPr lang="en-US" sz="2400" dirty="0">
              <a:latin typeface="Montserrat" panose="00000500000000000000" pitchFamily="2" charset="0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400" dirty="0">
                <a:latin typeface="Montserrat" panose="00000500000000000000" pitchFamily="2" charset="0"/>
              </a:rPr>
              <a:t>Tujuan </a:t>
            </a:r>
            <a:r>
              <a:rPr lang="en-US" sz="2400" dirty="0" err="1">
                <a:latin typeface="Montserrat" panose="00000500000000000000" pitchFamily="2" charset="0"/>
              </a:rPr>
              <a:t>pembelajaranya</a:t>
            </a:r>
            <a:r>
              <a:rPr lang="en-US" sz="2400" dirty="0">
                <a:latin typeface="Montserrat" panose="00000500000000000000" pitchFamily="2" charset="0"/>
              </a:rPr>
              <a:t> adalah </a:t>
            </a:r>
            <a:r>
              <a:rPr lang="en-US" sz="2400" b="1" dirty="0" err="1">
                <a:latin typeface="Montserrat" panose="00000500000000000000" pitchFamily="2" charset="0"/>
              </a:rPr>
              <a:t>menentukan</a:t>
            </a:r>
            <a:r>
              <a:rPr lang="en-US" sz="2400" b="1" dirty="0">
                <a:latin typeface="Montserrat" panose="00000500000000000000" pitchFamily="2" charset="0"/>
              </a:rPr>
              <a:t> </a:t>
            </a:r>
            <a:r>
              <a:rPr lang="en-US" sz="2400" b="1" dirty="0" err="1">
                <a:latin typeface="Montserrat" panose="00000500000000000000" pitchFamily="2" charset="0"/>
              </a:rPr>
              <a:t>pola</a:t>
            </a:r>
            <a:endParaRPr lang="en-US" sz="2400" b="1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3671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F91AF-3ECB-F035-9BB4-870195FD8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5ADF7E5-4DE2-F2C5-9508-FAADB9F24166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5276651-02DA-0C5D-03D5-17DFF0C3AF30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7A797BA-1A21-780E-8D6E-B44762B1EE73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EF9AEE67-DE02-6D19-F784-4E9FF0525EF3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4327706-0150-0200-D90F-0FEDBA99BC79}"/>
              </a:ext>
            </a:extLst>
          </p:cNvPr>
          <p:cNvSpPr txBox="1"/>
          <p:nvPr/>
        </p:nvSpPr>
        <p:spPr>
          <a:xfrm>
            <a:off x="3657600" y="487331"/>
            <a:ext cx="9983428" cy="817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Unsupervised Learning</a:t>
            </a:r>
          </a:p>
        </p:txBody>
      </p:sp>
      <p:pic>
        <p:nvPicPr>
          <p:cNvPr id="2050" name="Picture 2" descr="Hierarki Sederhana Machine Learning">
            <a:extLst>
              <a:ext uri="{FF2B5EF4-FFF2-40B4-BE49-F238E27FC236}">
                <a16:creationId xmlns:a16="http://schemas.microsoft.com/office/drawing/2014/main" id="{C6F185C4-FE26-8134-F130-71B0DE8814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59"/>
          <a:stretch/>
        </p:blipFill>
        <p:spPr bwMode="auto">
          <a:xfrm>
            <a:off x="3649133" y="2171700"/>
            <a:ext cx="9753600" cy="467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3A2EC86-F908-08F6-7E36-F6AAC3394CA9}"/>
              </a:ext>
            </a:extLst>
          </p:cNvPr>
          <p:cNvSpPr txBox="1">
            <a:spLocks/>
          </p:cNvSpPr>
          <p:nvPr/>
        </p:nvSpPr>
        <p:spPr>
          <a:xfrm>
            <a:off x="8649314" y="6418307"/>
            <a:ext cx="4874621" cy="4301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D" sz="1600" dirty="0">
                <a:solidFill>
                  <a:srgbClr val="074364"/>
                </a:solidFill>
                <a:latin typeface="Raleway" pitchFamily="2" charset="0"/>
              </a:rPr>
              <a:t>https://www.dicoding.com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74364"/>
              </a:solidFill>
              <a:effectLst/>
              <a:latin typeface="Raleway" pitchFamily="2" charset="0"/>
            </a:endParaRPr>
          </a:p>
        </p:txBody>
      </p:sp>
      <p:sp>
        <p:nvSpPr>
          <p:cNvPr id="7" name="Google Shape;97;p4">
            <a:extLst>
              <a:ext uri="{FF2B5EF4-FFF2-40B4-BE49-F238E27FC236}">
                <a16:creationId xmlns:a16="http://schemas.microsoft.com/office/drawing/2014/main" id="{82B618F1-0430-15D2-10A0-8390B7CE5477}"/>
              </a:ext>
            </a:extLst>
          </p:cNvPr>
          <p:cNvSpPr txBox="1"/>
          <p:nvPr/>
        </p:nvSpPr>
        <p:spPr>
          <a:xfrm>
            <a:off x="808122" y="7281261"/>
            <a:ext cx="15682383" cy="222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25" rIns="0" bIns="0" anchor="t" anchorCtr="0">
            <a:spAutoFit/>
          </a:bodyPr>
          <a:lstStyle/>
          <a:p>
            <a:pPr marL="457200" indent="-317500" algn="just">
              <a:lnSpc>
                <a:spcPct val="200000"/>
              </a:lnSpc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-ID" sz="2400" b="1" i="0" u="none" strike="noStrike" cap="none" dirty="0">
                <a:solidFill>
                  <a:srgbClr val="000000"/>
                </a:solidFill>
                <a:latin typeface="Montserrat" panose="00000500000000000000" pitchFamily="2" charset="0"/>
                <a:ea typeface="Georgia"/>
                <a:cs typeface="Georgia"/>
                <a:sym typeface="Georgia"/>
              </a:rPr>
              <a:t>Dimensionality reduction </a:t>
            </a:r>
            <a:r>
              <a:rPr lang="en-ID" sz="2400" b="0" i="0" u="none" strike="noStrike" cap="none" dirty="0">
                <a:solidFill>
                  <a:srgbClr val="000000"/>
                </a:solidFill>
                <a:latin typeface="Montserrat" panose="00000500000000000000" pitchFamily="2" charset="0"/>
                <a:ea typeface="Georgia"/>
                <a:cs typeface="Georgia"/>
                <a:sym typeface="Wingdings" pitchFamily="2" charset="2"/>
              </a:rPr>
              <a:t> </a:t>
            </a:r>
            <a:r>
              <a:rPr lang="en-ID" sz="2400" b="0" i="0" u="none" strike="noStrike" cap="none" dirty="0" err="1">
                <a:solidFill>
                  <a:srgbClr val="000000"/>
                </a:solidFill>
                <a:latin typeface="Montserrat" panose="00000500000000000000" pitchFamily="2" charset="0"/>
                <a:ea typeface="Georgia"/>
                <a:cs typeface="Georgia"/>
                <a:sym typeface="Wingdings" pitchFamily="2" charset="2"/>
              </a:rPr>
              <a:t>mengonversi</a:t>
            </a:r>
            <a:r>
              <a:rPr lang="en-ID" sz="2400" b="0" i="0" u="none" strike="noStrike" cap="none" dirty="0">
                <a:solidFill>
                  <a:srgbClr val="000000"/>
                </a:solidFill>
                <a:latin typeface="Montserrat" panose="00000500000000000000" pitchFamily="2" charset="0"/>
                <a:ea typeface="Georgia"/>
                <a:cs typeface="Georgia"/>
                <a:sym typeface="Wingdings" pitchFamily="2" charset="2"/>
              </a:rPr>
              <a:t> data </a:t>
            </a:r>
            <a:r>
              <a:rPr lang="en-ID" sz="2400" b="0" i="0" u="none" strike="noStrike" cap="none" dirty="0" err="1">
                <a:solidFill>
                  <a:srgbClr val="000000"/>
                </a:solidFill>
                <a:latin typeface="Montserrat" panose="00000500000000000000" pitchFamily="2" charset="0"/>
                <a:ea typeface="Georgia"/>
                <a:cs typeface="Georgia"/>
                <a:sym typeface="Wingdings" pitchFamily="2" charset="2"/>
              </a:rPr>
              <a:t>berdimensi</a:t>
            </a:r>
            <a:r>
              <a:rPr lang="en-ID" sz="2400" b="0" i="0" u="none" strike="noStrike" cap="none" dirty="0">
                <a:solidFill>
                  <a:srgbClr val="000000"/>
                </a:solidFill>
                <a:latin typeface="Montserrat" panose="00000500000000000000" pitchFamily="2" charset="0"/>
                <a:ea typeface="Georgia"/>
                <a:cs typeface="Georgia"/>
                <a:sym typeface="Wingdings" pitchFamily="2" charset="2"/>
              </a:rPr>
              <a:t> </a:t>
            </a:r>
            <a:r>
              <a:rPr lang="en-ID" sz="2400" b="0" i="0" u="none" strike="noStrike" cap="none" dirty="0" err="1">
                <a:solidFill>
                  <a:srgbClr val="000000"/>
                </a:solidFill>
                <a:latin typeface="Montserrat" panose="00000500000000000000" pitchFamily="2" charset="0"/>
                <a:ea typeface="Georgia"/>
                <a:cs typeface="Georgia"/>
                <a:sym typeface="Wingdings" pitchFamily="2" charset="2"/>
              </a:rPr>
              <a:t>tinggi</a:t>
            </a:r>
            <a:r>
              <a:rPr lang="en-ID" sz="2400" b="0" i="0" u="none" strike="noStrike" cap="none" dirty="0">
                <a:solidFill>
                  <a:srgbClr val="000000"/>
                </a:solidFill>
                <a:latin typeface="Montserrat" panose="00000500000000000000" pitchFamily="2" charset="0"/>
                <a:ea typeface="Georgia"/>
                <a:cs typeface="Georgia"/>
                <a:sym typeface="Wingdings" pitchFamily="2" charset="2"/>
              </a:rPr>
              <a:t> </a:t>
            </a:r>
            <a:r>
              <a:rPr lang="en-ID" sz="2400" b="0" i="0" u="none" strike="noStrike" cap="none" dirty="0" err="1">
                <a:solidFill>
                  <a:srgbClr val="000000"/>
                </a:solidFill>
                <a:latin typeface="Montserrat" panose="00000500000000000000" pitchFamily="2" charset="0"/>
                <a:ea typeface="Georgia"/>
                <a:cs typeface="Georgia"/>
                <a:sym typeface="Wingdings" pitchFamily="2" charset="2"/>
              </a:rPr>
              <a:t>menjadi</a:t>
            </a:r>
            <a:r>
              <a:rPr lang="en-ID" sz="2400" b="0" i="0" u="none" strike="noStrike" cap="none" dirty="0">
                <a:solidFill>
                  <a:srgbClr val="000000"/>
                </a:solidFill>
                <a:latin typeface="Montserrat" panose="00000500000000000000" pitchFamily="2" charset="0"/>
                <a:ea typeface="Georgia"/>
                <a:cs typeface="Georgia"/>
                <a:sym typeface="Wingdings" pitchFamily="2" charset="2"/>
              </a:rPr>
              <a:t> </a:t>
            </a:r>
            <a:r>
              <a:rPr lang="en-ID" sz="2400" b="0" i="0" u="none" strike="noStrike" cap="none" dirty="0" err="1">
                <a:solidFill>
                  <a:srgbClr val="000000"/>
                </a:solidFill>
                <a:latin typeface="Montserrat" panose="00000500000000000000" pitchFamily="2" charset="0"/>
                <a:ea typeface="Georgia"/>
                <a:cs typeface="Georgia"/>
                <a:sym typeface="Wingdings" pitchFamily="2" charset="2"/>
              </a:rPr>
              <a:t>dimensi</a:t>
            </a:r>
            <a:r>
              <a:rPr lang="en-ID" sz="2400" b="0" i="0" u="none" strike="noStrike" cap="none" dirty="0">
                <a:solidFill>
                  <a:srgbClr val="000000"/>
                </a:solidFill>
                <a:latin typeface="Montserrat" panose="00000500000000000000" pitchFamily="2" charset="0"/>
                <a:ea typeface="Georgia"/>
                <a:cs typeface="Georgia"/>
                <a:sym typeface="Wingdings" pitchFamily="2" charset="2"/>
              </a:rPr>
              <a:t> yang </a:t>
            </a:r>
            <a:r>
              <a:rPr lang="en-ID" sz="2400" b="0" i="0" u="none" strike="noStrike" cap="none" dirty="0" err="1">
                <a:solidFill>
                  <a:srgbClr val="000000"/>
                </a:solidFill>
                <a:latin typeface="Montserrat" panose="00000500000000000000" pitchFamily="2" charset="0"/>
                <a:ea typeface="Georgia"/>
                <a:cs typeface="Georgia"/>
                <a:sym typeface="Wingdings" pitchFamily="2" charset="2"/>
              </a:rPr>
              <a:t>lebih</a:t>
            </a:r>
            <a:r>
              <a:rPr lang="en-ID" sz="2400" b="0" i="0" u="none" strike="noStrike" cap="none" dirty="0">
                <a:solidFill>
                  <a:srgbClr val="000000"/>
                </a:solidFill>
                <a:latin typeface="Montserrat" panose="00000500000000000000" pitchFamily="2" charset="0"/>
                <a:ea typeface="Georgia"/>
                <a:cs typeface="Georgia"/>
                <a:sym typeface="Wingdings" pitchFamily="2" charset="2"/>
              </a:rPr>
              <a:t> </a:t>
            </a:r>
            <a:r>
              <a:rPr lang="en-ID" sz="2400" b="0" i="0" u="none" strike="noStrike" cap="none" dirty="0" err="1">
                <a:solidFill>
                  <a:srgbClr val="000000"/>
                </a:solidFill>
                <a:latin typeface="Montserrat" panose="00000500000000000000" pitchFamily="2" charset="0"/>
                <a:ea typeface="Georgia"/>
                <a:cs typeface="Georgia"/>
                <a:sym typeface="Wingdings" pitchFamily="2" charset="2"/>
              </a:rPr>
              <a:t>rendah</a:t>
            </a:r>
            <a:endParaRPr lang="en-ID" sz="2400" b="1" dirty="0">
              <a:latin typeface="Montserrat" panose="00000500000000000000" pitchFamily="2" charset="0"/>
              <a:ea typeface="Trebuchet MS"/>
              <a:cs typeface="Trebuchet MS"/>
              <a:sym typeface="Wingdings" pitchFamily="2" charset="2"/>
            </a:endParaRPr>
          </a:p>
          <a:p>
            <a:pPr marL="457200" indent="-317500" algn="just">
              <a:lnSpc>
                <a:spcPct val="200000"/>
              </a:lnSpc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-ID" sz="2400" b="1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Clustering </a:t>
            </a:r>
            <a:r>
              <a:rPr lang="en-ID" sz="24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 </a:t>
            </a:r>
            <a:r>
              <a:rPr lang="en-ID" sz="24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melakukan</a:t>
            </a:r>
            <a:r>
              <a:rPr lang="en-ID" sz="24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</a:t>
            </a:r>
            <a:r>
              <a:rPr lang="en-ID" sz="24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pengelompokkan</a:t>
            </a:r>
            <a:r>
              <a:rPr lang="en-ID" sz="24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</a:t>
            </a:r>
            <a:r>
              <a:rPr lang="en-ID" sz="24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terhadap</a:t>
            </a:r>
            <a:r>
              <a:rPr lang="en-ID" sz="24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data yang </a:t>
            </a:r>
            <a:r>
              <a:rPr lang="en-ID" sz="24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ada</a:t>
            </a:r>
            <a:r>
              <a:rPr lang="en-ID" sz="24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</a:t>
            </a:r>
            <a:r>
              <a:rPr lang="en-ID" sz="24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berdasarkan</a:t>
            </a:r>
            <a:r>
              <a:rPr lang="en-ID" sz="24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</a:t>
            </a:r>
            <a:r>
              <a:rPr lang="en-ID" sz="24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pola</a:t>
            </a:r>
            <a:r>
              <a:rPr lang="en-ID" sz="24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yang </a:t>
            </a:r>
            <a:r>
              <a:rPr lang="en-ID" sz="24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terjadi</a:t>
            </a:r>
            <a:endParaRPr lang="en-ID" sz="2400" b="0" i="0" u="none" strike="noStrike" cap="none" dirty="0">
              <a:solidFill>
                <a:srgbClr val="000000"/>
              </a:solidFill>
              <a:latin typeface="Montserrat" panose="00000500000000000000" pitchFamily="2" charset="0"/>
              <a:ea typeface="Georgia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14152718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FA4A37-B9B5-0C23-33A6-16094146D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E85C7D7-1FC3-C171-3BAD-107CF89F5490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807D715-884A-85D6-3DE4-2B97E0F5B1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A24AEB7-0750-C64B-E07A-2DF6B477D85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CD22BD27-A88C-89F9-2424-CD3F3D2F015E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49BFA12-6E0E-2481-A2ED-D9F62E755DB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22EFB4C-1DEC-8ECD-B050-A0DD0AFB052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AFCB0DD4-B391-307A-7F39-BAF787CD2DF6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0D5CB129-B126-C19A-196E-B4A17A609B0F}"/>
              </a:ext>
            </a:extLst>
          </p:cNvPr>
          <p:cNvSpPr txBox="1"/>
          <p:nvPr/>
        </p:nvSpPr>
        <p:spPr>
          <a:xfrm>
            <a:off x="1277237" y="3371261"/>
            <a:ext cx="15773400" cy="25780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6600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Dimensionality </a:t>
            </a:r>
            <a:r>
              <a:rPr lang="en-US" sz="6600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Rediction</a:t>
            </a:r>
            <a:endParaRPr lang="en-US" sz="6600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endParaRPr lang="en-US" sz="4400" b="1" spc="191" dirty="0">
              <a:solidFill>
                <a:srgbClr val="08377C"/>
              </a:solidFill>
              <a:latin typeface="Montserrat Classic Bold"/>
              <a:sym typeface="Montserrat Classic Bold"/>
            </a:endParaRPr>
          </a:p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4400" b="1" spc="191" dirty="0">
                <a:solidFill>
                  <a:srgbClr val="08377C"/>
                </a:solidFill>
                <a:latin typeface="Montserrat Classic Bold"/>
                <a:sym typeface="Montserrat Classic Bold"/>
              </a:rPr>
              <a:t>Principle Component Analysis</a:t>
            </a:r>
            <a:endParaRPr lang="en-US" sz="4400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9" name="AutoShape 20">
            <a:extLst>
              <a:ext uri="{FF2B5EF4-FFF2-40B4-BE49-F238E27FC236}">
                <a16:creationId xmlns:a16="http://schemas.microsoft.com/office/drawing/2014/main" id="{0C839F89-CF89-BBD6-0B5C-9531DCDFB1BA}"/>
              </a:ext>
            </a:extLst>
          </p:cNvPr>
          <p:cNvSpPr/>
          <p:nvPr/>
        </p:nvSpPr>
        <p:spPr>
          <a:xfrm>
            <a:off x="4389120" y="4838700"/>
            <a:ext cx="9509760" cy="0"/>
          </a:xfrm>
          <a:prstGeom prst="line">
            <a:avLst/>
          </a:prstGeom>
          <a:ln w="38100" cap="flat">
            <a:solidFill>
              <a:srgbClr val="0837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714673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42C36-7BD1-F65E-140D-361D943C9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044407E-7EA6-6668-34CD-B2F09C409D73}"/>
              </a:ext>
            </a:extLst>
          </p:cNvPr>
          <p:cNvGrpSpPr/>
          <p:nvPr/>
        </p:nvGrpSpPr>
        <p:grpSpPr>
          <a:xfrm>
            <a:off x="17016492" y="-180826"/>
            <a:ext cx="1271508" cy="10467826"/>
            <a:chOff x="0" y="-47625"/>
            <a:chExt cx="334883" cy="27569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D0C4F7B-C3C4-F870-332A-83E561D691B9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8DFC12B-A146-FD59-98AD-123F82285DF0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404EDF5-8A33-A141-7963-40612C75E3B2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A65BE74-1BED-4B67-A4CF-EC9E14D7EE61}"/>
              </a:ext>
            </a:extLst>
          </p:cNvPr>
          <p:cNvSpPr txBox="1"/>
          <p:nvPr/>
        </p:nvSpPr>
        <p:spPr>
          <a:xfrm>
            <a:off x="2968011" y="1104918"/>
            <a:ext cx="11583628" cy="817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Dimensionality </a:t>
            </a:r>
            <a:r>
              <a:rPr lang="en-US" sz="5792" b="1" spc="191" dirty="0" err="1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Rediction</a:t>
            </a:r>
            <a:endParaRPr lang="en-US" sz="5792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6B6893-F816-E41F-5FF5-F65737A12D0D}"/>
              </a:ext>
            </a:extLst>
          </p:cNvPr>
          <p:cNvSpPr txBox="1"/>
          <p:nvPr/>
        </p:nvSpPr>
        <p:spPr>
          <a:xfrm>
            <a:off x="1066800" y="2341221"/>
            <a:ext cx="15386050" cy="1225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600" b="1" dirty="0">
                <a:latin typeface="Montserrat" panose="00000500000000000000" pitchFamily="2" charset="0"/>
              </a:rPr>
              <a:t>Dimensionality Reduction</a:t>
            </a:r>
            <a:r>
              <a:rPr lang="en-US" sz="2600" dirty="0">
                <a:latin typeface="Montserrat" panose="00000500000000000000" pitchFamily="2" charset="0"/>
              </a:rPr>
              <a:t> adalah proses </a:t>
            </a:r>
            <a:r>
              <a:rPr lang="en-US" sz="2600" b="1" dirty="0" err="1">
                <a:latin typeface="Montserrat" panose="00000500000000000000" pitchFamily="2" charset="0"/>
              </a:rPr>
              <a:t>mengurangi</a:t>
            </a:r>
            <a:r>
              <a:rPr lang="en-US" sz="2600" b="1" dirty="0">
                <a:latin typeface="Montserrat" panose="00000500000000000000" pitchFamily="2" charset="0"/>
              </a:rPr>
              <a:t> jumlah variabel (</a:t>
            </a:r>
            <a:r>
              <a:rPr lang="en-US" sz="2600" b="1" dirty="0" err="1">
                <a:latin typeface="Montserrat" panose="00000500000000000000" pitchFamily="2" charset="0"/>
              </a:rPr>
              <a:t>fitur</a:t>
            </a:r>
            <a:r>
              <a:rPr lang="en-US" sz="2600" b="1" dirty="0">
                <a:latin typeface="Montserrat" panose="00000500000000000000" pitchFamily="2" charset="0"/>
              </a:rPr>
              <a:t>/</a:t>
            </a:r>
            <a:r>
              <a:rPr lang="en-US" sz="2600" b="1" dirty="0" err="1">
                <a:latin typeface="Montserrat" panose="00000500000000000000" pitchFamily="2" charset="0"/>
              </a:rPr>
              <a:t>dimensi</a:t>
            </a:r>
            <a:r>
              <a:rPr lang="en-US" sz="2600" b="1" dirty="0">
                <a:latin typeface="Montserrat" panose="00000500000000000000" pitchFamily="2" charset="0"/>
              </a:rPr>
              <a:t>)</a:t>
            </a:r>
            <a:r>
              <a:rPr lang="en-US" sz="2600" dirty="0">
                <a:latin typeface="Montserrat" panose="00000500000000000000" pitchFamily="2" charset="0"/>
              </a:rPr>
              <a:t> dalam dataset, </a:t>
            </a:r>
            <a:r>
              <a:rPr lang="en-US" sz="2600" b="1" dirty="0">
                <a:latin typeface="Montserrat" panose="00000500000000000000" pitchFamily="2" charset="0"/>
              </a:rPr>
              <a:t>tanpa terlalu </a:t>
            </a:r>
            <a:r>
              <a:rPr lang="en-US" sz="2600" b="1" dirty="0" err="1">
                <a:latin typeface="Montserrat" panose="00000500000000000000" pitchFamily="2" charset="0"/>
              </a:rPr>
              <a:t>banyak</a:t>
            </a:r>
            <a:r>
              <a:rPr lang="en-US" sz="2600" b="1" dirty="0">
                <a:latin typeface="Montserrat" panose="00000500000000000000" pitchFamily="2" charset="0"/>
              </a:rPr>
              <a:t> </a:t>
            </a:r>
            <a:r>
              <a:rPr lang="en-US" sz="2600" b="1" dirty="0" err="1">
                <a:latin typeface="Montserrat" panose="00000500000000000000" pitchFamily="2" charset="0"/>
              </a:rPr>
              <a:t>kehilangan</a:t>
            </a:r>
            <a:r>
              <a:rPr lang="en-US" sz="2600" b="1" dirty="0">
                <a:latin typeface="Montserrat" panose="00000500000000000000" pitchFamily="2" charset="0"/>
              </a:rPr>
              <a:t> informasi penting</a:t>
            </a:r>
            <a:r>
              <a:rPr lang="en-US" sz="2600" dirty="0"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C16D13-5CAA-D986-A48A-6C75B2DFD335}"/>
              </a:ext>
            </a:extLst>
          </p:cNvPr>
          <p:cNvSpPr txBox="1"/>
          <p:nvPr/>
        </p:nvSpPr>
        <p:spPr>
          <a:xfrm>
            <a:off x="1219200" y="4068608"/>
            <a:ext cx="11963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3200" b="1" dirty="0" err="1">
                <a:solidFill>
                  <a:srgbClr val="08377C"/>
                </a:solidFill>
                <a:latin typeface="Montserrat" panose="00000500000000000000" pitchFamily="2" charset="0"/>
              </a:rPr>
              <a:t>Apa</a:t>
            </a:r>
            <a:r>
              <a:rPr lang="fr-FR" sz="3200" b="1" dirty="0">
                <a:solidFill>
                  <a:srgbClr val="08377C"/>
                </a:solidFill>
                <a:latin typeface="Montserrat" panose="00000500000000000000" pitchFamily="2" charset="0"/>
              </a:rPr>
              <a:t> </a:t>
            </a:r>
            <a:r>
              <a:rPr lang="fr-FR" sz="3200" b="1" dirty="0" err="1">
                <a:solidFill>
                  <a:srgbClr val="08377C"/>
                </a:solidFill>
                <a:latin typeface="Montserrat" panose="00000500000000000000" pitchFamily="2" charset="0"/>
              </a:rPr>
              <a:t>itu</a:t>
            </a:r>
            <a:r>
              <a:rPr lang="fr-FR" sz="3200" b="1" dirty="0">
                <a:solidFill>
                  <a:srgbClr val="08377C"/>
                </a:solidFill>
                <a:latin typeface="Montserrat" panose="00000500000000000000" pitchFamily="2" charset="0"/>
              </a:rPr>
              <a:t> </a:t>
            </a:r>
            <a:r>
              <a:rPr lang="fr-FR" sz="3200" b="1" i="1" dirty="0">
                <a:solidFill>
                  <a:srgbClr val="08377C"/>
                </a:solidFill>
                <a:latin typeface="Montserrat" panose="00000500000000000000" pitchFamily="2" charset="0"/>
              </a:rPr>
              <a:t>Principal Component </a:t>
            </a:r>
            <a:r>
              <a:rPr lang="fr-FR" sz="3200" b="1" i="1" dirty="0" err="1">
                <a:solidFill>
                  <a:srgbClr val="08377C"/>
                </a:solidFill>
                <a:latin typeface="Montserrat" panose="00000500000000000000" pitchFamily="2" charset="0"/>
              </a:rPr>
              <a:t>Analysis</a:t>
            </a:r>
            <a:r>
              <a:rPr lang="fr-FR" sz="3200" b="1" i="1" dirty="0">
                <a:solidFill>
                  <a:srgbClr val="08377C"/>
                </a:solidFill>
                <a:latin typeface="Montserrat" panose="00000500000000000000" pitchFamily="2" charset="0"/>
              </a:rPr>
              <a:t> (PCA)</a:t>
            </a:r>
            <a:r>
              <a:rPr lang="fr-FR" sz="3200" b="1" dirty="0">
                <a:solidFill>
                  <a:srgbClr val="08377C"/>
                </a:solidFill>
                <a:latin typeface="Montserrat" panose="00000500000000000000" pitchFamily="2" charset="0"/>
              </a:rPr>
              <a:t>?</a:t>
            </a:r>
            <a:endParaRPr lang="en-US" sz="3200" b="1" dirty="0">
              <a:solidFill>
                <a:srgbClr val="08377C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43D08D-EBCF-E755-9F9C-F689EA7D2C84}"/>
              </a:ext>
            </a:extLst>
          </p:cNvPr>
          <p:cNvSpPr txBox="1"/>
          <p:nvPr/>
        </p:nvSpPr>
        <p:spPr>
          <a:xfrm>
            <a:off x="1600200" y="4686300"/>
            <a:ext cx="14746208" cy="3025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Montserrat" panose="00000500000000000000" pitchFamily="2" charset="0"/>
              </a:rPr>
              <a:t>PCA </a:t>
            </a:r>
            <a:r>
              <a:rPr lang="en-US" sz="2600" dirty="0" err="1">
                <a:latin typeface="Montserrat" panose="00000500000000000000" pitchFamily="2" charset="0"/>
              </a:rPr>
              <a:t>mencoba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dirty="0" err="1">
                <a:latin typeface="Montserrat" panose="00000500000000000000" pitchFamily="2" charset="0"/>
              </a:rPr>
              <a:t>menemukan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b="1" dirty="0">
                <a:latin typeface="Montserrat" panose="00000500000000000000" pitchFamily="2" charset="0"/>
              </a:rPr>
              <a:t>"</a:t>
            </a:r>
            <a:r>
              <a:rPr lang="en-US" sz="2600" b="1" dirty="0" err="1">
                <a:latin typeface="Montserrat" panose="00000500000000000000" pitchFamily="2" charset="0"/>
              </a:rPr>
              <a:t>sumbu</a:t>
            </a:r>
            <a:r>
              <a:rPr lang="en-US" sz="2600" b="1" dirty="0">
                <a:latin typeface="Montserrat" panose="00000500000000000000" pitchFamily="2" charset="0"/>
              </a:rPr>
              <a:t>" </a:t>
            </a:r>
            <a:r>
              <a:rPr lang="en-US" sz="2600" b="1" dirty="0" err="1">
                <a:latin typeface="Montserrat" panose="00000500000000000000" pitchFamily="2" charset="0"/>
              </a:rPr>
              <a:t>atau</a:t>
            </a:r>
            <a:r>
              <a:rPr lang="en-US" sz="2600" b="1" dirty="0">
                <a:latin typeface="Montserrat" panose="00000500000000000000" pitchFamily="2" charset="0"/>
              </a:rPr>
              <a:t> "arah baru"</a:t>
            </a:r>
            <a:r>
              <a:rPr lang="en-US" sz="2600" dirty="0">
                <a:latin typeface="Montserrat" panose="00000500000000000000" pitchFamily="2" charset="0"/>
              </a:rPr>
              <a:t> di mana </a:t>
            </a:r>
            <a:r>
              <a:rPr lang="en-US" sz="2600" b="1" dirty="0" err="1">
                <a:latin typeface="Montserrat" panose="00000500000000000000" pitchFamily="2" charset="0"/>
              </a:rPr>
              <a:t>variasi</a:t>
            </a:r>
            <a:r>
              <a:rPr lang="en-US" sz="2600" b="1" dirty="0">
                <a:latin typeface="Montserrat" panose="00000500000000000000" pitchFamily="2" charset="0"/>
              </a:rPr>
              <a:t> data </a:t>
            </a:r>
            <a:r>
              <a:rPr lang="en-US" sz="2600" b="1" dirty="0" err="1">
                <a:latin typeface="Montserrat" panose="00000500000000000000" pitchFamily="2" charset="0"/>
              </a:rPr>
              <a:t>terbesar</a:t>
            </a:r>
            <a:r>
              <a:rPr lang="en-US" sz="2600" dirty="0">
                <a:latin typeface="Montserrat" panose="00000500000000000000" pitchFamily="2" charset="0"/>
              </a:rPr>
              <a:t> terjadi.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Mengkonversi</a:t>
            </a:r>
            <a:r>
              <a:rPr lang="en-US" sz="26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beberapa </a:t>
            </a:r>
            <a:r>
              <a:rPr lang="en-US" sz="2600" b="1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obeservasi</a:t>
            </a:r>
            <a:r>
              <a:rPr lang="en-US" sz="26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yang mungkin saling </a:t>
            </a:r>
            <a:r>
              <a:rPr lang="en-US" sz="26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berkaitan</a:t>
            </a:r>
            <a:r>
              <a:rPr lang="en-US" sz="26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6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menjadi</a:t>
            </a:r>
            <a:r>
              <a:rPr lang="en-US" sz="26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600" b="1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suatu</a:t>
            </a:r>
            <a:r>
              <a:rPr lang="en-US" sz="26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set </a:t>
            </a:r>
            <a:r>
              <a:rPr lang="en-US" sz="2600" b="1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observasi</a:t>
            </a:r>
            <a:r>
              <a:rPr lang="en-US" sz="26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6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yang tidak </a:t>
            </a:r>
            <a:r>
              <a:rPr lang="en-US" sz="26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berkorelasi</a:t>
            </a:r>
            <a:r>
              <a:rPr lang="en-US" sz="26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6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secara</a:t>
            </a:r>
            <a:r>
              <a:rPr lang="en-US" sz="26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linear itu yang </a:t>
            </a:r>
            <a:r>
              <a:rPr lang="en-US" sz="26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disebut</a:t>
            </a:r>
            <a:r>
              <a:rPr lang="en-US" sz="26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dengan “</a:t>
            </a:r>
            <a:r>
              <a:rPr lang="en-US" sz="26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principal components</a:t>
            </a:r>
            <a:r>
              <a:rPr lang="en-US" sz="26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”.</a:t>
            </a:r>
            <a:endParaRPr lang="en-US" sz="2600" dirty="0">
              <a:latin typeface="Montserrat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A39FA0-C0BB-1C94-C083-567D666EC6B9}"/>
              </a:ext>
            </a:extLst>
          </p:cNvPr>
          <p:cNvSpPr txBox="1"/>
          <p:nvPr/>
        </p:nvSpPr>
        <p:spPr>
          <a:xfrm>
            <a:off x="1066800" y="8073839"/>
            <a:ext cx="15279608" cy="1137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latin typeface="Montserrat" panose="00000500000000000000" pitchFamily="2" charset="0"/>
              </a:rPr>
              <a:t>PCA:  </a:t>
            </a:r>
            <a:r>
              <a:rPr lang="en-US" sz="2400" dirty="0">
                <a:latin typeface="Montserrat" panose="00000500000000000000" pitchFamily="2" charset="0"/>
              </a:rPr>
              <a:t>“</a:t>
            </a:r>
            <a:r>
              <a:rPr lang="en-US" sz="2400" i="1" dirty="0">
                <a:latin typeface="Montserrat" panose="00000500000000000000" pitchFamily="2" charset="0"/>
              </a:rPr>
              <a:t>Algoritma </a:t>
            </a:r>
            <a:r>
              <a:rPr lang="en-US" sz="2400" i="1" dirty="0" err="1">
                <a:latin typeface="Montserrat" panose="00000500000000000000" pitchFamily="2" charset="0"/>
              </a:rPr>
              <a:t>reduksi</a:t>
            </a:r>
            <a:r>
              <a:rPr lang="en-US" sz="2400" i="1" dirty="0">
                <a:latin typeface="Montserrat" panose="00000500000000000000" pitchFamily="2" charset="0"/>
              </a:rPr>
              <a:t> </a:t>
            </a:r>
            <a:r>
              <a:rPr lang="en-US" sz="2400" i="1" dirty="0" err="1">
                <a:latin typeface="Montserrat" panose="00000500000000000000" pitchFamily="2" charset="0"/>
              </a:rPr>
              <a:t>dimensi</a:t>
            </a:r>
            <a:r>
              <a:rPr lang="en-US" sz="2400" i="1" dirty="0">
                <a:latin typeface="Montserrat" panose="00000500000000000000" pitchFamily="2" charset="0"/>
              </a:rPr>
              <a:t> yang </a:t>
            </a:r>
            <a:r>
              <a:rPr lang="en-US" sz="2400" i="1" dirty="0" err="1">
                <a:latin typeface="Montserrat" panose="00000500000000000000" pitchFamily="2" charset="0"/>
              </a:rPr>
              <a:t>digunakan</a:t>
            </a:r>
            <a:r>
              <a:rPr lang="en-US" sz="2400" i="1" dirty="0">
                <a:latin typeface="Montserrat" panose="00000500000000000000" pitchFamily="2" charset="0"/>
              </a:rPr>
              <a:t> untuk </a:t>
            </a:r>
            <a:r>
              <a:rPr lang="en-US" sz="2400" i="1" dirty="0" err="1">
                <a:latin typeface="Montserrat" panose="00000500000000000000" pitchFamily="2" charset="0"/>
              </a:rPr>
              <a:t>mengubah</a:t>
            </a:r>
            <a:r>
              <a:rPr lang="en-US" sz="2400" i="1" dirty="0">
                <a:latin typeface="Montserrat" panose="00000500000000000000" pitchFamily="2" charset="0"/>
              </a:rPr>
              <a:t> dataset </a:t>
            </a:r>
            <a:r>
              <a:rPr lang="en-US" sz="2400" i="1" dirty="0" err="1">
                <a:latin typeface="Montserrat" panose="00000500000000000000" pitchFamily="2" charset="0"/>
              </a:rPr>
              <a:t>berdimensi</a:t>
            </a:r>
            <a:r>
              <a:rPr lang="en-US" sz="2400" i="1" dirty="0">
                <a:latin typeface="Montserrat" panose="00000500000000000000" pitchFamily="2" charset="0"/>
              </a:rPr>
              <a:t> </a:t>
            </a:r>
            <a:r>
              <a:rPr lang="en-US" sz="2400" i="1" dirty="0" err="1">
                <a:latin typeface="Montserrat" panose="00000500000000000000" pitchFamily="2" charset="0"/>
              </a:rPr>
              <a:t>tinggi</a:t>
            </a:r>
            <a:r>
              <a:rPr lang="en-US" sz="2400" i="1" dirty="0">
                <a:latin typeface="Montserrat" panose="00000500000000000000" pitchFamily="2" charset="0"/>
              </a:rPr>
              <a:t> </a:t>
            </a:r>
            <a:r>
              <a:rPr lang="en-US" sz="2400" i="1" dirty="0" err="1">
                <a:latin typeface="Montserrat" panose="00000500000000000000" pitchFamily="2" charset="0"/>
              </a:rPr>
              <a:t>menjadi</a:t>
            </a:r>
            <a:r>
              <a:rPr lang="en-US" sz="2400" i="1" dirty="0">
                <a:latin typeface="Montserrat" panose="00000500000000000000" pitchFamily="2" charset="0"/>
              </a:rPr>
              <a:t> </a:t>
            </a:r>
            <a:r>
              <a:rPr lang="en-US" sz="2400" i="1" dirty="0" err="1">
                <a:latin typeface="Montserrat" panose="00000500000000000000" pitchFamily="2" charset="0"/>
              </a:rPr>
              <a:t>dimensi</a:t>
            </a:r>
            <a:r>
              <a:rPr lang="en-US" sz="2400" i="1" dirty="0">
                <a:latin typeface="Montserrat" panose="00000500000000000000" pitchFamily="2" charset="0"/>
              </a:rPr>
              <a:t> yang </a:t>
            </a:r>
            <a:r>
              <a:rPr lang="en-US" sz="2400" i="1" dirty="0" err="1">
                <a:latin typeface="Montserrat" panose="00000500000000000000" pitchFamily="2" charset="0"/>
              </a:rPr>
              <a:t>lebih</a:t>
            </a:r>
            <a:r>
              <a:rPr lang="en-US" sz="2400" i="1" dirty="0">
                <a:latin typeface="Montserrat" panose="00000500000000000000" pitchFamily="2" charset="0"/>
              </a:rPr>
              <a:t> </a:t>
            </a:r>
            <a:r>
              <a:rPr lang="en-US" sz="2400" i="1" dirty="0" err="1">
                <a:latin typeface="Montserrat" panose="00000500000000000000" pitchFamily="2" charset="0"/>
              </a:rPr>
              <a:t>rendah</a:t>
            </a:r>
            <a:r>
              <a:rPr lang="en-US" sz="2400" i="1" dirty="0">
                <a:latin typeface="Montserrat" panose="00000500000000000000" pitchFamily="2" charset="0"/>
              </a:rPr>
              <a:t> </a:t>
            </a:r>
            <a:r>
              <a:rPr lang="en-US" sz="2400" i="1" dirty="0" err="1">
                <a:latin typeface="Montserrat" panose="00000500000000000000" pitchFamily="2" charset="0"/>
              </a:rPr>
              <a:t>sambil</a:t>
            </a:r>
            <a:r>
              <a:rPr lang="en-US" sz="2400" i="1" dirty="0">
                <a:latin typeface="Montserrat" panose="00000500000000000000" pitchFamily="2" charset="0"/>
              </a:rPr>
              <a:t> </a:t>
            </a:r>
            <a:r>
              <a:rPr lang="en-US" sz="2400" i="1" dirty="0" err="1">
                <a:latin typeface="Montserrat" panose="00000500000000000000" pitchFamily="2" charset="0"/>
              </a:rPr>
              <a:t>mempertahankan</a:t>
            </a:r>
            <a:r>
              <a:rPr lang="en-US" sz="2400" i="1" dirty="0">
                <a:latin typeface="Montserrat" panose="00000500000000000000" pitchFamily="2" charset="0"/>
              </a:rPr>
              <a:t> informasi </a:t>
            </a:r>
            <a:r>
              <a:rPr lang="en-US" sz="2400" i="1" dirty="0" err="1">
                <a:latin typeface="Montserrat" panose="00000500000000000000" pitchFamily="2" charset="0"/>
              </a:rPr>
              <a:t>sebanyak</a:t>
            </a:r>
            <a:r>
              <a:rPr lang="en-US" sz="2400" i="1" dirty="0">
                <a:latin typeface="Montserrat" panose="00000500000000000000" pitchFamily="2" charset="0"/>
              </a:rPr>
              <a:t> mungkin".</a:t>
            </a:r>
          </a:p>
        </p:txBody>
      </p:sp>
    </p:spTree>
    <p:extLst>
      <p:ext uri="{BB962C8B-B14F-4D97-AF65-F5344CB8AC3E}">
        <p14:creationId xmlns:p14="http://schemas.microsoft.com/office/powerpoint/2010/main" val="1755037833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E9075-1FC9-5D70-C056-63FFFDCE3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5D57AAE-DE16-1207-A2D0-C26E72B26560}"/>
              </a:ext>
            </a:extLst>
          </p:cNvPr>
          <p:cNvSpPr txBox="1"/>
          <p:nvPr/>
        </p:nvSpPr>
        <p:spPr>
          <a:xfrm>
            <a:off x="958321" y="685800"/>
            <a:ext cx="16364460" cy="2052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900" b="1" spc="191" dirty="0">
                <a:solidFill>
                  <a:srgbClr val="08377C"/>
                </a:solidFill>
                <a:latin typeface="+mj-lt"/>
                <a:ea typeface="+mj-ea"/>
                <a:cs typeface="+mj-cs"/>
                <a:sym typeface="Montserrat Classic Bold"/>
              </a:rPr>
              <a:t>PCA ALGORITHM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75120" y="2776024"/>
            <a:ext cx="4937760" cy="27432"/>
          </a:xfrm>
          <a:custGeom>
            <a:avLst/>
            <a:gdLst>
              <a:gd name="connsiteX0" fmla="*/ 0 w 4937760"/>
              <a:gd name="connsiteY0" fmla="*/ 0 h 27432"/>
              <a:gd name="connsiteX1" fmla="*/ 567842 w 4937760"/>
              <a:gd name="connsiteY1" fmla="*/ 0 h 27432"/>
              <a:gd name="connsiteX2" fmla="*/ 1135685 w 4937760"/>
              <a:gd name="connsiteY2" fmla="*/ 0 h 27432"/>
              <a:gd name="connsiteX3" fmla="*/ 1851660 w 4937760"/>
              <a:gd name="connsiteY3" fmla="*/ 0 h 27432"/>
              <a:gd name="connsiteX4" fmla="*/ 2370125 w 4937760"/>
              <a:gd name="connsiteY4" fmla="*/ 0 h 27432"/>
              <a:gd name="connsiteX5" fmla="*/ 2888590 w 4937760"/>
              <a:gd name="connsiteY5" fmla="*/ 0 h 27432"/>
              <a:gd name="connsiteX6" fmla="*/ 3505810 w 4937760"/>
              <a:gd name="connsiteY6" fmla="*/ 0 h 27432"/>
              <a:gd name="connsiteX7" fmla="*/ 4024274 w 4937760"/>
              <a:gd name="connsiteY7" fmla="*/ 0 h 27432"/>
              <a:gd name="connsiteX8" fmla="*/ 4937760 w 4937760"/>
              <a:gd name="connsiteY8" fmla="*/ 0 h 27432"/>
              <a:gd name="connsiteX9" fmla="*/ 4937760 w 4937760"/>
              <a:gd name="connsiteY9" fmla="*/ 27432 h 27432"/>
              <a:gd name="connsiteX10" fmla="*/ 4419295 w 4937760"/>
              <a:gd name="connsiteY10" fmla="*/ 27432 h 27432"/>
              <a:gd name="connsiteX11" fmla="*/ 3900830 w 4937760"/>
              <a:gd name="connsiteY11" fmla="*/ 27432 h 27432"/>
              <a:gd name="connsiteX12" fmla="*/ 3283610 w 4937760"/>
              <a:gd name="connsiteY12" fmla="*/ 27432 h 27432"/>
              <a:gd name="connsiteX13" fmla="*/ 2765146 w 4937760"/>
              <a:gd name="connsiteY13" fmla="*/ 27432 h 27432"/>
              <a:gd name="connsiteX14" fmla="*/ 2296058 w 4937760"/>
              <a:gd name="connsiteY14" fmla="*/ 27432 h 27432"/>
              <a:gd name="connsiteX15" fmla="*/ 1678838 w 4937760"/>
              <a:gd name="connsiteY15" fmla="*/ 27432 h 27432"/>
              <a:gd name="connsiteX16" fmla="*/ 1061618 w 4937760"/>
              <a:gd name="connsiteY16" fmla="*/ 27432 h 27432"/>
              <a:gd name="connsiteX17" fmla="*/ 0 w 4937760"/>
              <a:gd name="connsiteY17" fmla="*/ 27432 h 27432"/>
              <a:gd name="connsiteX18" fmla="*/ 0 w 4937760"/>
              <a:gd name="connsiteY18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937760" h="27432" fill="none" extrusionOk="0">
                <a:moveTo>
                  <a:pt x="0" y="0"/>
                </a:moveTo>
                <a:cubicBezTo>
                  <a:pt x="151071" y="898"/>
                  <a:pt x="414304" y="10355"/>
                  <a:pt x="567842" y="0"/>
                </a:cubicBezTo>
                <a:cubicBezTo>
                  <a:pt x="721380" y="-10355"/>
                  <a:pt x="913955" y="23592"/>
                  <a:pt x="1135685" y="0"/>
                </a:cubicBezTo>
                <a:cubicBezTo>
                  <a:pt x="1357415" y="-23592"/>
                  <a:pt x="1656179" y="-14359"/>
                  <a:pt x="1851660" y="0"/>
                </a:cubicBezTo>
                <a:cubicBezTo>
                  <a:pt x="2047142" y="14359"/>
                  <a:pt x="2259566" y="-14455"/>
                  <a:pt x="2370125" y="0"/>
                </a:cubicBezTo>
                <a:cubicBezTo>
                  <a:pt x="2480684" y="14455"/>
                  <a:pt x="2753992" y="22579"/>
                  <a:pt x="2888590" y="0"/>
                </a:cubicBezTo>
                <a:cubicBezTo>
                  <a:pt x="3023188" y="-22579"/>
                  <a:pt x="3354327" y="24296"/>
                  <a:pt x="3505810" y="0"/>
                </a:cubicBezTo>
                <a:cubicBezTo>
                  <a:pt x="3657293" y="-24296"/>
                  <a:pt x="3767649" y="3652"/>
                  <a:pt x="4024274" y="0"/>
                </a:cubicBezTo>
                <a:cubicBezTo>
                  <a:pt x="4280899" y="-3652"/>
                  <a:pt x="4541928" y="-14384"/>
                  <a:pt x="4937760" y="0"/>
                </a:cubicBezTo>
                <a:cubicBezTo>
                  <a:pt x="4938470" y="9050"/>
                  <a:pt x="4937122" y="21151"/>
                  <a:pt x="4937760" y="27432"/>
                </a:cubicBezTo>
                <a:cubicBezTo>
                  <a:pt x="4792365" y="10076"/>
                  <a:pt x="4528041" y="17663"/>
                  <a:pt x="4419295" y="27432"/>
                </a:cubicBezTo>
                <a:cubicBezTo>
                  <a:pt x="4310549" y="37201"/>
                  <a:pt x="4126500" y="10618"/>
                  <a:pt x="3900830" y="27432"/>
                </a:cubicBezTo>
                <a:cubicBezTo>
                  <a:pt x="3675160" y="44246"/>
                  <a:pt x="3409924" y="31425"/>
                  <a:pt x="3283610" y="27432"/>
                </a:cubicBezTo>
                <a:cubicBezTo>
                  <a:pt x="3157296" y="23439"/>
                  <a:pt x="3011610" y="15782"/>
                  <a:pt x="2765146" y="27432"/>
                </a:cubicBezTo>
                <a:cubicBezTo>
                  <a:pt x="2518682" y="39082"/>
                  <a:pt x="2505970" y="40710"/>
                  <a:pt x="2296058" y="27432"/>
                </a:cubicBezTo>
                <a:cubicBezTo>
                  <a:pt x="2086146" y="14154"/>
                  <a:pt x="1890404" y="35142"/>
                  <a:pt x="1678838" y="27432"/>
                </a:cubicBezTo>
                <a:cubicBezTo>
                  <a:pt x="1467272" y="19722"/>
                  <a:pt x="1210839" y="46081"/>
                  <a:pt x="1061618" y="27432"/>
                </a:cubicBezTo>
                <a:cubicBezTo>
                  <a:pt x="912397" y="8783"/>
                  <a:pt x="424920" y="11180"/>
                  <a:pt x="0" y="27432"/>
                </a:cubicBezTo>
                <a:cubicBezTo>
                  <a:pt x="-1228" y="21145"/>
                  <a:pt x="-815" y="8816"/>
                  <a:pt x="0" y="0"/>
                </a:cubicBezTo>
                <a:close/>
              </a:path>
              <a:path w="4937760" h="27432" stroke="0" extrusionOk="0">
                <a:moveTo>
                  <a:pt x="0" y="0"/>
                </a:moveTo>
                <a:cubicBezTo>
                  <a:pt x="158580" y="-21299"/>
                  <a:pt x="375366" y="-9205"/>
                  <a:pt x="518465" y="0"/>
                </a:cubicBezTo>
                <a:cubicBezTo>
                  <a:pt x="661564" y="9205"/>
                  <a:pt x="901414" y="-31895"/>
                  <a:pt x="1234440" y="0"/>
                </a:cubicBezTo>
                <a:cubicBezTo>
                  <a:pt x="1567467" y="31895"/>
                  <a:pt x="1525818" y="3722"/>
                  <a:pt x="1703527" y="0"/>
                </a:cubicBezTo>
                <a:cubicBezTo>
                  <a:pt x="1881236" y="-3722"/>
                  <a:pt x="1964350" y="10238"/>
                  <a:pt x="2172614" y="0"/>
                </a:cubicBezTo>
                <a:cubicBezTo>
                  <a:pt x="2380878" y="-10238"/>
                  <a:pt x="2652196" y="-22475"/>
                  <a:pt x="2789834" y="0"/>
                </a:cubicBezTo>
                <a:cubicBezTo>
                  <a:pt x="2927472" y="22475"/>
                  <a:pt x="3160003" y="7911"/>
                  <a:pt x="3357677" y="0"/>
                </a:cubicBezTo>
                <a:cubicBezTo>
                  <a:pt x="3555351" y="-7911"/>
                  <a:pt x="3723575" y="-14515"/>
                  <a:pt x="4024274" y="0"/>
                </a:cubicBezTo>
                <a:cubicBezTo>
                  <a:pt x="4324973" y="14515"/>
                  <a:pt x="4666192" y="-31217"/>
                  <a:pt x="4937760" y="0"/>
                </a:cubicBezTo>
                <a:cubicBezTo>
                  <a:pt x="4937817" y="6776"/>
                  <a:pt x="4936595" y="20935"/>
                  <a:pt x="4937760" y="27432"/>
                </a:cubicBezTo>
                <a:cubicBezTo>
                  <a:pt x="4605662" y="51747"/>
                  <a:pt x="4434779" y="15280"/>
                  <a:pt x="4221785" y="27432"/>
                </a:cubicBezTo>
                <a:cubicBezTo>
                  <a:pt x="4008791" y="39584"/>
                  <a:pt x="3840732" y="43619"/>
                  <a:pt x="3653942" y="27432"/>
                </a:cubicBezTo>
                <a:cubicBezTo>
                  <a:pt x="3467152" y="11245"/>
                  <a:pt x="3368269" y="7352"/>
                  <a:pt x="3086100" y="27432"/>
                </a:cubicBezTo>
                <a:cubicBezTo>
                  <a:pt x="2803931" y="47512"/>
                  <a:pt x="2806928" y="31440"/>
                  <a:pt x="2567635" y="27432"/>
                </a:cubicBezTo>
                <a:cubicBezTo>
                  <a:pt x="2328342" y="23424"/>
                  <a:pt x="2237209" y="34202"/>
                  <a:pt x="1999793" y="27432"/>
                </a:cubicBezTo>
                <a:cubicBezTo>
                  <a:pt x="1762377" y="20662"/>
                  <a:pt x="1753212" y="30829"/>
                  <a:pt x="1530706" y="27432"/>
                </a:cubicBezTo>
                <a:cubicBezTo>
                  <a:pt x="1308200" y="24035"/>
                  <a:pt x="1164917" y="444"/>
                  <a:pt x="962863" y="27432"/>
                </a:cubicBezTo>
                <a:cubicBezTo>
                  <a:pt x="760809" y="54420"/>
                  <a:pt x="232406" y="72726"/>
                  <a:pt x="0" y="27432"/>
                </a:cubicBezTo>
                <a:cubicBezTo>
                  <a:pt x="-234" y="21031"/>
                  <a:pt x="-921" y="632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Data analysis using principal component analysis | Semantic Scholar">
            <a:extLst>
              <a:ext uri="{FF2B5EF4-FFF2-40B4-BE49-F238E27FC236}">
                <a16:creationId xmlns:a16="http://schemas.microsoft.com/office/drawing/2014/main" id="{8260535A-3234-B660-F55F-24E01E187A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01"/>
          <a:stretch/>
        </p:blipFill>
        <p:spPr bwMode="auto">
          <a:xfrm>
            <a:off x="5334000" y="3333762"/>
            <a:ext cx="6705600" cy="6519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reeform 5">
            <a:extLst>
              <a:ext uri="{FF2B5EF4-FFF2-40B4-BE49-F238E27FC236}">
                <a16:creationId xmlns:a16="http://schemas.microsoft.com/office/drawing/2014/main" id="{4A579CB6-DB18-10FA-E097-E8AB16E901B9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5F0921D9-A9C4-912A-56E7-A03B35A94A81}"/>
              </a:ext>
            </a:extLst>
          </p:cNvPr>
          <p:cNvGrpSpPr/>
          <p:nvPr/>
        </p:nvGrpSpPr>
        <p:grpSpPr>
          <a:xfrm>
            <a:off x="4362381" y="3963924"/>
            <a:ext cx="656982" cy="5408676"/>
            <a:chOff x="0" y="-47625"/>
            <a:chExt cx="334883" cy="27569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2FAEEC6-C75E-DB14-9BE8-25521558F1C1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484BA6C-19B8-F8E0-3403-83F7A7A0ED14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16925248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847C2B-AD2E-1F40-FAA2-86D4D1D6C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B4FF47A-1BC3-77B4-6188-7EF9D2309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AC8E452-E2AC-490E-3043-40A10E4818AB}"/>
              </a:ext>
            </a:extLst>
          </p:cNvPr>
          <p:cNvSpPr txBox="1"/>
          <p:nvPr/>
        </p:nvSpPr>
        <p:spPr>
          <a:xfrm>
            <a:off x="958321" y="685800"/>
            <a:ext cx="16364460" cy="2052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900" b="1" spc="191" dirty="0">
                <a:solidFill>
                  <a:srgbClr val="08377C"/>
                </a:solidFill>
                <a:latin typeface="+mj-lt"/>
                <a:ea typeface="+mj-ea"/>
                <a:cs typeface="+mj-cs"/>
                <a:sym typeface="Montserrat Classic Bold"/>
              </a:rPr>
              <a:t>PCA ALGORITHM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89CE2CE6-7338-6866-DC62-15FCA5D85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75120" y="2776024"/>
            <a:ext cx="4937760" cy="27432"/>
          </a:xfrm>
          <a:custGeom>
            <a:avLst/>
            <a:gdLst>
              <a:gd name="connsiteX0" fmla="*/ 0 w 4937760"/>
              <a:gd name="connsiteY0" fmla="*/ 0 h 27432"/>
              <a:gd name="connsiteX1" fmla="*/ 567842 w 4937760"/>
              <a:gd name="connsiteY1" fmla="*/ 0 h 27432"/>
              <a:gd name="connsiteX2" fmla="*/ 1135685 w 4937760"/>
              <a:gd name="connsiteY2" fmla="*/ 0 h 27432"/>
              <a:gd name="connsiteX3" fmla="*/ 1851660 w 4937760"/>
              <a:gd name="connsiteY3" fmla="*/ 0 h 27432"/>
              <a:gd name="connsiteX4" fmla="*/ 2370125 w 4937760"/>
              <a:gd name="connsiteY4" fmla="*/ 0 h 27432"/>
              <a:gd name="connsiteX5" fmla="*/ 2888590 w 4937760"/>
              <a:gd name="connsiteY5" fmla="*/ 0 h 27432"/>
              <a:gd name="connsiteX6" fmla="*/ 3505810 w 4937760"/>
              <a:gd name="connsiteY6" fmla="*/ 0 h 27432"/>
              <a:gd name="connsiteX7" fmla="*/ 4024274 w 4937760"/>
              <a:gd name="connsiteY7" fmla="*/ 0 h 27432"/>
              <a:gd name="connsiteX8" fmla="*/ 4937760 w 4937760"/>
              <a:gd name="connsiteY8" fmla="*/ 0 h 27432"/>
              <a:gd name="connsiteX9" fmla="*/ 4937760 w 4937760"/>
              <a:gd name="connsiteY9" fmla="*/ 27432 h 27432"/>
              <a:gd name="connsiteX10" fmla="*/ 4419295 w 4937760"/>
              <a:gd name="connsiteY10" fmla="*/ 27432 h 27432"/>
              <a:gd name="connsiteX11" fmla="*/ 3900830 w 4937760"/>
              <a:gd name="connsiteY11" fmla="*/ 27432 h 27432"/>
              <a:gd name="connsiteX12" fmla="*/ 3283610 w 4937760"/>
              <a:gd name="connsiteY12" fmla="*/ 27432 h 27432"/>
              <a:gd name="connsiteX13" fmla="*/ 2765146 w 4937760"/>
              <a:gd name="connsiteY13" fmla="*/ 27432 h 27432"/>
              <a:gd name="connsiteX14" fmla="*/ 2296058 w 4937760"/>
              <a:gd name="connsiteY14" fmla="*/ 27432 h 27432"/>
              <a:gd name="connsiteX15" fmla="*/ 1678838 w 4937760"/>
              <a:gd name="connsiteY15" fmla="*/ 27432 h 27432"/>
              <a:gd name="connsiteX16" fmla="*/ 1061618 w 4937760"/>
              <a:gd name="connsiteY16" fmla="*/ 27432 h 27432"/>
              <a:gd name="connsiteX17" fmla="*/ 0 w 4937760"/>
              <a:gd name="connsiteY17" fmla="*/ 27432 h 27432"/>
              <a:gd name="connsiteX18" fmla="*/ 0 w 4937760"/>
              <a:gd name="connsiteY18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937760" h="27432" fill="none" extrusionOk="0">
                <a:moveTo>
                  <a:pt x="0" y="0"/>
                </a:moveTo>
                <a:cubicBezTo>
                  <a:pt x="151071" y="898"/>
                  <a:pt x="414304" y="10355"/>
                  <a:pt x="567842" y="0"/>
                </a:cubicBezTo>
                <a:cubicBezTo>
                  <a:pt x="721380" y="-10355"/>
                  <a:pt x="913955" y="23592"/>
                  <a:pt x="1135685" y="0"/>
                </a:cubicBezTo>
                <a:cubicBezTo>
                  <a:pt x="1357415" y="-23592"/>
                  <a:pt x="1656179" y="-14359"/>
                  <a:pt x="1851660" y="0"/>
                </a:cubicBezTo>
                <a:cubicBezTo>
                  <a:pt x="2047142" y="14359"/>
                  <a:pt x="2259566" y="-14455"/>
                  <a:pt x="2370125" y="0"/>
                </a:cubicBezTo>
                <a:cubicBezTo>
                  <a:pt x="2480684" y="14455"/>
                  <a:pt x="2753992" y="22579"/>
                  <a:pt x="2888590" y="0"/>
                </a:cubicBezTo>
                <a:cubicBezTo>
                  <a:pt x="3023188" y="-22579"/>
                  <a:pt x="3354327" y="24296"/>
                  <a:pt x="3505810" y="0"/>
                </a:cubicBezTo>
                <a:cubicBezTo>
                  <a:pt x="3657293" y="-24296"/>
                  <a:pt x="3767649" y="3652"/>
                  <a:pt x="4024274" y="0"/>
                </a:cubicBezTo>
                <a:cubicBezTo>
                  <a:pt x="4280899" y="-3652"/>
                  <a:pt x="4541928" y="-14384"/>
                  <a:pt x="4937760" y="0"/>
                </a:cubicBezTo>
                <a:cubicBezTo>
                  <a:pt x="4938470" y="9050"/>
                  <a:pt x="4937122" y="21151"/>
                  <a:pt x="4937760" y="27432"/>
                </a:cubicBezTo>
                <a:cubicBezTo>
                  <a:pt x="4792365" y="10076"/>
                  <a:pt x="4528041" y="17663"/>
                  <a:pt x="4419295" y="27432"/>
                </a:cubicBezTo>
                <a:cubicBezTo>
                  <a:pt x="4310549" y="37201"/>
                  <a:pt x="4126500" y="10618"/>
                  <a:pt x="3900830" y="27432"/>
                </a:cubicBezTo>
                <a:cubicBezTo>
                  <a:pt x="3675160" y="44246"/>
                  <a:pt x="3409924" y="31425"/>
                  <a:pt x="3283610" y="27432"/>
                </a:cubicBezTo>
                <a:cubicBezTo>
                  <a:pt x="3157296" y="23439"/>
                  <a:pt x="3011610" y="15782"/>
                  <a:pt x="2765146" y="27432"/>
                </a:cubicBezTo>
                <a:cubicBezTo>
                  <a:pt x="2518682" y="39082"/>
                  <a:pt x="2505970" y="40710"/>
                  <a:pt x="2296058" y="27432"/>
                </a:cubicBezTo>
                <a:cubicBezTo>
                  <a:pt x="2086146" y="14154"/>
                  <a:pt x="1890404" y="35142"/>
                  <a:pt x="1678838" y="27432"/>
                </a:cubicBezTo>
                <a:cubicBezTo>
                  <a:pt x="1467272" y="19722"/>
                  <a:pt x="1210839" y="46081"/>
                  <a:pt x="1061618" y="27432"/>
                </a:cubicBezTo>
                <a:cubicBezTo>
                  <a:pt x="912397" y="8783"/>
                  <a:pt x="424920" y="11180"/>
                  <a:pt x="0" y="27432"/>
                </a:cubicBezTo>
                <a:cubicBezTo>
                  <a:pt x="-1228" y="21145"/>
                  <a:pt x="-815" y="8816"/>
                  <a:pt x="0" y="0"/>
                </a:cubicBezTo>
                <a:close/>
              </a:path>
              <a:path w="4937760" h="27432" stroke="0" extrusionOk="0">
                <a:moveTo>
                  <a:pt x="0" y="0"/>
                </a:moveTo>
                <a:cubicBezTo>
                  <a:pt x="158580" y="-21299"/>
                  <a:pt x="375366" y="-9205"/>
                  <a:pt x="518465" y="0"/>
                </a:cubicBezTo>
                <a:cubicBezTo>
                  <a:pt x="661564" y="9205"/>
                  <a:pt x="901414" y="-31895"/>
                  <a:pt x="1234440" y="0"/>
                </a:cubicBezTo>
                <a:cubicBezTo>
                  <a:pt x="1567467" y="31895"/>
                  <a:pt x="1525818" y="3722"/>
                  <a:pt x="1703527" y="0"/>
                </a:cubicBezTo>
                <a:cubicBezTo>
                  <a:pt x="1881236" y="-3722"/>
                  <a:pt x="1964350" y="10238"/>
                  <a:pt x="2172614" y="0"/>
                </a:cubicBezTo>
                <a:cubicBezTo>
                  <a:pt x="2380878" y="-10238"/>
                  <a:pt x="2652196" y="-22475"/>
                  <a:pt x="2789834" y="0"/>
                </a:cubicBezTo>
                <a:cubicBezTo>
                  <a:pt x="2927472" y="22475"/>
                  <a:pt x="3160003" y="7911"/>
                  <a:pt x="3357677" y="0"/>
                </a:cubicBezTo>
                <a:cubicBezTo>
                  <a:pt x="3555351" y="-7911"/>
                  <a:pt x="3723575" y="-14515"/>
                  <a:pt x="4024274" y="0"/>
                </a:cubicBezTo>
                <a:cubicBezTo>
                  <a:pt x="4324973" y="14515"/>
                  <a:pt x="4666192" y="-31217"/>
                  <a:pt x="4937760" y="0"/>
                </a:cubicBezTo>
                <a:cubicBezTo>
                  <a:pt x="4937817" y="6776"/>
                  <a:pt x="4936595" y="20935"/>
                  <a:pt x="4937760" y="27432"/>
                </a:cubicBezTo>
                <a:cubicBezTo>
                  <a:pt x="4605662" y="51747"/>
                  <a:pt x="4434779" y="15280"/>
                  <a:pt x="4221785" y="27432"/>
                </a:cubicBezTo>
                <a:cubicBezTo>
                  <a:pt x="4008791" y="39584"/>
                  <a:pt x="3840732" y="43619"/>
                  <a:pt x="3653942" y="27432"/>
                </a:cubicBezTo>
                <a:cubicBezTo>
                  <a:pt x="3467152" y="11245"/>
                  <a:pt x="3368269" y="7352"/>
                  <a:pt x="3086100" y="27432"/>
                </a:cubicBezTo>
                <a:cubicBezTo>
                  <a:pt x="2803931" y="47512"/>
                  <a:pt x="2806928" y="31440"/>
                  <a:pt x="2567635" y="27432"/>
                </a:cubicBezTo>
                <a:cubicBezTo>
                  <a:pt x="2328342" y="23424"/>
                  <a:pt x="2237209" y="34202"/>
                  <a:pt x="1999793" y="27432"/>
                </a:cubicBezTo>
                <a:cubicBezTo>
                  <a:pt x="1762377" y="20662"/>
                  <a:pt x="1753212" y="30829"/>
                  <a:pt x="1530706" y="27432"/>
                </a:cubicBezTo>
                <a:cubicBezTo>
                  <a:pt x="1308200" y="24035"/>
                  <a:pt x="1164917" y="444"/>
                  <a:pt x="962863" y="27432"/>
                </a:cubicBezTo>
                <a:cubicBezTo>
                  <a:pt x="760809" y="54420"/>
                  <a:pt x="232406" y="72726"/>
                  <a:pt x="0" y="27432"/>
                </a:cubicBezTo>
                <a:cubicBezTo>
                  <a:pt x="-234" y="21031"/>
                  <a:pt x="-921" y="632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41224C7-E591-68C4-3011-AF5D18429D77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08D305-55FC-F0E2-065C-54C87C97AEB3}"/>
              </a:ext>
            </a:extLst>
          </p:cNvPr>
          <p:cNvSpPr txBox="1"/>
          <p:nvPr/>
        </p:nvSpPr>
        <p:spPr>
          <a:xfrm>
            <a:off x="1277237" y="3176421"/>
            <a:ext cx="16045544" cy="169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  <a:buNone/>
            </a:pPr>
            <a:r>
              <a:rPr lang="en-US" sz="2400" b="1" i="0" dirty="0">
                <a:solidFill>
                  <a:srgbClr val="08377C"/>
                </a:solidFill>
                <a:effectLst/>
                <a:latin typeface="Montserrat" panose="00000500000000000000" pitchFamily="2" charset="0"/>
              </a:rPr>
              <a:t>1. Input data</a:t>
            </a:r>
          </a:p>
          <a:p>
            <a:pPr algn="l" fontAlgn="base">
              <a:lnSpc>
                <a:spcPct val="150000"/>
              </a:lnSpc>
            </a:pPr>
            <a:r>
              <a:rPr lang="en-US" sz="2400" b="0" i="0" dirty="0">
                <a:effectLst/>
                <a:latin typeface="Montserrat" panose="00000500000000000000" pitchFamily="2" charset="0"/>
              </a:rPr>
              <a:t>Data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awal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dipersiapkan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dalam sebuah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matriks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ukuran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‘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mxn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’.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Nantinya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jumlah variable </a:t>
            </a:r>
            <a:r>
              <a:rPr lang="en-US" sz="2400" b="0" i="1" dirty="0">
                <a:effectLst/>
                <a:latin typeface="Montserrat" panose="00000500000000000000" pitchFamily="2" charset="0"/>
              </a:rPr>
              <a:t>n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 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akan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berkurang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menjadi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 </a:t>
            </a:r>
            <a:r>
              <a:rPr lang="en-US" sz="2400" b="0" i="1" dirty="0">
                <a:effectLst/>
                <a:latin typeface="Montserrat" panose="00000500000000000000" pitchFamily="2" charset="0"/>
              </a:rPr>
              <a:t>k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 jumlah principal component yang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dipertahankan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DE7F64-7961-F596-F648-53BAA2C99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237" y="4825961"/>
            <a:ext cx="4455890" cy="52648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A43A13-7315-CFFE-2AE8-0E4E9DE4B1B8}"/>
              </a:ext>
            </a:extLst>
          </p:cNvPr>
          <p:cNvSpPr txBox="1"/>
          <p:nvPr/>
        </p:nvSpPr>
        <p:spPr>
          <a:xfrm>
            <a:off x="5453672" y="5829300"/>
            <a:ext cx="11869110" cy="279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  <a:buNone/>
            </a:pPr>
            <a:r>
              <a:rPr lang="en-US" sz="2400" b="1" i="0" dirty="0" err="1">
                <a:effectLst/>
                <a:latin typeface="Montserrat" panose="00000500000000000000" pitchFamily="2" charset="0"/>
              </a:rPr>
              <a:t>Sebut</a:t>
            </a:r>
            <a:r>
              <a:rPr lang="en-US" sz="2400" b="1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Montserrat" panose="00000500000000000000" pitchFamily="2" charset="0"/>
              </a:rPr>
              <a:t>saja</a:t>
            </a:r>
            <a:r>
              <a:rPr lang="en-US" sz="2400" b="1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kolom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pertama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adalah variabel X,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kedua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Y dan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ketiga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Z. </a:t>
            </a:r>
          </a:p>
          <a:p>
            <a:pPr algn="l" fontAlgn="base">
              <a:lnSpc>
                <a:spcPct val="150000"/>
              </a:lnSpc>
              <a:buNone/>
            </a:pPr>
            <a:r>
              <a:rPr lang="en-US" sz="2400" b="0" i="0" dirty="0">
                <a:effectLst/>
                <a:latin typeface="Montserrat" panose="00000500000000000000" pitchFamily="2" charset="0"/>
              </a:rPr>
              <a:t>Masing-masing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barisnya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(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observasi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)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diberi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label: a, b, c…dan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seterusnya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sampai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t. </a:t>
            </a:r>
          </a:p>
          <a:p>
            <a:pPr algn="l" fontAlgn="base">
              <a:lnSpc>
                <a:spcPct val="150000"/>
              </a:lnSpc>
              <a:buNone/>
            </a:pPr>
            <a:r>
              <a:rPr lang="en-US" sz="2400" b="0" i="0" dirty="0">
                <a:effectLst/>
                <a:latin typeface="Montserrat" panose="00000500000000000000" pitchFamily="2" charset="0"/>
              </a:rPr>
              <a:t>Tabel Data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berukuran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20×3. Dengan m=20 (baris) dan n=3 (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kolom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).</a:t>
            </a:r>
          </a:p>
          <a:p>
            <a:pPr algn="l" fontAlgn="base">
              <a:lnSpc>
                <a:spcPct val="150000"/>
              </a:lnSpc>
            </a:pPr>
            <a:r>
              <a:rPr lang="en-US" sz="2400" b="0" i="0" dirty="0">
                <a:effectLst/>
                <a:latin typeface="Montserrat" panose="00000500000000000000" pitchFamily="2" charset="0"/>
              </a:rPr>
              <a:t>X dengan range 110-2999, Y: 8-202 dan Z: 5-30.</a:t>
            </a:r>
          </a:p>
        </p:txBody>
      </p:sp>
    </p:spTree>
    <p:extLst>
      <p:ext uri="{BB962C8B-B14F-4D97-AF65-F5344CB8AC3E}">
        <p14:creationId xmlns:p14="http://schemas.microsoft.com/office/powerpoint/2010/main" val="977949511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A0D7BE-FA59-647F-5C40-CA62B31E3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FA4365B-34CC-D437-2BCB-2F257428F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00019FF-06C7-DB4E-24CB-2764E3FB3BCE}"/>
              </a:ext>
            </a:extLst>
          </p:cNvPr>
          <p:cNvSpPr txBox="1"/>
          <p:nvPr/>
        </p:nvSpPr>
        <p:spPr>
          <a:xfrm>
            <a:off x="958321" y="685800"/>
            <a:ext cx="16364460" cy="2052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900" b="1" spc="191" dirty="0">
                <a:solidFill>
                  <a:srgbClr val="08377C"/>
                </a:solidFill>
                <a:latin typeface="+mj-lt"/>
                <a:ea typeface="+mj-ea"/>
                <a:cs typeface="+mj-cs"/>
                <a:sym typeface="Montserrat Classic Bold"/>
              </a:rPr>
              <a:t>PCA ALGORITHM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F306D0E0-37B5-8394-0F29-7EFAC5968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75120" y="2776024"/>
            <a:ext cx="4937760" cy="27432"/>
          </a:xfrm>
          <a:custGeom>
            <a:avLst/>
            <a:gdLst>
              <a:gd name="connsiteX0" fmla="*/ 0 w 4937760"/>
              <a:gd name="connsiteY0" fmla="*/ 0 h 27432"/>
              <a:gd name="connsiteX1" fmla="*/ 567842 w 4937760"/>
              <a:gd name="connsiteY1" fmla="*/ 0 h 27432"/>
              <a:gd name="connsiteX2" fmla="*/ 1135685 w 4937760"/>
              <a:gd name="connsiteY2" fmla="*/ 0 h 27432"/>
              <a:gd name="connsiteX3" fmla="*/ 1851660 w 4937760"/>
              <a:gd name="connsiteY3" fmla="*/ 0 h 27432"/>
              <a:gd name="connsiteX4" fmla="*/ 2370125 w 4937760"/>
              <a:gd name="connsiteY4" fmla="*/ 0 h 27432"/>
              <a:gd name="connsiteX5" fmla="*/ 2888590 w 4937760"/>
              <a:gd name="connsiteY5" fmla="*/ 0 h 27432"/>
              <a:gd name="connsiteX6" fmla="*/ 3505810 w 4937760"/>
              <a:gd name="connsiteY6" fmla="*/ 0 h 27432"/>
              <a:gd name="connsiteX7" fmla="*/ 4024274 w 4937760"/>
              <a:gd name="connsiteY7" fmla="*/ 0 h 27432"/>
              <a:gd name="connsiteX8" fmla="*/ 4937760 w 4937760"/>
              <a:gd name="connsiteY8" fmla="*/ 0 h 27432"/>
              <a:gd name="connsiteX9" fmla="*/ 4937760 w 4937760"/>
              <a:gd name="connsiteY9" fmla="*/ 27432 h 27432"/>
              <a:gd name="connsiteX10" fmla="*/ 4419295 w 4937760"/>
              <a:gd name="connsiteY10" fmla="*/ 27432 h 27432"/>
              <a:gd name="connsiteX11" fmla="*/ 3900830 w 4937760"/>
              <a:gd name="connsiteY11" fmla="*/ 27432 h 27432"/>
              <a:gd name="connsiteX12" fmla="*/ 3283610 w 4937760"/>
              <a:gd name="connsiteY12" fmla="*/ 27432 h 27432"/>
              <a:gd name="connsiteX13" fmla="*/ 2765146 w 4937760"/>
              <a:gd name="connsiteY13" fmla="*/ 27432 h 27432"/>
              <a:gd name="connsiteX14" fmla="*/ 2296058 w 4937760"/>
              <a:gd name="connsiteY14" fmla="*/ 27432 h 27432"/>
              <a:gd name="connsiteX15" fmla="*/ 1678838 w 4937760"/>
              <a:gd name="connsiteY15" fmla="*/ 27432 h 27432"/>
              <a:gd name="connsiteX16" fmla="*/ 1061618 w 4937760"/>
              <a:gd name="connsiteY16" fmla="*/ 27432 h 27432"/>
              <a:gd name="connsiteX17" fmla="*/ 0 w 4937760"/>
              <a:gd name="connsiteY17" fmla="*/ 27432 h 27432"/>
              <a:gd name="connsiteX18" fmla="*/ 0 w 4937760"/>
              <a:gd name="connsiteY18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937760" h="27432" fill="none" extrusionOk="0">
                <a:moveTo>
                  <a:pt x="0" y="0"/>
                </a:moveTo>
                <a:cubicBezTo>
                  <a:pt x="151071" y="898"/>
                  <a:pt x="414304" y="10355"/>
                  <a:pt x="567842" y="0"/>
                </a:cubicBezTo>
                <a:cubicBezTo>
                  <a:pt x="721380" y="-10355"/>
                  <a:pt x="913955" y="23592"/>
                  <a:pt x="1135685" y="0"/>
                </a:cubicBezTo>
                <a:cubicBezTo>
                  <a:pt x="1357415" y="-23592"/>
                  <a:pt x="1656179" y="-14359"/>
                  <a:pt x="1851660" y="0"/>
                </a:cubicBezTo>
                <a:cubicBezTo>
                  <a:pt x="2047142" y="14359"/>
                  <a:pt x="2259566" y="-14455"/>
                  <a:pt x="2370125" y="0"/>
                </a:cubicBezTo>
                <a:cubicBezTo>
                  <a:pt x="2480684" y="14455"/>
                  <a:pt x="2753992" y="22579"/>
                  <a:pt x="2888590" y="0"/>
                </a:cubicBezTo>
                <a:cubicBezTo>
                  <a:pt x="3023188" y="-22579"/>
                  <a:pt x="3354327" y="24296"/>
                  <a:pt x="3505810" y="0"/>
                </a:cubicBezTo>
                <a:cubicBezTo>
                  <a:pt x="3657293" y="-24296"/>
                  <a:pt x="3767649" y="3652"/>
                  <a:pt x="4024274" y="0"/>
                </a:cubicBezTo>
                <a:cubicBezTo>
                  <a:pt x="4280899" y="-3652"/>
                  <a:pt x="4541928" y="-14384"/>
                  <a:pt x="4937760" y="0"/>
                </a:cubicBezTo>
                <a:cubicBezTo>
                  <a:pt x="4938470" y="9050"/>
                  <a:pt x="4937122" y="21151"/>
                  <a:pt x="4937760" y="27432"/>
                </a:cubicBezTo>
                <a:cubicBezTo>
                  <a:pt x="4792365" y="10076"/>
                  <a:pt x="4528041" y="17663"/>
                  <a:pt x="4419295" y="27432"/>
                </a:cubicBezTo>
                <a:cubicBezTo>
                  <a:pt x="4310549" y="37201"/>
                  <a:pt x="4126500" y="10618"/>
                  <a:pt x="3900830" y="27432"/>
                </a:cubicBezTo>
                <a:cubicBezTo>
                  <a:pt x="3675160" y="44246"/>
                  <a:pt x="3409924" y="31425"/>
                  <a:pt x="3283610" y="27432"/>
                </a:cubicBezTo>
                <a:cubicBezTo>
                  <a:pt x="3157296" y="23439"/>
                  <a:pt x="3011610" y="15782"/>
                  <a:pt x="2765146" y="27432"/>
                </a:cubicBezTo>
                <a:cubicBezTo>
                  <a:pt x="2518682" y="39082"/>
                  <a:pt x="2505970" y="40710"/>
                  <a:pt x="2296058" y="27432"/>
                </a:cubicBezTo>
                <a:cubicBezTo>
                  <a:pt x="2086146" y="14154"/>
                  <a:pt x="1890404" y="35142"/>
                  <a:pt x="1678838" y="27432"/>
                </a:cubicBezTo>
                <a:cubicBezTo>
                  <a:pt x="1467272" y="19722"/>
                  <a:pt x="1210839" y="46081"/>
                  <a:pt x="1061618" y="27432"/>
                </a:cubicBezTo>
                <a:cubicBezTo>
                  <a:pt x="912397" y="8783"/>
                  <a:pt x="424920" y="11180"/>
                  <a:pt x="0" y="27432"/>
                </a:cubicBezTo>
                <a:cubicBezTo>
                  <a:pt x="-1228" y="21145"/>
                  <a:pt x="-815" y="8816"/>
                  <a:pt x="0" y="0"/>
                </a:cubicBezTo>
                <a:close/>
              </a:path>
              <a:path w="4937760" h="27432" stroke="0" extrusionOk="0">
                <a:moveTo>
                  <a:pt x="0" y="0"/>
                </a:moveTo>
                <a:cubicBezTo>
                  <a:pt x="158580" y="-21299"/>
                  <a:pt x="375366" y="-9205"/>
                  <a:pt x="518465" y="0"/>
                </a:cubicBezTo>
                <a:cubicBezTo>
                  <a:pt x="661564" y="9205"/>
                  <a:pt x="901414" y="-31895"/>
                  <a:pt x="1234440" y="0"/>
                </a:cubicBezTo>
                <a:cubicBezTo>
                  <a:pt x="1567467" y="31895"/>
                  <a:pt x="1525818" y="3722"/>
                  <a:pt x="1703527" y="0"/>
                </a:cubicBezTo>
                <a:cubicBezTo>
                  <a:pt x="1881236" y="-3722"/>
                  <a:pt x="1964350" y="10238"/>
                  <a:pt x="2172614" y="0"/>
                </a:cubicBezTo>
                <a:cubicBezTo>
                  <a:pt x="2380878" y="-10238"/>
                  <a:pt x="2652196" y="-22475"/>
                  <a:pt x="2789834" y="0"/>
                </a:cubicBezTo>
                <a:cubicBezTo>
                  <a:pt x="2927472" y="22475"/>
                  <a:pt x="3160003" y="7911"/>
                  <a:pt x="3357677" y="0"/>
                </a:cubicBezTo>
                <a:cubicBezTo>
                  <a:pt x="3555351" y="-7911"/>
                  <a:pt x="3723575" y="-14515"/>
                  <a:pt x="4024274" y="0"/>
                </a:cubicBezTo>
                <a:cubicBezTo>
                  <a:pt x="4324973" y="14515"/>
                  <a:pt x="4666192" y="-31217"/>
                  <a:pt x="4937760" y="0"/>
                </a:cubicBezTo>
                <a:cubicBezTo>
                  <a:pt x="4937817" y="6776"/>
                  <a:pt x="4936595" y="20935"/>
                  <a:pt x="4937760" y="27432"/>
                </a:cubicBezTo>
                <a:cubicBezTo>
                  <a:pt x="4605662" y="51747"/>
                  <a:pt x="4434779" y="15280"/>
                  <a:pt x="4221785" y="27432"/>
                </a:cubicBezTo>
                <a:cubicBezTo>
                  <a:pt x="4008791" y="39584"/>
                  <a:pt x="3840732" y="43619"/>
                  <a:pt x="3653942" y="27432"/>
                </a:cubicBezTo>
                <a:cubicBezTo>
                  <a:pt x="3467152" y="11245"/>
                  <a:pt x="3368269" y="7352"/>
                  <a:pt x="3086100" y="27432"/>
                </a:cubicBezTo>
                <a:cubicBezTo>
                  <a:pt x="2803931" y="47512"/>
                  <a:pt x="2806928" y="31440"/>
                  <a:pt x="2567635" y="27432"/>
                </a:cubicBezTo>
                <a:cubicBezTo>
                  <a:pt x="2328342" y="23424"/>
                  <a:pt x="2237209" y="34202"/>
                  <a:pt x="1999793" y="27432"/>
                </a:cubicBezTo>
                <a:cubicBezTo>
                  <a:pt x="1762377" y="20662"/>
                  <a:pt x="1753212" y="30829"/>
                  <a:pt x="1530706" y="27432"/>
                </a:cubicBezTo>
                <a:cubicBezTo>
                  <a:pt x="1308200" y="24035"/>
                  <a:pt x="1164917" y="444"/>
                  <a:pt x="962863" y="27432"/>
                </a:cubicBezTo>
                <a:cubicBezTo>
                  <a:pt x="760809" y="54420"/>
                  <a:pt x="232406" y="72726"/>
                  <a:pt x="0" y="27432"/>
                </a:cubicBezTo>
                <a:cubicBezTo>
                  <a:pt x="-234" y="21031"/>
                  <a:pt x="-921" y="632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572FABA-3875-4758-FFCE-146214F854CC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8850D5-ECB1-011E-0026-4B65BE1C32B8}"/>
              </a:ext>
            </a:extLst>
          </p:cNvPr>
          <p:cNvSpPr txBox="1"/>
          <p:nvPr/>
        </p:nvSpPr>
        <p:spPr>
          <a:xfrm>
            <a:off x="1277237" y="2933700"/>
            <a:ext cx="16045544" cy="3625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08377C"/>
                </a:solidFill>
                <a:latin typeface="Montserrat" panose="00000500000000000000" pitchFamily="2" charset="0"/>
              </a:rPr>
              <a:t>2. Take the Mean</a:t>
            </a:r>
            <a:endParaRPr lang="en-US" sz="2600" b="1" i="0" dirty="0">
              <a:solidFill>
                <a:srgbClr val="08377C"/>
              </a:solidFill>
              <a:effectLst/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600" dirty="0">
                <a:latin typeface="Montserrat" panose="00000500000000000000" pitchFamily="2" charset="0"/>
              </a:rPr>
              <a:t>Hitung rata-rata setiap </a:t>
            </a:r>
            <a:r>
              <a:rPr lang="en-US" sz="2600" dirty="0" err="1">
                <a:latin typeface="Montserrat" panose="00000500000000000000" pitchFamily="2" charset="0"/>
              </a:rPr>
              <a:t>fitur</a:t>
            </a:r>
            <a:r>
              <a:rPr lang="en-US" sz="2600" dirty="0">
                <a:latin typeface="Montserrat" panose="00000500000000000000" pitchFamily="2" charset="0"/>
              </a:rPr>
              <a:t> (</a:t>
            </a:r>
            <a:r>
              <a:rPr lang="en-US" sz="2600" dirty="0" err="1">
                <a:latin typeface="Montserrat" panose="00000500000000000000" pitchFamily="2" charset="0"/>
              </a:rPr>
              <a:t>kolom</a:t>
            </a:r>
            <a:r>
              <a:rPr lang="en-US" sz="2600" dirty="0">
                <a:latin typeface="Montserrat" panose="00000500000000000000" pitchFamily="2" charset="0"/>
              </a:rPr>
              <a:t>):</a:t>
            </a:r>
          </a:p>
          <a:p>
            <a:pPr>
              <a:lnSpc>
                <a:spcPct val="150000"/>
              </a:lnSpc>
              <a:buNone/>
            </a:pPr>
            <a:endParaRPr lang="en-US" sz="26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600" dirty="0" err="1">
                <a:latin typeface="Montserrat" panose="00000500000000000000" pitchFamily="2" charset="0"/>
              </a:rPr>
              <a:t>Hasilnya</a:t>
            </a:r>
            <a:r>
              <a:rPr lang="en-US" sz="2600" dirty="0">
                <a:latin typeface="Montserrat" panose="00000500000000000000" pitchFamily="2" charset="0"/>
              </a:rPr>
              <a:t> adalah </a:t>
            </a:r>
            <a:r>
              <a:rPr lang="en-US" sz="2600" dirty="0" err="1">
                <a:latin typeface="Montserrat" panose="00000500000000000000" pitchFamily="2" charset="0"/>
              </a:rPr>
              <a:t>vektor</a:t>
            </a:r>
            <a:r>
              <a:rPr lang="en-US" sz="2600" dirty="0">
                <a:latin typeface="Montserrat" panose="00000500000000000000" pitchFamily="2" charset="0"/>
              </a:rPr>
              <a:t> mean </a:t>
            </a:r>
            <a:r>
              <a:rPr lang="en-US" sz="2600" dirty="0" err="1">
                <a:latin typeface="Montserrat" panose="00000500000000000000" pitchFamily="2" charset="0"/>
              </a:rPr>
              <a:t>sepanjang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i="1" dirty="0">
                <a:latin typeface="Montserrat" panose="00000500000000000000" pitchFamily="2" charset="0"/>
              </a:rPr>
              <a:t>n</a:t>
            </a:r>
            <a:r>
              <a:rPr lang="en-US" sz="2600" dirty="0">
                <a:latin typeface="Montserrat" panose="00000500000000000000" pitchFamily="2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371B2-6834-0133-AE76-E252424E4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2796" y="3954613"/>
            <a:ext cx="3202407" cy="18923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63A80F-460D-1576-89A6-896C6A97701F}"/>
              </a:ext>
            </a:extLst>
          </p:cNvPr>
          <p:cNvSpPr txBox="1"/>
          <p:nvPr/>
        </p:nvSpPr>
        <p:spPr>
          <a:xfrm>
            <a:off x="1277237" y="6613792"/>
            <a:ext cx="16045544" cy="3025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08377C"/>
                </a:solidFill>
                <a:latin typeface="Montserrat" panose="00000500000000000000" pitchFamily="2" charset="0"/>
              </a:rPr>
              <a:t>3. Normalization (Centering the data)</a:t>
            </a:r>
            <a:endParaRPr lang="en-US" sz="2600" b="1" i="0" dirty="0">
              <a:solidFill>
                <a:srgbClr val="08377C"/>
              </a:solidFill>
              <a:effectLst/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600" dirty="0" err="1">
                <a:latin typeface="Montserrat" panose="00000500000000000000" pitchFamily="2" charset="0"/>
              </a:rPr>
              <a:t>Kurangkan</a:t>
            </a:r>
            <a:r>
              <a:rPr lang="en-US" sz="2600" dirty="0">
                <a:latin typeface="Montserrat" panose="00000500000000000000" pitchFamily="2" charset="0"/>
              </a:rPr>
              <a:t> mean </a:t>
            </a:r>
            <a:r>
              <a:rPr lang="en-US" sz="2600" dirty="0" err="1">
                <a:latin typeface="Montserrat" panose="00000500000000000000" pitchFamily="2" charset="0"/>
              </a:rPr>
              <a:t>dari</a:t>
            </a:r>
            <a:r>
              <a:rPr lang="en-US" sz="2600" dirty="0">
                <a:latin typeface="Montserrat" panose="00000500000000000000" pitchFamily="2" charset="0"/>
              </a:rPr>
              <a:t> setiap </a:t>
            </a:r>
            <a:r>
              <a:rPr lang="en-US" sz="2600" dirty="0" err="1">
                <a:latin typeface="Montserrat" panose="00000500000000000000" pitchFamily="2" charset="0"/>
              </a:rPr>
              <a:t>fitur</a:t>
            </a:r>
            <a:endParaRPr lang="en-US" sz="26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endParaRPr lang="en-US" sz="26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600" dirty="0">
                <a:latin typeface="Montserrat" panose="00000500000000000000" pitchFamily="2" charset="0"/>
              </a:rPr>
              <a:t>Setiap </a:t>
            </a:r>
            <a:r>
              <a:rPr lang="en-US" sz="2600" dirty="0" err="1">
                <a:latin typeface="Montserrat" panose="00000500000000000000" pitchFamily="2" charset="0"/>
              </a:rPr>
              <a:t>kolom</a:t>
            </a:r>
            <a:r>
              <a:rPr lang="en-US" sz="2600" dirty="0">
                <a:latin typeface="Montserrat" panose="00000500000000000000" pitchFamily="2" charset="0"/>
              </a:rPr>
              <a:t> data </a:t>
            </a:r>
            <a:r>
              <a:rPr lang="en-US" sz="2600" dirty="0" err="1">
                <a:latin typeface="Montserrat" panose="00000500000000000000" pitchFamily="2" charset="0"/>
              </a:rPr>
              <a:t>akan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dirty="0" err="1">
                <a:latin typeface="Montserrat" panose="00000500000000000000" pitchFamily="2" charset="0"/>
              </a:rPr>
              <a:t>memiliki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dirty="0" err="1">
                <a:latin typeface="Montserrat" panose="00000500000000000000" pitchFamily="2" charset="0"/>
              </a:rPr>
              <a:t>nilai</a:t>
            </a:r>
            <a:r>
              <a:rPr lang="en-US" sz="2600" dirty="0">
                <a:latin typeface="Montserrat" panose="00000500000000000000" pitchFamily="2" charset="0"/>
              </a:rPr>
              <a:t> rata-rata 0.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852C25-0DA8-7230-C179-37198207A7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7188" b="19070"/>
          <a:stretch/>
        </p:blipFill>
        <p:spPr>
          <a:xfrm>
            <a:off x="7016595" y="7998319"/>
            <a:ext cx="4247912" cy="87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79126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3C1FCE-AB8B-6C76-AFD4-A07FB034B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4E2F080-A5A9-2BE1-91DA-78D4BCFB9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36AE201-8304-FFD5-7617-7B5278A79AA5}"/>
              </a:ext>
            </a:extLst>
          </p:cNvPr>
          <p:cNvSpPr txBox="1"/>
          <p:nvPr/>
        </p:nvSpPr>
        <p:spPr>
          <a:xfrm>
            <a:off x="958321" y="685800"/>
            <a:ext cx="16364460" cy="2052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900" b="1" spc="191" dirty="0">
                <a:solidFill>
                  <a:srgbClr val="08377C"/>
                </a:solidFill>
                <a:latin typeface="+mj-lt"/>
                <a:ea typeface="+mj-ea"/>
                <a:cs typeface="+mj-cs"/>
                <a:sym typeface="Montserrat Classic Bold"/>
              </a:rPr>
              <a:t>PCA ALGORITHM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C4A7E7DB-9040-B27A-83F9-C088938B7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75120" y="2776024"/>
            <a:ext cx="4937760" cy="27432"/>
          </a:xfrm>
          <a:custGeom>
            <a:avLst/>
            <a:gdLst>
              <a:gd name="connsiteX0" fmla="*/ 0 w 4937760"/>
              <a:gd name="connsiteY0" fmla="*/ 0 h 27432"/>
              <a:gd name="connsiteX1" fmla="*/ 567842 w 4937760"/>
              <a:gd name="connsiteY1" fmla="*/ 0 h 27432"/>
              <a:gd name="connsiteX2" fmla="*/ 1135685 w 4937760"/>
              <a:gd name="connsiteY2" fmla="*/ 0 h 27432"/>
              <a:gd name="connsiteX3" fmla="*/ 1851660 w 4937760"/>
              <a:gd name="connsiteY3" fmla="*/ 0 h 27432"/>
              <a:gd name="connsiteX4" fmla="*/ 2370125 w 4937760"/>
              <a:gd name="connsiteY4" fmla="*/ 0 h 27432"/>
              <a:gd name="connsiteX5" fmla="*/ 2888590 w 4937760"/>
              <a:gd name="connsiteY5" fmla="*/ 0 h 27432"/>
              <a:gd name="connsiteX6" fmla="*/ 3505810 w 4937760"/>
              <a:gd name="connsiteY6" fmla="*/ 0 h 27432"/>
              <a:gd name="connsiteX7" fmla="*/ 4024274 w 4937760"/>
              <a:gd name="connsiteY7" fmla="*/ 0 h 27432"/>
              <a:gd name="connsiteX8" fmla="*/ 4937760 w 4937760"/>
              <a:gd name="connsiteY8" fmla="*/ 0 h 27432"/>
              <a:gd name="connsiteX9" fmla="*/ 4937760 w 4937760"/>
              <a:gd name="connsiteY9" fmla="*/ 27432 h 27432"/>
              <a:gd name="connsiteX10" fmla="*/ 4419295 w 4937760"/>
              <a:gd name="connsiteY10" fmla="*/ 27432 h 27432"/>
              <a:gd name="connsiteX11" fmla="*/ 3900830 w 4937760"/>
              <a:gd name="connsiteY11" fmla="*/ 27432 h 27432"/>
              <a:gd name="connsiteX12" fmla="*/ 3283610 w 4937760"/>
              <a:gd name="connsiteY12" fmla="*/ 27432 h 27432"/>
              <a:gd name="connsiteX13" fmla="*/ 2765146 w 4937760"/>
              <a:gd name="connsiteY13" fmla="*/ 27432 h 27432"/>
              <a:gd name="connsiteX14" fmla="*/ 2296058 w 4937760"/>
              <a:gd name="connsiteY14" fmla="*/ 27432 h 27432"/>
              <a:gd name="connsiteX15" fmla="*/ 1678838 w 4937760"/>
              <a:gd name="connsiteY15" fmla="*/ 27432 h 27432"/>
              <a:gd name="connsiteX16" fmla="*/ 1061618 w 4937760"/>
              <a:gd name="connsiteY16" fmla="*/ 27432 h 27432"/>
              <a:gd name="connsiteX17" fmla="*/ 0 w 4937760"/>
              <a:gd name="connsiteY17" fmla="*/ 27432 h 27432"/>
              <a:gd name="connsiteX18" fmla="*/ 0 w 4937760"/>
              <a:gd name="connsiteY18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937760" h="27432" fill="none" extrusionOk="0">
                <a:moveTo>
                  <a:pt x="0" y="0"/>
                </a:moveTo>
                <a:cubicBezTo>
                  <a:pt x="151071" y="898"/>
                  <a:pt x="414304" y="10355"/>
                  <a:pt x="567842" y="0"/>
                </a:cubicBezTo>
                <a:cubicBezTo>
                  <a:pt x="721380" y="-10355"/>
                  <a:pt x="913955" y="23592"/>
                  <a:pt x="1135685" y="0"/>
                </a:cubicBezTo>
                <a:cubicBezTo>
                  <a:pt x="1357415" y="-23592"/>
                  <a:pt x="1656179" y="-14359"/>
                  <a:pt x="1851660" y="0"/>
                </a:cubicBezTo>
                <a:cubicBezTo>
                  <a:pt x="2047142" y="14359"/>
                  <a:pt x="2259566" y="-14455"/>
                  <a:pt x="2370125" y="0"/>
                </a:cubicBezTo>
                <a:cubicBezTo>
                  <a:pt x="2480684" y="14455"/>
                  <a:pt x="2753992" y="22579"/>
                  <a:pt x="2888590" y="0"/>
                </a:cubicBezTo>
                <a:cubicBezTo>
                  <a:pt x="3023188" y="-22579"/>
                  <a:pt x="3354327" y="24296"/>
                  <a:pt x="3505810" y="0"/>
                </a:cubicBezTo>
                <a:cubicBezTo>
                  <a:pt x="3657293" y="-24296"/>
                  <a:pt x="3767649" y="3652"/>
                  <a:pt x="4024274" y="0"/>
                </a:cubicBezTo>
                <a:cubicBezTo>
                  <a:pt x="4280899" y="-3652"/>
                  <a:pt x="4541928" y="-14384"/>
                  <a:pt x="4937760" y="0"/>
                </a:cubicBezTo>
                <a:cubicBezTo>
                  <a:pt x="4938470" y="9050"/>
                  <a:pt x="4937122" y="21151"/>
                  <a:pt x="4937760" y="27432"/>
                </a:cubicBezTo>
                <a:cubicBezTo>
                  <a:pt x="4792365" y="10076"/>
                  <a:pt x="4528041" y="17663"/>
                  <a:pt x="4419295" y="27432"/>
                </a:cubicBezTo>
                <a:cubicBezTo>
                  <a:pt x="4310549" y="37201"/>
                  <a:pt x="4126500" y="10618"/>
                  <a:pt x="3900830" y="27432"/>
                </a:cubicBezTo>
                <a:cubicBezTo>
                  <a:pt x="3675160" y="44246"/>
                  <a:pt x="3409924" y="31425"/>
                  <a:pt x="3283610" y="27432"/>
                </a:cubicBezTo>
                <a:cubicBezTo>
                  <a:pt x="3157296" y="23439"/>
                  <a:pt x="3011610" y="15782"/>
                  <a:pt x="2765146" y="27432"/>
                </a:cubicBezTo>
                <a:cubicBezTo>
                  <a:pt x="2518682" y="39082"/>
                  <a:pt x="2505970" y="40710"/>
                  <a:pt x="2296058" y="27432"/>
                </a:cubicBezTo>
                <a:cubicBezTo>
                  <a:pt x="2086146" y="14154"/>
                  <a:pt x="1890404" y="35142"/>
                  <a:pt x="1678838" y="27432"/>
                </a:cubicBezTo>
                <a:cubicBezTo>
                  <a:pt x="1467272" y="19722"/>
                  <a:pt x="1210839" y="46081"/>
                  <a:pt x="1061618" y="27432"/>
                </a:cubicBezTo>
                <a:cubicBezTo>
                  <a:pt x="912397" y="8783"/>
                  <a:pt x="424920" y="11180"/>
                  <a:pt x="0" y="27432"/>
                </a:cubicBezTo>
                <a:cubicBezTo>
                  <a:pt x="-1228" y="21145"/>
                  <a:pt x="-815" y="8816"/>
                  <a:pt x="0" y="0"/>
                </a:cubicBezTo>
                <a:close/>
              </a:path>
              <a:path w="4937760" h="27432" stroke="0" extrusionOk="0">
                <a:moveTo>
                  <a:pt x="0" y="0"/>
                </a:moveTo>
                <a:cubicBezTo>
                  <a:pt x="158580" y="-21299"/>
                  <a:pt x="375366" y="-9205"/>
                  <a:pt x="518465" y="0"/>
                </a:cubicBezTo>
                <a:cubicBezTo>
                  <a:pt x="661564" y="9205"/>
                  <a:pt x="901414" y="-31895"/>
                  <a:pt x="1234440" y="0"/>
                </a:cubicBezTo>
                <a:cubicBezTo>
                  <a:pt x="1567467" y="31895"/>
                  <a:pt x="1525818" y="3722"/>
                  <a:pt x="1703527" y="0"/>
                </a:cubicBezTo>
                <a:cubicBezTo>
                  <a:pt x="1881236" y="-3722"/>
                  <a:pt x="1964350" y="10238"/>
                  <a:pt x="2172614" y="0"/>
                </a:cubicBezTo>
                <a:cubicBezTo>
                  <a:pt x="2380878" y="-10238"/>
                  <a:pt x="2652196" y="-22475"/>
                  <a:pt x="2789834" y="0"/>
                </a:cubicBezTo>
                <a:cubicBezTo>
                  <a:pt x="2927472" y="22475"/>
                  <a:pt x="3160003" y="7911"/>
                  <a:pt x="3357677" y="0"/>
                </a:cubicBezTo>
                <a:cubicBezTo>
                  <a:pt x="3555351" y="-7911"/>
                  <a:pt x="3723575" y="-14515"/>
                  <a:pt x="4024274" y="0"/>
                </a:cubicBezTo>
                <a:cubicBezTo>
                  <a:pt x="4324973" y="14515"/>
                  <a:pt x="4666192" y="-31217"/>
                  <a:pt x="4937760" y="0"/>
                </a:cubicBezTo>
                <a:cubicBezTo>
                  <a:pt x="4937817" y="6776"/>
                  <a:pt x="4936595" y="20935"/>
                  <a:pt x="4937760" y="27432"/>
                </a:cubicBezTo>
                <a:cubicBezTo>
                  <a:pt x="4605662" y="51747"/>
                  <a:pt x="4434779" y="15280"/>
                  <a:pt x="4221785" y="27432"/>
                </a:cubicBezTo>
                <a:cubicBezTo>
                  <a:pt x="4008791" y="39584"/>
                  <a:pt x="3840732" y="43619"/>
                  <a:pt x="3653942" y="27432"/>
                </a:cubicBezTo>
                <a:cubicBezTo>
                  <a:pt x="3467152" y="11245"/>
                  <a:pt x="3368269" y="7352"/>
                  <a:pt x="3086100" y="27432"/>
                </a:cubicBezTo>
                <a:cubicBezTo>
                  <a:pt x="2803931" y="47512"/>
                  <a:pt x="2806928" y="31440"/>
                  <a:pt x="2567635" y="27432"/>
                </a:cubicBezTo>
                <a:cubicBezTo>
                  <a:pt x="2328342" y="23424"/>
                  <a:pt x="2237209" y="34202"/>
                  <a:pt x="1999793" y="27432"/>
                </a:cubicBezTo>
                <a:cubicBezTo>
                  <a:pt x="1762377" y="20662"/>
                  <a:pt x="1753212" y="30829"/>
                  <a:pt x="1530706" y="27432"/>
                </a:cubicBezTo>
                <a:cubicBezTo>
                  <a:pt x="1308200" y="24035"/>
                  <a:pt x="1164917" y="444"/>
                  <a:pt x="962863" y="27432"/>
                </a:cubicBezTo>
                <a:cubicBezTo>
                  <a:pt x="760809" y="54420"/>
                  <a:pt x="232406" y="72726"/>
                  <a:pt x="0" y="27432"/>
                </a:cubicBezTo>
                <a:cubicBezTo>
                  <a:pt x="-234" y="21031"/>
                  <a:pt x="-921" y="632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2D0A78A-00DC-A039-CA47-C6C224EFF343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60601F-1B23-664D-18E3-B15D645A6AC5}"/>
              </a:ext>
            </a:extLst>
          </p:cNvPr>
          <p:cNvSpPr txBox="1"/>
          <p:nvPr/>
        </p:nvSpPr>
        <p:spPr>
          <a:xfrm>
            <a:off x="1277237" y="2933700"/>
            <a:ext cx="16045544" cy="3625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08377C"/>
                </a:solidFill>
                <a:latin typeface="Montserrat" panose="00000500000000000000" pitchFamily="2" charset="0"/>
              </a:rPr>
              <a:t>4</a:t>
            </a:r>
            <a:r>
              <a:rPr lang="en-US" sz="2600" b="1" i="0" dirty="0">
                <a:solidFill>
                  <a:srgbClr val="08377C"/>
                </a:solidFill>
                <a:effectLst/>
                <a:latin typeface="Montserrat" panose="00000500000000000000" pitchFamily="2" charset="0"/>
              </a:rPr>
              <a:t>. Compute Covariance Matrix</a:t>
            </a:r>
          </a:p>
          <a:p>
            <a:pPr>
              <a:lnSpc>
                <a:spcPct val="150000"/>
              </a:lnSpc>
              <a:buNone/>
            </a:pPr>
            <a:r>
              <a:rPr lang="en-US" sz="2600" dirty="0">
                <a:latin typeface="Montserrat" panose="00000500000000000000" pitchFamily="2" charset="0"/>
              </a:rPr>
              <a:t>Hitung </a:t>
            </a:r>
            <a:r>
              <a:rPr lang="en-US" sz="2600" dirty="0" err="1">
                <a:latin typeface="Montserrat" panose="00000500000000000000" pitchFamily="2" charset="0"/>
              </a:rPr>
              <a:t>matriks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dirty="0" err="1">
                <a:latin typeface="Montserrat" panose="00000500000000000000" pitchFamily="2" charset="0"/>
              </a:rPr>
              <a:t>kovarians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i="1" dirty="0">
                <a:latin typeface="Montserrat" panose="00000500000000000000" pitchFamily="2" charset="0"/>
              </a:rPr>
              <a:t>C </a:t>
            </a:r>
            <a:r>
              <a:rPr lang="en-US" sz="2600" dirty="0" err="1">
                <a:latin typeface="Montserrat" panose="00000500000000000000" pitchFamily="2" charset="0"/>
              </a:rPr>
              <a:t>berukuran</a:t>
            </a:r>
            <a:r>
              <a:rPr lang="en-US" sz="2600" dirty="0">
                <a:latin typeface="Montserrat" panose="00000500000000000000" pitchFamily="2" charset="0"/>
              </a:rPr>
              <a:t> n x n.</a:t>
            </a:r>
            <a:endParaRPr lang="en-US" sz="2600" i="1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endParaRPr lang="en-US" sz="26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endParaRPr lang="en-US" sz="26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600" dirty="0">
                <a:latin typeface="Montserrat" panose="00000500000000000000" pitchFamily="2" charset="0"/>
              </a:rPr>
              <a:t>Ini menunjukkan hubungan linear </a:t>
            </a:r>
            <a:r>
              <a:rPr lang="en-US" sz="2600" dirty="0" err="1">
                <a:latin typeface="Montserrat" panose="00000500000000000000" pitchFamily="2" charset="0"/>
              </a:rPr>
              <a:t>antar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dirty="0" err="1">
                <a:latin typeface="Montserrat" panose="00000500000000000000" pitchFamily="2" charset="0"/>
              </a:rPr>
              <a:t>fitur</a:t>
            </a:r>
            <a:r>
              <a:rPr lang="en-US" sz="2600" dirty="0"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B90B00-6870-505A-1101-A544A6B9354B}"/>
              </a:ext>
            </a:extLst>
          </p:cNvPr>
          <p:cNvSpPr txBox="1"/>
          <p:nvPr/>
        </p:nvSpPr>
        <p:spPr>
          <a:xfrm>
            <a:off x="1277237" y="6832956"/>
            <a:ext cx="16045544" cy="242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08377C"/>
                </a:solidFill>
                <a:latin typeface="Montserrat" panose="00000500000000000000" pitchFamily="2" charset="0"/>
              </a:rPr>
              <a:t>5. Calculate Eigenvectors and Eigenvalues</a:t>
            </a:r>
            <a:endParaRPr lang="en-US" sz="2600" b="1" i="0" dirty="0">
              <a:solidFill>
                <a:srgbClr val="08377C"/>
              </a:solidFill>
              <a:effectLst/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600" dirty="0">
                <a:latin typeface="Montserrat" panose="00000500000000000000" pitchFamily="2" charset="0"/>
              </a:rPr>
              <a:t>Hitung </a:t>
            </a:r>
            <a:r>
              <a:rPr lang="en-US" sz="2600" b="1" dirty="0">
                <a:latin typeface="Montserrat" panose="00000500000000000000" pitchFamily="2" charset="0"/>
              </a:rPr>
              <a:t>eigenvalue</a:t>
            </a:r>
            <a:r>
              <a:rPr lang="en-US" sz="2600" dirty="0">
                <a:latin typeface="Montserrat" panose="00000500000000000000" pitchFamily="2" charset="0"/>
              </a:rPr>
              <a:t> dan </a:t>
            </a:r>
            <a:r>
              <a:rPr lang="en-US" sz="2600" b="1" dirty="0">
                <a:latin typeface="Montserrat" panose="00000500000000000000" pitchFamily="2" charset="0"/>
              </a:rPr>
              <a:t>eigenvector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dirty="0" err="1">
                <a:latin typeface="Montserrat" panose="00000500000000000000" pitchFamily="2" charset="0"/>
              </a:rPr>
              <a:t>dari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dirty="0" err="1">
                <a:latin typeface="Montserrat" panose="00000500000000000000" pitchFamily="2" charset="0"/>
              </a:rPr>
              <a:t>matriks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dirty="0" err="1">
                <a:latin typeface="Montserrat" panose="00000500000000000000" pitchFamily="2" charset="0"/>
              </a:rPr>
              <a:t>kovarians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i="1" dirty="0">
                <a:latin typeface="Montserrat" panose="00000500000000000000" pitchFamily="2" charset="0"/>
              </a:rPr>
              <a:t>C</a:t>
            </a:r>
            <a:r>
              <a:rPr lang="en-US" sz="2600" dirty="0">
                <a:latin typeface="Montserrat" panose="00000500000000000000" pitchFamily="2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Montserrat" panose="00000500000000000000" pitchFamily="2" charset="0"/>
              </a:rPr>
              <a:t>Eigenvalue menunjukkan "besar" </a:t>
            </a:r>
            <a:r>
              <a:rPr lang="en-US" sz="2600" dirty="0" err="1">
                <a:latin typeface="Montserrat" panose="00000500000000000000" pitchFamily="2" charset="0"/>
              </a:rPr>
              <a:t>varian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dirty="0" err="1">
                <a:latin typeface="Montserrat" panose="00000500000000000000" pitchFamily="2" charset="0"/>
              </a:rPr>
              <a:t>sepanjang</a:t>
            </a:r>
            <a:r>
              <a:rPr lang="en-US" sz="2600" dirty="0">
                <a:latin typeface="Montserrat" panose="00000500000000000000" pitchFamily="2" charset="0"/>
              </a:rPr>
              <a:t> arah </a:t>
            </a:r>
            <a:r>
              <a:rPr lang="en-US" sz="2600" dirty="0" err="1">
                <a:latin typeface="Montserrat" panose="00000500000000000000" pitchFamily="2" charset="0"/>
              </a:rPr>
              <a:t>vektor</a:t>
            </a:r>
            <a:r>
              <a:rPr lang="en-US" sz="2600" dirty="0">
                <a:latin typeface="Montserrat" panose="00000500000000000000" pitchFamily="2" charset="0"/>
              </a:rPr>
              <a:t> eigen.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Montserrat" panose="00000500000000000000" pitchFamily="2" charset="0"/>
              </a:rPr>
              <a:t>Eigenvector menunjukkan "arah" </a:t>
            </a:r>
            <a:r>
              <a:rPr lang="en-US" sz="2600" dirty="0" err="1">
                <a:latin typeface="Montserrat" panose="00000500000000000000" pitchFamily="2" charset="0"/>
              </a:rPr>
              <a:t>dari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dirty="0" err="1">
                <a:latin typeface="Montserrat" panose="00000500000000000000" pitchFamily="2" charset="0"/>
              </a:rPr>
              <a:t>komponen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dirty="0" err="1">
                <a:latin typeface="Montserrat" panose="00000500000000000000" pitchFamily="2" charset="0"/>
              </a:rPr>
              <a:t>utama</a:t>
            </a:r>
            <a:r>
              <a:rPr lang="en-US" sz="2600" dirty="0">
                <a:latin typeface="Montserrat" panose="00000500000000000000" pitchFamily="2" charset="0"/>
              </a:rPr>
              <a:t> (principal component).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E8E773-6ED3-A7F7-49E3-BD136E2EE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600" y="4343377"/>
            <a:ext cx="5143590" cy="133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353628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8158B-507D-72DF-E1FE-CC802F0A4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FFB429F-E891-0B0C-24B0-398EEA10C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EE54C8D-C651-CD3D-330D-EC1A00DDA27D}"/>
              </a:ext>
            </a:extLst>
          </p:cNvPr>
          <p:cNvSpPr txBox="1"/>
          <p:nvPr/>
        </p:nvSpPr>
        <p:spPr>
          <a:xfrm>
            <a:off x="958321" y="685800"/>
            <a:ext cx="16364460" cy="2052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900" b="1" spc="191" dirty="0">
                <a:solidFill>
                  <a:srgbClr val="08377C"/>
                </a:solidFill>
                <a:latin typeface="+mj-lt"/>
                <a:ea typeface="+mj-ea"/>
                <a:cs typeface="+mj-cs"/>
                <a:sym typeface="Montserrat Classic Bold"/>
              </a:rPr>
              <a:t>PCA ALGORITHM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42DC0164-041B-3AA7-290E-CAF924FAB8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75120" y="2776024"/>
            <a:ext cx="4937760" cy="27432"/>
          </a:xfrm>
          <a:custGeom>
            <a:avLst/>
            <a:gdLst>
              <a:gd name="connsiteX0" fmla="*/ 0 w 4937760"/>
              <a:gd name="connsiteY0" fmla="*/ 0 h 27432"/>
              <a:gd name="connsiteX1" fmla="*/ 567842 w 4937760"/>
              <a:gd name="connsiteY1" fmla="*/ 0 h 27432"/>
              <a:gd name="connsiteX2" fmla="*/ 1135685 w 4937760"/>
              <a:gd name="connsiteY2" fmla="*/ 0 h 27432"/>
              <a:gd name="connsiteX3" fmla="*/ 1851660 w 4937760"/>
              <a:gd name="connsiteY3" fmla="*/ 0 h 27432"/>
              <a:gd name="connsiteX4" fmla="*/ 2370125 w 4937760"/>
              <a:gd name="connsiteY4" fmla="*/ 0 h 27432"/>
              <a:gd name="connsiteX5" fmla="*/ 2888590 w 4937760"/>
              <a:gd name="connsiteY5" fmla="*/ 0 h 27432"/>
              <a:gd name="connsiteX6" fmla="*/ 3505810 w 4937760"/>
              <a:gd name="connsiteY6" fmla="*/ 0 h 27432"/>
              <a:gd name="connsiteX7" fmla="*/ 4024274 w 4937760"/>
              <a:gd name="connsiteY7" fmla="*/ 0 h 27432"/>
              <a:gd name="connsiteX8" fmla="*/ 4937760 w 4937760"/>
              <a:gd name="connsiteY8" fmla="*/ 0 h 27432"/>
              <a:gd name="connsiteX9" fmla="*/ 4937760 w 4937760"/>
              <a:gd name="connsiteY9" fmla="*/ 27432 h 27432"/>
              <a:gd name="connsiteX10" fmla="*/ 4419295 w 4937760"/>
              <a:gd name="connsiteY10" fmla="*/ 27432 h 27432"/>
              <a:gd name="connsiteX11" fmla="*/ 3900830 w 4937760"/>
              <a:gd name="connsiteY11" fmla="*/ 27432 h 27432"/>
              <a:gd name="connsiteX12" fmla="*/ 3283610 w 4937760"/>
              <a:gd name="connsiteY12" fmla="*/ 27432 h 27432"/>
              <a:gd name="connsiteX13" fmla="*/ 2765146 w 4937760"/>
              <a:gd name="connsiteY13" fmla="*/ 27432 h 27432"/>
              <a:gd name="connsiteX14" fmla="*/ 2296058 w 4937760"/>
              <a:gd name="connsiteY14" fmla="*/ 27432 h 27432"/>
              <a:gd name="connsiteX15" fmla="*/ 1678838 w 4937760"/>
              <a:gd name="connsiteY15" fmla="*/ 27432 h 27432"/>
              <a:gd name="connsiteX16" fmla="*/ 1061618 w 4937760"/>
              <a:gd name="connsiteY16" fmla="*/ 27432 h 27432"/>
              <a:gd name="connsiteX17" fmla="*/ 0 w 4937760"/>
              <a:gd name="connsiteY17" fmla="*/ 27432 h 27432"/>
              <a:gd name="connsiteX18" fmla="*/ 0 w 4937760"/>
              <a:gd name="connsiteY18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937760" h="27432" fill="none" extrusionOk="0">
                <a:moveTo>
                  <a:pt x="0" y="0"/>
                </a:moveTo>
                <a:cubicBezTo>
                  <a:pt x="151071" y="898"/>
                  <a:pt x="414304" y="10355"/>
                  <a:pt x="567842" y="0"/>
                </a:cubicBezTo>
                <a:cubicBezTo>
                  <a:pt x="721380" y="-10355"/>
                  <a:pt x="913955" y="23592"/>
                  <a:pt x="1135685" y="0"/>
                </a:cubicBezTo>
                <a:cubicBezTo>
                  <a:pt x="1357415" y="-23592"/>
                  <a:pt x="1656179" y="-14359"/>
                  <a:pt x="1851660" y="0"/>
                </a:cubicBezTo>
                <a:cubicBezTo>
                  <a:pt x="2047142" y="14359"/>
                  <a:pt x="2259566" y="-14455"/>
                  <a:pt x="2370125" y="0"/>
                </a:cubicBezTo>
                <a:cubicBezTo>
                  <a:pt x="2480684" y="14455"/>
                  <a:pt x="2753992" y="22579"/>
                  <a:pt x="2888590" y="0"/>
                </a:cubicBezTo>
                <a:cubicBezTo>
                  <a:pt x="3023188" y="-22579"/>
                  <a:pt x="3354327" y="24296"/>
                  <a:pt x="3505810" y="0"/>
                </a:cubicBezTo>
                <a:cubicBezTo>
                  <a:pt x="3657293" y="-24296"/>
                  <a:pt x="3767649" y="3652"/>
                  <a:pt x="4024274" y="0"/>
                </a:cubicBezTo>
                <a:cubicBezTo>
                  <a:pt x="4280899" y="-3652"/>
                  <a:pt x="4541928" y="-14384"/>
                  <a:pt x="4937760" y="0"/>
                </a:cubicBezTo>
                <a:cubicBezTo>
                  <a:pt x="4938470" y="9050"/>
                  <a:pt x="4937122" y="21151"/>
                  <a:pt x="4937760" y="27432"/>
                </a:cubicBezTo>
                <a:cubicBezTo>
                  <a:pt x="4792365" y="10076"/>
                  <a:pt x="4528041" y="17663"/>
                  <a:pt x="4419295" y="27432"/>
                </a:cubicBezTo>
                <a:cubicBezTo>
                  <a:pt x="4310549" y="37201"/>
                  <a:pt x="4126500" y="10618"/>
                  <a:pt x="3900830" y="27432"/>
                </a:cubicBezTo>
                <a:cubicBezTo>
                  <a:pt x="3675160" y="44246"/>
                  <a:pt x="3409924" y="31425"/>
                  <a:pt x="3283610" y="27432"/>
                </a:cubicBezTo>
                <a:cubicBezTo>
                  <a:pt x="3157296" y="23439"/>
                  <a:pt x="3011610" y="15782"/>
                  <a:pt x="2765146" y="27432"/>
                </a:cubicBezTo>
                <a:cubicBezTo>
                  <a:pt x="2518682" y="39082"/>
                  <a:pt x="2505970" y="40710"/>
                  <a:pt x="2296058" y="27432"/>
                </a:cubicBezTo>
                <a:cubicBezTo>
                  <a:pt x="2086146" y="14154"/>
                  <a:pt x="1890404" y="35142"/>
                  <a:pt x="1678838" y="27432"/>
                </a:cubicBezTo>
                <a:cubicBezTo>
                  <a:pt x="1467272" y="19722"/>
                  <a:pt x="1210839" y="46081"/>
                  <a:pt x="1061618" y="27432"/>
                </a:cubicBezTo>
                <a:cubicBezTo>
                  <a:pt x="912397" y="8783"/>
                  <a:pt x="424920" y="11180"/>
                  <a:pt x="0" y="27432"/>
                </a:cubicBezTo>
                <a:cubicBezTo>
                  <a:pt x="-1228" y="21145"/>
                  <a:pt x="-815" y="8816"/>
                  <a:pt x="0" y="0"/>
                </a:cubicBezTo>
                <a:close/>
              </a:path>
              <a:path w="4937760" h="27432" stroke="0" extrusionOk="0">
                <a:moveTo>
                  <a:pt x="0" y="0"/>
                </a:moveTo>
                <a:cubicBezTo>
                  <a:pt x="158580" y="-21299"/>
                  <a:pt x="375366" y="-9205"/>
                  <a:pt x="518465" y="0"/>
                </a:cubicBezTo>
                <a:cubicBezTo>
                  <a:pt x="661564" y="9205"/>
                  <a:pt x="901414" y="-31895"/>
                  <a:pt x="1234440" y="0"/>
                </a:cubicBezTo>
                <a:cubicBezTo>
                  <a:pt x="1567467" y="31895"/>
                  <a:pt x="1525818" y="3722"/>
                  <a:pt x="1703527" y="0"/>
                </a:cubicBezTo>
                <a:cubicBezTo>
                  <a:pt x="1881236" y="-3722"/>
                  <a:pt x="1964350" y="10238"/>
                  <a:pt x="2172614" y="0"/>
                </a:cubicBezTo>
                <a:cubicBezTo>
                  <a:pt x="2380878" y="-10238"/>
                  <a:pt x="2652196" y="-22475"/>
                  <a:pt x="2789834" y="0"/>
                </a:cubicBezTo>
                <a:cubicBezTo>
                  <a:pt x="2927472" y="22475"/>
                  <a:pt x="3160003" y="7911"/>
                  <a:pt x="3357677" y="0"/>
                </a:cubicBezTo>
                <a:cubicBezTo>
                  <a:pt x="3555351" y="-7911"/>
                  <a:pt x="3723575" y="-14515"/>
                  <a:pt x="4024274" y="0"/>
                </a:cubicBezTo>
                <a:cubicBezTo>
                  <a:pt x="4324973" y="14515"/>
                  <a:pt x="4666192" y="-31217"/>
                  <a:pt x="4937760" y="0"/>
                </a:cubicBezTo>
                <a:cubicBezTo>
                  <a:pt x="4937817" y="6776"/>
                  <a:pt x="4936595" y="20935"/>
                  <a:pt x="4937760" y="27432"/>
                </a:cubicBezTo>
                <a:cubicBezTo>
                  <a:pt x="4605662" y="51747"/>
                  <a:pt x="4434779" y="15280"/>
                  <a:pt x="4221785" y="27432"/>
                </a:cubicBezTo>
                <a:cubicBezTo>
                  <a:pt x="4008791" y="39584"/>
                  <a:pt x="3840732" y="43619"/>
                  <a:pt x="3653942" y="27432"/>
                </a:cubicBezTo>
                <a:cubicBezTo>
                  <a:pt x="3467152" y="11245"/>
                  <a:pt x="3368269" y="7352"/>
                  <a:pt x="3086100" y="27432"/>
                </a:cubicBezTo>
                <a:cubicBezTo>
                  <a:pt x="2803931" y="47512"/>
                  <a:pt x="2806928" y="31440"/>
                  <a:pt x="2567635" y="27432"/>
                </a:cubicBezTo>
                <a:cubicBezTo>
                  <a:pt x="2328342" y="23424"/>
                  <a:pt x="2237209" y="34202"/>
                  <a:pt x="1999793" y="27432"/>
                </a:cubicBezTo>
                <a:cubicBezTo>
                  <a:pt x="1762377" y="20662"/>
                  <a:pt x="1753212" y="30829"/>
                  <a:pt x="1530706" y="27432"/>
                </a:cubicBezTo>
                <a:cubicBezTo>
                  <a:pt x="1308200" y="24035"/>
                  <a:pt x="1164917" y="444"/>
                  <a:pt x="962863" y="27432"/>
                </a:cubicBezTo>
                <a:cubicBezTo>
                  <a:pt x="760809" y="54420"/>
                  <a:pt x="232406" y="72726"/>
                  <a:pt x="0" y="27432"/>
                </a:cubicBezTo>
                <a:cubicBezTo>
                  <a:pt x="-234" y="21031"/>
                  <a:pt x="-921" y="632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8E5EB0F-2F4F-FE26-C3AB-954570DE45BF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3AB0EB-5A05-F739-2A05-752B91584054}"/>
              </a:ext>
            </a:extLst>
          </p:cNvPr>
          <p:cNvSpPr txBox="1"/>
          <p:nvPr/>
        </p:nvSpPr>
        <p:spPr>
          <a:xfrm>
            <a:off x="1277237" y="2933700"/>
            <a:ext cx="16045544" cy="242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08377C"/>
                </a:solidFill>
                <a:latin typeface="Montserrat" panose="00000500000000000000" pitchFamily="2" charset="0"/>
              </a:rPr>
              <a:t>6. Sort Eigenvalues in Decreasing Order</a:t>
            </a:r>
            <a:endParaRPr lang="en-US" sz="2600" b="1" i="0" dirty="0">
              <a:solidFill>
                <a:srgbClr val="08377C"/>
              </a:solidFill>
              <a:effectLst/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600" dirty="0" err="1">
                <a:latin typeface="Montserrat" panose="00000500000000000000" pitchFamily="2" charset="0"/>
              </a:rPr>
              <a:t>Urutkan</a:t>
            </a:r>
            <a:r>
              <a:rPr lang="en-US" sz="2600" dirty="0">
                <a:latin typeface="Montserrat" panose="00000500000000000000" pitchFamily="2" charset="0"/>
              </a:rPr>
              <a:t> eigenvalue </a:t>
            </a:r>
            <a:r>
              <a:rPr lang="en-US" sz="2600" dirty="0" err="1">
                <a:latin typeface="Montserrat" panose="00000500000000000000" pitchFamily="2" charset="0"/>
              </a:rPr>
              <a:t>dari</a:t>
            </a:r>
            <a:r>
              <a:rPr lang="en-US" sz="2600" dirty="0">
                <a:latin typeface="Montserrat" panose="00000500000000000000" pitchFamily="2" charset="0"/>
              </a:rPr>
              <a:t> yang paling besar ke </a:t>
            </a:r>
            <a:r>
              <a:rPr lang="en-US" sz="2600" dirty="0" err="1">
                <a:latin typeface="Montserrat" panose="00000500000000000000" pitchFamily="2" charset="0"/>
              </a:rPr>
              <a:t>kecil</a:t>
            </a:r>
            <a:r>
              <a:rPr lang="en-US" sz="2600" dirty="0">
                <a:latin typeface="Montserrat" panose="00000500000000000000" pitchFamily="2" charset="0"/>
              </a:rPr>
              <a:t>, dan </a:t>
            </a:r>
            <a:r>
              <a:rPr lang="en-US" sz="2600" dirty="0" err="1">
                <a:latin typeface="Montserrat" panose="00000500000000000000" pitchFamily="2" charset="0"/>
              </a:rPr>
              <a:t>sesuaikan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dirty="0" err="1">
                <a:latin typeface="Montserrat" panose="00000500000000000000" pitchFamily="2" charset="0"/>
              </a:rPr>
              <a:t>urutan</a:t>
            </a:r>
            <a:r>
              <a:rPr lang="en-US" sz="2600" dirty="0">
                <a:latin typeface="Montserrat" panose="00000500000000000000" pitchFamily="2" charset="0"/>
              </a:rPr>
              <a:t> eigenvector-</a:t>
            </a:r>
            <a:r>
              <a:rPr lang="en-US" sz="2600" dirty="0" err="1">
                <a:latin typeface="Montserrat" panose="00000500000000000000" pitchFamily="2" charset="0"/>
              </a:rPr>
              <a:t>nya</a:t>
            </a:r>
            <a:r>
              <a:rPr lang="en-US" sz="2600" dirty="0">
                <a:latin typeface="Montserrat" panose="00000500000000000000" pitchFamily="2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Montserrat" panose="00000500000000000000" pitchFamily="2" charset="0"/>
              </a:rPr>
              <a:t>Eigenvector dengan eigenvalue </a:t>
            </a:r>
            <a:r>
              <a:rPr lang="en-US" sz="2600" dirty="0" err="1">
                <a:latin typeface="Montserrat" panose="00000500000000000000" pitchFamily="2" charset="0"/>
              </a:rPr>
              <a:t>terbesar</a:t>
            </a:r>
            <a:r>
              <a:rPr lang="en-US" sz="2600" dirty="0">
                <a:latin typeface="Montserrat" panose="00000500000000000000" pitchFamily="2" charset="0"/>
              </a:rPr>
              <a:t> adalah </a:t>
            </a:r>
            <a:r>
              <a:rPr lang="en-US" sz="2600" dirty="0" err="1">
                <a:latin typeface="Montserrat" panose="00000500000000000000" pitchFamily="2" charset="0"/>
              </a:rPr>
              <a:t>komponen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dirty="0" err="1">
                <a:latin typeface="Montserrat" panose="00000500000000000000" pitchFamily="2" charset="0"/>
              </a:rPr>
              <a:t>utama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dirty="0" err="1">
                <a:latin typeface="Montserrat" panose="00000500000000000000" pitchFamily="2" charset="0"/>
              </a:rPr>
              <a:t>pertama</a:t>
            </a:r>
            <a:r>
              <a:rPr lang="en-US" sz="2600" dirty="0">
                <a:latin typeface="Montserrat" panose="00000500000000000000" pitchFamily="2" charset="0"/>
              </a:rPr>
              <a:t> (PC1), dan </a:t>
            </a:r>
            <a:r>
              <a:rPr lang="en-US" sz="2600" dirty="0" err="1">
                <a:latin typeface="Montserrat" panose="00000500000000000000" pitchFamily="2" charset="0"/>
              </a:rPr>
              <a:t>seterusnya</a:t>
            </a:r>
            <a:r>
              <a:rPr lang="en-US" sz="2600" dirty="0"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2DE2B1-4B96-2922-5422-90C12E47EFF5}"/>
              </a:ext>
            </a:extLst>
          </p:cNvPr>
          <p:cNvSpPr txBox="1"/>
          <p:nvPr/>
        </p:nvSpPr>
        <p:spPr>
          <a:xfrm>
            <a:off x="1217970" y="5554023"/>
            <a:ext cx="16045544" cy="182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08377C"/>
                </a:solidFill>
                <a:latin typeface="Montserrat" panose="00000500000000000000" pitchFamily="2" charset="0"/>
              </a:rPr>
              <a:t>7. Compute Score Matrix</a:t>
            </a:r>
            <a:endParaRPr lang="en-US" sz="2600" b="1" i="0" dirty="0">
              <a:solidFill>
                <a:srgbClr val="08377C"/>
              </a:solidFill>
              <a:effectLst/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600" dirty="0" err="1">
                <a:latin typeface="Montserrat" panose="00000500000000000000" pitchFamily="2" charset="0"/>
              </a:rPr>
              <a:t>Gabungkan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i="1" dirty="0">
                <a:latin typeface="Montserrat" panose="00000500000000000000" pitchFamily="2" charset="0"/>
              </a:rPr>
              <a:t>k</a:t>
            </a:r>
            <a:r>
              <a:rPr lang="en-US" sz="2600" dirty="0">
                <a:latin typeface="Montserrat" panose="00000500000000000000" pitchFamily="2" charset="0"/>
              </a:rPr>
              <a:t> eigenvector </a:t>
            </a:r>
            <a:r>
              <a:rPr lang="en-US" sz="2600" dirty="0" err="1">
                <a:latin typeface="Montserrat" panose="00000500000000000000" pitchFamily="2" charset="0"/>
              </a:rPr>
              <a:t>teratas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dirty="0" err="1">
                <a:latin typeface="Montserrat" panose="00000500000000000000" pitchFamily="2" charset="0"/>
              </a:rPr>
              <a:t>menjadi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dirty="0" err="1">
                <a:latin typeface="Montserrat" panose="00000500000000000000" pitchFamily="2" charset="0"/>
              </a:rPr>
              <a:t>matriks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i="1" dirty="0">
                <a:latin typeface="Montserrat" panose="00000500000000000000" pitchFamily="2" charset="0"/>
              </a:rPr>
              <a:t>W </a:t>
            </a:r>
            <a:r>
              <a:rPr lang="en-US" sz="2600" dirty="0" err="1">
                <a:latin typeface="Montserrat" panose="00000500000000000000" pitchFamily="2" charset="0"/>
              </a:rPr>
              <a:t>berukuran</a:t>
            </a:r>
            <a:r>
              <a:rPr lang="en-US" sz="2600" dirty="0">
                <a:latin typeface="Montserrat" panose="00000500000000000000" pitchFamily="2" charset="0"/>
              </a:rPr>
              <a:t> n x k (dengan k &lt; n).</a:t>
            </a:r>
            <a:br>
              <a:rPr lang="en-US" sz="2600" dirty="0">
                <a:latin typeface="Montserrat" panose="00000500000000000000" pitchFamily="2" charset="0"/>
              </a:rPr>
            </a:br>
            <a:r>
              <a:rPr lang="en-US" sz="2600" dirty="0">
                <a:latin typeface="Montserrat" panose="00000500000000000000" pitchFamily="2" charset="0"/>
              </a:rPr>
              <a:t>Hitung </a:t>
            </a:r>
            <a:r>
              <a:rPr lang="en-US" sz="2600" b="1" dirty="0">
                <a:latin typeface="Montserrat" panose="00000500000000000000" pitchFamily="2" charset="0"/>
              </a:rPr>
              <a:t>score matrix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dirty="0" err="1">
                <a:latin typeface="Montserrat" panose="00000500000000000000" pitchFamily="2" charset="0"/>
              </a:rPr>
              <a:t>atau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b="1" dirty="0">
                <a:latin typeface="Montserrat" panose="00000500000000000000" pitchFamily="2" charset="0"/>
              </a:rPr>
              <a:t>principal component scores</a:t>
            </a:r>
            <a:r>
              <a:rPr lang="en-US" sz="2600" dirty="0">
                <a:latin typeface="Montserrat" panose="00000500000000000000" pitchFamily="2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F662AE-90F7-68D7-C3FE-D11825278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6889556"/>
            <a:ext cx="3962037" cy="9334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FB0DA9-A35B-54FF-2EA0-B716524D8DDC}"/>
              </a:ext>
            </a:extLst>
          </p:cNvPr>
          <p:cNvSpPr txBox="1"/>
          <p:nvPr/>
        </p:nvSpPr>
        <p:spPr>
          <a:xfrm>
            <a:off x="1251837" y="7823021"/>
            <a:ext cx="16045544" cy="1897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ct val="150000"/>
              </a:lnSpc>
              <a:buNone/>
            </a:pPr>
            <a:r>
              <a:rPr lang="en-US" sz="2600" b="1" i="0" dirty="0">
                <a:solidFill>
                  <a:srgbClr val="08377C"/>
                </a:solidFill>
                <a:effectLst/>
                <a:latin typeface="Montserrat" panose="00000500000000000000" pitchFamily="2" charset="0"/>
              </a:rPr>
              <a:t>8. </a:t>
            </a:r>
            <a:r>
              <a:rPr lang="en-US" sz="2600" b="1" dirty="0">
                <a:solidFill>
                  <a:srgbClr val="08377C"/>
                </a:solidFill>
                <a:latin typeface="Montserrat" panose="00000500000000000000" pitchFamily="2" charset="0"/>
              </a:rPr>
              <a:t>Transformed Data Matrix</a:t>
            </a:r>
            <a:endParaRPr lang="en-US" sz="2600" b="1" i="0" dirty="0">
              <a:solidFill>
                <a:srgbClr val="08377C"/>
              </a:solidFill>
              <a:effectLst/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600" dirty="0">
                <a:latin typeface="Montserrat" panose="00000500000000000000" pitchFamily="2" charset="0"/>
              </a:rPr>
              <a:t>Matrix </a:t>
            </a:r>
            <a:r>
              <a:rPr lang="en-US" sz="2600" i="1" dirty="0">
                <a:latin typeface="Montserrat" panose="00000500000000000000" pitchFamily="2" charset="0"/>
              </a:rPr>
              <a:t>Z </a:t>
            </a:r>
            <a:r>
              <a:rPr lang="en-US" sz="2600" dirty="0">
                <a:latin typeface="Montserrat" panose="00000500000000000000" pitchFamily="2" charset="0"/>
              </a:rPr>
              <a:t>adalah matrix yang sudah di </a:t>
            </a:r>
            <a:r>
              <a:rPr lang="en-US" sz="2600" dirty="0" err="1">
                <a:latin typeface="Montserrat" panose="00000500000000000000" pitchFamily="2" charset="0"/>
              </a:rPr>
              <a:t>reduksi</a:t>
            </a:r>
            <a:r>
              <a:rPr lang="en-US" sz="2600" dirty="0">
                <a:latin typeface="Montserrat" panose="00000500000000000000" pitchFamily="2" charset="0"/>
              </a:rPr>
              <a:t> </a:t>
            </a:r>
            <a:r>
              <a:rPr lang="en-US" sz="2600" dirty="0" err="1">
                <a:latin typeface="Montserrat" panose="00000500000000000000" pitchFamily="2" charset="0"/>
              </a:rPr>
              <a:t>dimensinya</a:t>
            </a:r>
            <a:r>
              <a:rPr lang="en-US" sz="2600" dirty="0">
                <a:latin typeface="Montserrat" panose="00000500000000000000" pitchFamily="2" charset="0"/>
              </a:rPr>
              <a:t>.</a:t>
            </a:r>
          </a:p>
          <a:p>
            <a:pPr algn="ctr">
              <a:lnSpc>
                <a:spcPct val="300000"/>
              </a:lnSpc>
              <a:buNone/>
            </a:pPr>
            <a:r>
              <a:rPr lang="en-US" sz="1600" b="1" dirty="0">
                <a:highlight>
                  <a:srgbClr val="FFFF00"/>
                </a:highlight>
                <a:latin typeface="Montserrat" panose="00000500000000000000" pitchFamily="2" charset="0"/>
              </a:rPr>
              <a:t>Untuk </a:t>
            </a:r>
            <a:r>
              <a:rPr lang="en-US" sz="1600" b="1" dirty="0" err="1">
                <a:highlight>
                  <a:srgbClr val="FFFF00"/>
                </a:highlight>
                <a:latin typeface="Montserrat" panose="00000500000000000000" pitchFamily="2" charset="0"/>
              </a:rPr>
              <a:t>baca</a:t>
            </a:r>
            <a:r>
              <a:rPr lang="en-US" sz="1600" b="1" dirty="0">
                <a:highlight>
                  <a:srgbClr val="FFFF00"/>
                </a:highlight>
                <a:latin typeface="Montserrat" panose="00000500000000000000" pitchFamily="2" charset="0"/>
              </a:rPr>
              <a:t> </a:t>
            </a:r>
            <a:r>
              <a:rPr lang="en-US" sz="1600" b="1" dirty="0" err="1">
                <a:highlight>
                  <a:srgbClr val="FFFF00"/>
                </a:highlight>
                <a:latin typeface="Montserrat" panose="00000500000000000000" pitchFamily="2" charset="0"/>
              </a:rPr>
              <a:t>lebih</a:t>
            </a:r>
            <a:r>
              <a:rPr lang="en-US" sz="1600" b="1" dirty="0">
                <a:highlight>
                  <a:srgbClr val="FFFF00"/>
                </a:highlight>
                <a:latin typeface="Montserrat" panose="00000500000000000000" pitchFamily="2" charset="0"/>
              </a:rPr>
              <a:t> lanjut tentang </a:t>
            </a:r>
            <a:r>
              <a:rPr lang="en-US" sz="1600" b="1" dirty="0" err="1">
                <a:highlight>
                  <a:srgbClr val="FFFF00"/>
                </a:highlight>
                <a:latin typeface="Montserrat" panose="00000500000000000000" pitchFamily="2" charset="0"/>
              </a:rPr>
              <a:t>cara</a:t>
            </a:r>
            <a:r>
              <a:rPr lang="en-US" sz="1600" b="1" dirty="0">
                <a:highlight>
                  <a:srgbClr val="FFFF00"/>
                </a:highlight>
                <a:latin typeface="Montserrat" panose="00000500000000000000" pitchFamily="2" charset="0"/>
              </a:rPr>
              <a:t> kerja PCA: </a:t>
            </a:r>
            <a:r>
              <a:rPr lang="en-US" sz="1600" i="1" dirty="0">
                <a:highlight>
                  <a:srgbClr val="FFFF00"/>
                </a:highlight>
                <a:latin typeface="Montserrat" panose="00000500000000000000" pitchFamily="2" charset="0"/>
              </a:rPr>
              <a:t>https://tyangluhtu.wordpress.com/2013/04/19/langkah-umum-principal-component-analysis/ </a:t>
            </a:r>
          </a:p>
        </p:txBody>
      </p:sp>
    </p:spTree>
    <p:extLst>
      <p:ext uri="{BB962C8B-B14F-4D97-AF65-F5344CB8AC3E}">
        <p14:creationId xmlns:p14="http://schemas.microsoft.com/office/powerpoint/2010/main" val="1932537799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6A9E0D-FCDB-DBCB-19F2-FA720C79D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DF1DB69-CABE-242A-5C4D-BB1E76F00D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F6DC33BF-21B0-99A0-E2B2-B3D0800B1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10287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50B025B1-B451-C8EC-DE72-0A5BA4C0E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28055" cy="10287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DF82968-7C4F-5C1B-AABB-A5E5D14F0991}"/>
              </a:ext>
            </a:extLst>
          </p:cNvPr>
          <p:cNvSpPr txBox="1"/>
          <p:nvPr/>
        </p:nvSpPr>
        <p:spPr>
          <a:xfrm>
            <a:off x="658369" y="1289304"/>
            <a:ext cx="7249203" cy="1755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b="1" spc="191" dirty="0">
                <a:latin typeface="Montserrat" panose="00000500000000000000" pitchFamily="2" charset="0"/>
                <a:ea typeface="+mj-ea"/>
                <a:cs typeface="+mj-cs"/>
                <a:sym typeface="Montserrat Classic Bold"/>
              </a:rPr>
              <a:t>PCA Use Case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08F15EF-7285-2FD2-F997-6BA04F1BC2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54854" y="545084"/>
            <a:ext cx="109728" cy="822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5CC10A5-ECF8-91DE-DBDF-554BB68F9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8238" y="3277593"/>
            <a:ext cx="740664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91676B-18CE-C4A3-4ABF-CE3CE8191723}"/>
              </a:ext>
            </a:extLst>
          </p:cNvPr>
          <p:cNvSpPr txBox="1"/>
          <p:nvPr/>
        </p:nvSpPr>
        <p:spPr>
          <a:xfrm>
            <a:off x="658368" y="3768916"/>
            <a:ext cx="8028432" cy="5496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14350" indent="-228600" fontAlgn="base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700" dirty="0" err="1">
                <a:latin typeface="Montserrat" panose="00000500000000000000" pitchFamily="2" charset="0"/>
              </a:rPr>
              <a:t>Visualisasi</a:t>
            </a:r>
            <a:r>
              <a:rPr lang="en-US" sz="2700" dirty="0">
                <a:latin typeface="Montserrat" panose="00000500000000000000" pitchFamily="2" charset="0"/>
              </a:rPr>
              <a:t> data </a:t>
            </a:r>
            <a:r>
              <a:rPr lang="en-US" sz="2700" dirty="0" err="1">
                <a:latin typeface="Montserrat" panose="00000500000000000000" pitchFamily="2" charset="0"/>
              </a:rPr>
              <a:t>berdimensi</a:t>
            </a:r>
            <a:r>
              <a:rPr lang="en-US" sz="2700" dirty="0">
                <a:latin typeface="Montserrat" panose="00000500000000000000" pitchFamily="2" charset="0"/>
              </a:rPr>
              <a:t> </a:t>
            </a:r>
            <a:r>
              <a:rPr lang="en-US" sz="2700" dirty="0" err="1">
                <a:latin typeface="Montserrat" panose="00000500000000000000" pitchFamily="2" charset="0"/>
              </a:rPr>
              <a:t>tinggi</a:t>
            </a:r>
            <a:r>
              <a:rPr lang="en-US" sz="2700" dirty="0">
                <a:latin typeface="Montserrat" panose="00000500000000000000" pitchFamily="2" charset="0"/>
              </a:rPr>
              <a:t> </a:t>
            </a:r>
            <a:r>
              <a:rPr lang="en-US" sz="2700" dirty="0" err="1">
                <a:latin typeface="Montserrat" panose="00000500000000000000" pitchFamily="2" charset="0"/>
              </a:rPr>
              <a:t>menjadi</a:t>
            </a:r>
            <a:r>
              <a:rPr lang="en-US" sz="2700" dirty="0">
                <a:latin typeface="Montserrat" panose="00000500000000000000" pitchFamily="2" charset="0"/>
              </a:rPr>
              <a:t> dua </a:t>
            </a:r>
            <a:r>
              <a:rPr lang="en-US" sz="2700" dirty="0" err="1">
                <a:latin typeface="Montserrat" panose="00000500000000000000" pitchFamily="2" charset="0"/>
              </a:rPr>
              <a:t>atau</a:t>
            </a:r>
            <a:r>
              <a:rPr lang="en-US" sz="2700" dirty="0">
                <a:latin typeface="Montserrat" panose="00000500000000000000" pitchFamily="2" charset="0"/>
              </a:rPr>
              <a:t> </a:t>
            </a:r>
            <a:r>
              <a:rPr lang="en-US" sz="2700" dirty="0" err="1">
                <a:latin typeface="Montserrat" panose="00000500000000000000" pitchFamily="2" charset="0"/>
              </a:rPr>
              <a:t>tiga</a:t>
            </a:r>
            <a:r>
              <a:rPr lang="en-US" sz="2700" dirty="0">
                <a:latin typeface="Montserrat" panose="00000500000000000000" pitchFamily="2" charset="0"/>
              </a:rPr>
              <a:t> </a:t>
            </a:r>
            <a:r>
              <a:rPr lang="en-US" sz="2700" dirty="0" err="1">
                <a:latin typeface="Montserrat" panose="00000500000000000000" pitchFamily="2" charset="0"/>
              </a:rPr>
              <a:t>dimensi</a:t>
            </a:r>
            <a:endParaRPr lang="en-US" sz="2700" dirty="0">
              <a:latin typeface="Montserrat" panose="00000500000000000000" pitchFamily="2" charset="0"/>
            </a:endParaRPr>
          </a:p>
          <a:p>
            <a:pPr marL="285750" fontAlgn="base">
              <a:lnSpc>
                <a:spcPct val="150000"/>
              </a:lnSpc>
              <a:spcAft>
                <a:spcPts val="600"/>
              </a:spcAft>
            </a:pPr>
            <a:endParaRPr lang="en-US" sz="27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highlight>
                  <a:srgbClr val="FFFF00"/>
                </a:highlight>
                <a:latin typeface="Montserrat" panose="00000500000000000000" pitchFamily="2" charset="0"/>
              </a:rPr>
              <a:t>Masalah</a:t>
            </a:r>
            <a:r>
              <a:rPr lang="en-US" sz="2400" dirty="0">
                <a:highlight>
                  <a:srgbClr val="FFFF00"/>
                </a:highlight>
                <a:latin typeface="Montserrat" panose="00000500000000000000" pitchFamily="2" charset="0"/>
              </a:rPr>
              <a:t>: </a:t>
            </a:r>
            <a:r>
              <a:rPr lang="en-US" sz="2400" dirty="0">
                <a:latin typeface="Montserrat" panose="00000500000000000000" pitchFamily="2" charset="0"/>
              </a:rPr>
              <a:t>Kalau </a:t>
            </a:r>
            <a:r>
              <a:rPr lang="en-US" sz="2400" dirty="0" err="1">
                <a:latin typeface="Montserrat" panose="00000500000000000000" pitchFamily="2" charset="0"/>
              </a:rPr>
              <a:t>datamu</a:t>
            </a:r>
            <a:r>
              <a:rPr lang="en-US" sz="2400" dirty="0">
                <a:latin typeface="Montserrat" panose="00000500000000000000" pitchFamily="2" charset="0"/>
              </a:rPr>
              <a:t> punya 10, 50, </a:t>
            </a:r>
            <a:r>
              <a:rPr lang="en-US" sz="2400" dirty="0" err="1">
                <a:latin typeface="Montserrat" panose="00000500000000000000" pitchFamily="2" charset="0"/>
              </a:rPr>
              <a:t>atau</a:t>
            </a:r>
            <a:r>
              <a:rPr lang="en-US" sz="2400" dirty="0">
                <a:latin typeface="Montserrat" panose="00000500000000000000" pitchFamily="2" charset="0"/>
              </a:rPr>
              <a:t> 100 </a:t>
            </a:r>
            <a:r>
              <a:rPr lang="en-US" sz="2400" dirty="0" err="1">
                <a:latin typeface="Montserrat" panose="00000500000000000000" pitchFamily="2" charset="0"/>
              </a:rPr>
              <a:t>fitur</a:t>
            </a:r>
            <a:r>
              <a:rPr lang="en-US" sz="2400" dirty="0">
                <a:latin typeface="Montserrat" panose="00000500000000000000" pitchFamily="2" charset="0"/>
              </a:rPr>
              <a:t>, kamu </a:t>
            </a:r>
            <a:r>
              <a:rPr lang="en-US" sz="2400" b="1" dirty="0" err="1">
                <a:latin typeface="Montserrat" panose="00000500000000000000" pitchFamily="2" charset="0"/>
              </a:rPr>
              <a:t>nggak</a:t>
            </a:r>
            <a:r>
              <a:rPr lang="en-US" sz="2400" b="1" dirty="0">
                <a:latin typeface="Montserrat" panose="00000500000000000000" pitchFamily="2" charset="0"/>
              </a:rPr>
              <a:t> </a:t>
            </a:r>
            <a:r>
              <a:rPr lang="en-US" sz="2400" b="1" dirty="0" err="1">
                <a:latin typeface="Montserrat" panose="00000500000000000000" pitchFamily="2" charset="0"/>
              </a:rPr>
              <a:t>bisa</a:t>
            </a:r>
            <a:r>
              <a:rPr lang="en-US" sz="2400" b="1" dirty="0">
                <a:latin typeface="Montserrat" panose="00000500000000000000" pitchFamily="2" charset="0"/>
              </a:rPr>
              <a:t> </a:t>
            </a:r>
            <a:r>
              <a:rPr lang="en-US" sz="2400" b="1" dirty="0" err="1">
                <a:latin typeface="Montserrat" panose="00000500000000000000" pitchFamily="2" charset="0"/>
              </a:rPr>
              <a:t>lihat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polanya</a:t>
            </a:r>
            <a:r>
              <a:rPr lang="en-US" sz="2400" dirty="0">
                <a:latin typeface="Montserrat" panose="00000500000000000000" pitchFamily="2" charset="0"/>
              </a:rPr>
              <a:t> langsung.</a:t>
            </a:r>
            <a:br>
              <a:rPr lang="en-US" sz="2400" dirty="0">
                <a:latin typeface="Montserrat" panose="00000500000000000000" pitchFamily="2" charset="0"/>
              </a:rPr>
            </a:br>
            <a:r>
              <a:rPr lang="en-US" sz="2400" b="1" dirty="0">
                <a:highlight>
                  <a:srgbClr val="FFFF00"/>
                </a:highlight>
                <a:latin typeface="Montserrat" panose="00000500000000000000" pitchFamily="2" charset="0"/>
              </a:rPr>
              <a:t>Solusi dengan PCA</a:t>
            </a:r>
            <a:r>
              <a:rPr lang="en-US" sz="2400" dirty="0">
                <a:highlight>
                  <a:srgbClr val="FFFF00"/>
                </a:highlight>
                <a:latin typeface="Montserrat" panose="00000500000000000000" pitchFamily="2" charset="0"/>
              </a:rPr>
              <a:t>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PCA </a:t>
            </a:r>
            <a:r>
              <a:rPr lang="en-US" sz="2400" dirty="0" err="1">
                <a:latin typeface="Montserrat" panose="00000500000000000000" pitchFamily="2" charset="0"/>
              </a:rPr>
              <a:t>bisa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mereduksi</a:t>
            </a:r>
            <a:r>
              <a:rPr lang="en-US" sz="2400" dirty="0">
                <a:latin typeface="Montserrat" panose="00000500000000000000" pitchFamily="2" charset="0"/>
              </a:rPr>
              <a:t> data </a:t>
            </a:r>
            <a:r>
              <a:rPr lang="en-US" sz="2400" dirty="0" err="1">
                <a:latin typeface="Montserrat" panose="00000500000000000000" pitchFamily="2" charset="0"/>
              </a:rPr>
              <a:t>jadi</a:t>
            </a:r>
            <a:r>
              <a:rPr lang="en-US" sz="2400" dirty="0">
                <a:latin typeface="Montserrat" panose="00000500000000000000" pitchFamily="2" charset="0"/>
              </a:rPr>
              <a:t> 2D </a:t>
            </a:r>
            <a:r>
              <a:rPr lang="en-US" sz="2400" dirty="0" err="1">
                <a:latin typeface="Montserrat" panose="00000500000000000000" pitchFamily="2" charset="0"/>
              </a:rPr>
              <a:t>atau</a:t>
            </a:r>
            <a:r>
              <a:rPr lang="en-US" sz="2400" dirty="0">
                <a:latin typeface="Montserrat" panose="00000500000000000000" pitchFamily="2" charset="0"/>
              </a:rPr>
              <a:t> 3D → </a:t>
            </a:r>
            <a:r>
              <a:rPr lang="en-US" sz="2400" dirty="0" err="1">
                <a:latin typeface="Montserrat" panose="00000500000000000000" pitchFamily="2" charset="0"/>
              </a:rPr>
              <a:t>lalu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b="1" dirty="0">
                <a:latin typeface="Montserrat" panose="00000500000000000000" pitchFamily="2" charset="0"/>
              </a:rPr>
              <a:t>plot dalam </a:t>
            </a:r>
            <a:r>
              <a:rPr lang="en-US" sz="2400" b="1" dirty="0" err="1">
                <a:latin typeface="Montserrat" panose="00000500000000000000" pitchFamily="2" charset="0"/>
              </a:rPr>
              <a:t>grafik</a:t>
            </a:r>
            <a:r>
              <a:rPr lang="en-US" sz="2400" dirty="0">
                <a:latin typeface="Montserrat" panose="00000500000000000000" pitchFamily="2" charset="0"/>
              </a:rPr>
              <a:t> (scatter plot).</a:t>
            </a:r>
          </a:p>
        </p:txBody>
      </p:sp>
      <p:pic>
        <p:nvPicPr>
          <p:cNvPr id="6" name="Google Shape;180;g25d1a60db1d_0_1">
            <a:extLst>
              <a:ext uri="{FF2B5EF4-FFF2-40B4-BE49-F238E27FC236}">
                <a16:creationId xmlns:a16="http://schemas.microsoft.com/office/drawing/2014/main" id="{C9550D04-1A1E-275D-AD90-D63AABF55C4A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930384" y="906702"/>
            <a:ext cx="7708392" cy="3854196"/>
          </a:xfrm>
          <a:prstGeom prst="rect">
            <a:avLst/>
          </a:prstGeom>
          <a:noFill/>
        </p:spPr>
      </p:pic>
      <p:pic>
        <p:nvPicPr>
          <p:cNvPr id="2" name="Google Shape;173;g293f49e2aa1_0_26">
            <a:extLst>
              <a:ext uri="{FF2B5EF4-FFF2-40B4-BE49-F238E27FC236}">
                <a16:creationId xmlns:a16="http://schemas.microsoft.com/office/drawing/2014/main" id="{0C8D120F-080C-FF24-A469-DCF58AC7AC1C}"/>
              </a:ext>
            </a:extLst>
          </p:cNvPr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9930384" y="5312344"/>
            <a:ext cx="7708392" cy="3777112"/>
          </a:xfrm>
          <a:prstGeom prst="rect">
            <a:avLst/>
          </a:prstGeom>
          <a:noFill/>
        </p:spPr>
      </p:pic>
      <p:sp>
        <p:nvSpPr>
          <p:cNvPr id="5" name="Freeform 5">
            <a:extLst>
              <a:ext uri="{FF2B5EF4-FFF2-40B4-BE49-F238E27FC236}">
                <a16:creationId xmlns:a16="http://schemas.microsoft.com/office/drawing/2014/main" id="{D0AB9E20-8FC2-1264-10C6-61F894435217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6720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68A183-339D-0782-4C7B-2B260898A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15719BB-48A7-4AF4-BB91-DC82E0DF7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10973A55-5440-4A99-B526-B5812E462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10287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A9682493-588A-4D52-98F6-FBBD80C07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28055" cy="10287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72D8F51-4D70-D775-C244-D1ED98D7D53A}"/>
              </a:ext>
            </a:extLst>
          </p:cNvPr>
          <p:cNvSpPr txBox="1"/>
          <p:nvPr/>
        </p:nvSpPr>
        <p:spPr>
          <a:xfrm>
            <a:off x="658369" y="1289304"/>
            <a:ext cx="7249203" cy="1755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b="1" spc="191" dirty="0">
                <a:latin typeface="Montserrat" panose="00000500000000000000" pitchFamily="2" charset="0"/>
                <a:ea typeface="+mj-ea"/>
                <a:cs typeface="+mj-cs"/>
                <a:sym typeface="Montserrat Classic Bold"/>
              </a:rPr>
              <a:t>PCA Use Case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EC5A7A-ADE4-48D9-B89C-2BA1C9110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54854" y="545084"/>
            <a:ext cx="109728" cy="822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8238" y="3277593"/>
            <a:ext cx="740664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A739B3-3C55-0361-713A-C32C9D14BC86}"/>
              </a:ext>
            </a:extLst>
          </p:cNvPr>
          <p:cNvSpPr txBox="1"/>
          <p:nvPr/>
        </p:nvSpPr>
        <p:spPr>
          <a:xfrm>
            <a:off x="658367" y="3768916"/>
            <a:ext cx="8469687" cy="5496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14350" indent="-228600" fontAlgn="base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Montserrat" panose="00000500000000000000" pitchFamily="2" charset="0"/>
              </a:rPr>
              <a:t>Mengurangi</a:t>
            </a:r>
            <a:r>
              <a:rPr lang="en-US" sz="2400" dirty="0">
                <a:latin typeface="Montserrat" panose="00000500000000000000" pitchFamily="2" charset="0"/>
              </a:rPr>
              <a:t> noise</a:t>
            </a:r>
          </a:p>
          <a:p>
            <a:pPr marL="514350" indent="-228600" fontAlgn="base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highlight>
                  <a:srgbClr val="FFFF00"/>
                </a:highlight>
                <a:latin typeface="Montserrat" panose="00000500000000000000" pitchFamily="2" charset="0"/>
              </a:rPr>
              <a:t>Masalah</a:t>
            </a:r>
            <a:r>
              <a:rPr lang="en-US" sz="2400" dirty="0">
                <a:highlight>
                  <a:srgbClr val="FFFF00"/>
                </a:highlight>
                <a:latin typeface="Montserrat" panose="00000500000000000000" pitchFamily="2" charset="0"/>
              </a:rPr>
              <a:t>: </a:t>
            </a:r>
            <a:r>
              <a:rPr lang="en-US" sz="2400" dirty="0">
                <a:latin typeface="Montserrat" panose="00000500000000000000" pitchFamily="2" charset="0"/>
              </a:rPr>
              <a:t>Beberapa </a:t>
            </a:r>
            <a:r>
              <a:rPr lang="en-US" sz="2400" dirty="0" err="1">
                <a:latin typeface="Montserrat" panose="00000500000000000000" pitchFamily="2" charset="0"/>
              </a:rPr>
              <a:t>fitur</a:t>
            </a:r>
            <a:r>
              <a:rPr lang="en-US" sz="2400" dirty="0">
                <a:latin typeface="Montserrat" panose="00000500000000000000" pitchFamily="2" charset="0"/>
              </a:rPr>
              <a:t> dalam data mungkin </a:t>
            </a:r>
            <a:r>
              <a:rPr lang="en-US" sz="2400" dirty="0" err="1">
                <a:latin typeface="Montserrat" panose="00000500000000000000" pitchFamily="2" charset="0"/>
              </a:rPr>
              <a:t>berisi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b="1" dirty="0">
                <a:latin typeface="Montserrat" panose="00000500000000000000" pitchFamily="2" charset="0"/>
              </a:rPr>
              <a:t>noise</a:t>
            </a:r>
            <a:r>
              <a:rPr lang="en-US" sz="2400" dirty="0">
                <a:latin typeface="Montserrat" panose="00000500000000000000" pitchFamily="2" charset="0"/>
              </a:rPr>
              <a:t> (informasi </a:t>
            </a:r>
            <a:r>
              <a:rPr lang="en-US" sz="2400" dirty="0" err="1">
                <a:latin typeface="Montserrat" panose="00000500000000000000" pitchFamily="2" charset="0"/>
              </a:rPr>
              <a:t>acak</a:t>
            </a:r>
            <a:r>
              <a:rPr lang="en-US" sz="2400" dirty="0">
                <a:latin typeface="Montserrat" panose="00000500000000000000" pitchFamily="2" charset="0"/>
              </a:rPr>
              <a:t> yang tidak </a:t>
            </a:r>
            <a:r>
              <a:rPr lang="en-US" sz="2400" dirty="0" err="1">
                <a:latin typeface="Montserrat" panose="00000500000000000000" pitchFamily="2" charset="0"/>
              </a:rPr>
              <a:t>berguna</a:t>
            </a:r>
            <a:r>
              <a:rPr lang="en-US" sz="2400" dirty="0">
                <a:latin typeface="Montserrat" panose="00000500000000000000" pitchFamily="2" charset="0"/>
              </a:rPr>
              <a:t>).</a:t>
            </a:r>
            <a:br>
              <a:rPr lang="en-US" sz="2400" dirty="0">
                <a:latin typeface="Montserrat" panose="00000500000000000000" pitchFamily="2" charset="0"/>
              </a:rPr>
            </a:br>
            <a:r>
              <a:rPr lang="en-US" sz="2400" b="1" dirty="0">
                <a:highlight>
                  <a:srgbClr val="FFFF00"/>
                </a:highlight>
                <a:latin typeface="Montserrat" panose="00000500000000000000" pitchFamily="2" charset="0"/>
              </a:rPr>
              <a:t>Solusi dengan PCA</a:t>
            </a:r>
            <a:r>
              <a:rPr lang="en-US" sz="2400" dirty="0">
                <a:highlight>
                  <a:srgbClr val="FFFF00"/>
                </a:highlight>
                <a:latin typeface="Montserrat" panose="00000500000000000000" pitchFamily="2" charset="0"/>
              </a:rPr>
              <a:t>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PCA </a:t>
            </a:r>
            <a:r>
              <a:rPr lang="en-US" sz="2400" dirty="0" err="1">
                <a:latin typeface="Montserrat" panose="00000500000000000000" pitchFamily="2" charset="0"/>
              </a:rPr>
              <a:t>akan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memprioritaskan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b="1" dirty="0" err="1">
                <a:latin typeface="Montserrat" panose="00000500000000000000" pitchFamily="2" charset="0"/>
              </a:rPr>
              <a:t>komponen</a:t>
            </a:r>
            <a:r>
              <a:rPr lang="en-US" sz="2400" b="1" dirty="0">
                <a:latin typeface="Montserrat" panose="00000500000000000000" pitchFamily="2" charset="0"/>
              </a:rPr>
              <a:t> yang punya </a:t>
            </a:r>
            <a:r>
              <a:rPr lang="en-US" sz="2400" b="1" dirty="0" err="1">
                <a:latin typeface="Montserrat" panose="00000500000000000000" pitchFamily="2" charset="0"/>
              </a:rPr>
              <a:t>varian</a:t>
            </a:r>
            <a:r>
              <a:rPr lang="en-US" sz="2400" b="1" dirty="0">
                <a:latin typeface="Montserrat" panose="00000500000000000000" pitchFamily="2" charset="0"/>
              </a:rPr>
              <a:t> </a:t>
            </a:r>
            <a:r>
              <a:rPr lang="en-US" sz="2400" b="1" dirty="0" err="1">
                <a:latin typeface="Montserrat" panose="00000500000000000000" pitchFamily="2" charset="0"/>
              </a:rPr>
              <a:t>tinggi</a:t>
            </a:r>
            <a:r>
              <a:rPr lang="en-US" sz="2400" dirty="0">
                <a:latin typeface="Montserrat" panose="00000500000000000000" pitchFamily="2" charset="0"/>
              </a:rPr>
              <a:t> (informasi penting).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Montserrat" panose="00000500000000000000" pitchFamily="2" charset="0"/>
              </a:rPr>
              <a:t>Komponen</a:t>
            </a:r>
            <a:r>
              <a:rPr lang="en-US" sz="2400" dirty="0">
                <a:latin typeface="Montserrat" panose="00000500000000000000" pitchFamily="2" charset="0"/>
              </a:rPr>
              <a:t> dengan </a:t>
            </a:r>
            <a:r>
              <a:rPr lang="en-US" sz="2400" dirty="0" err="1">
                <a:latin typeface="Montserrat" panose="00000500000000000000" pitchFamily="2" charset="0"/>
              </a:rPr>
              <a:t>varian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rendah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cenderung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mengandung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b="1" dirty="0">
                <a:latin typeface="Montserrat" panose="00000500000000000000" pitchFamily="2" charset="0"/>
              </a:rPr>
              <a:t>noise</a:t>
            </a:r>
            <a:r>
              <a:rPr lang="en-US" sz="2400" dirty="0">
                <a:latin typeface="Montserrat" panose="00000500000000000000" pitchFamily="2" charset="0"/>
              </a:rPr>
              <a:t>, dan </a:t>
            </a:r>
            <a:r>
              <a:rPr lang="en-US" sz="2400" dirty="0" err="1">
                <a:latin typeface="Montserrat" panose="00000500000000000000" pitchFamily="2" charset="0"/>
              </a:rPr>
              <a:t>bisa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dibuang</a:t>
            </a:r>
            <a:r>
              <a:rPr lang="en-US" sz="2400" dirty="0">
                <a:latin typeface="Montserrat" panose="00000500000000000000" pitchFamily="2" charset="0"/>
              </a:rPr>
              <a:t>.</a:t>
            </a:r>
          </a:p>
          <a:p>
            <a:pPr marL="285750" fontAlgn="base">
              <a:lnSpc>
                <a:spcPct val="150000"/>
              </a:lnSpc>
              <a:spcAft>
                <a:spcPts val="600"/>
              </a:spcAft>
            </a:pPr>
            <a:endParaRPr lang="en-US" sz="2400" dirty="0">
              <a:latin typeface="Montserrat" panose="00000500000000000000" pitchFamily="2" charset="0"/>
            </a:endParaRPr>
          </a:p>
        </p:txBody>
      </p:sp>
      <p:pic>
        <p:nvPicPr>
          <p:cNvPr id="6" name="Google Shape;180;g25d1a60db1d_0_1">
            <a:extLst>
              <a:ext uri="{FF2B5EF4-FFF2-40B4-BE49-F238E27FC236}">
                <a16:creationId xmlns:a16="http://schemas.microsoft.com/office/drawing/2014/main" id="{ED7D07F1-7677-8FE4-444D-15ACE2F94582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930384" y="906702"/>
            <a:ext cx="7708392" cy="3854196"/>
          </a:xfrm>
          <a:prstGeom prst="rect">
            <a:avLst/>
          </a:prstGeom>
          <a:noFill/>
        </p:spPr>
      </p:pic>
      <p:pic>
        <p:nvPicPr>
          <p:cNvPr id="2" name="Google Shape;173;g293f49e2aa1_0_26">
            <a:extLst>
              <a:ext uri="{FF2B5EF4-FFF2-40B4-BE49-F238E27FC236}">
                <a16:creationId xmlns:a16="http://schemas.microsoft.com/office/drawing/2014/main" id="{3830F19C-0294-23B9-456C-00B333019C60}"/>
              </a:ext>
            </a:extLst>
          </p:cNvPr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9930384" y="5312344"/>
            <a:ext cx="7708392" cy="3777112"/>
          </a:xfrm>
          <a:prstGeom prst="rect">
            <a:avLst/>
          </a:prstGeom>
          <a:noFill/>
        </p:spPr>
      </p:pic>
      <p:sp>
        <p:nvSpPr>
          <p:cNvPr id="5" name="Freeform 5">
            <a:extLst>
              <a:ext uri="{FF2B5EF4-FFF2-40B4-BE49-F238E27FC236}">
                <a16:creationId xmlns:a16="http://schemas.microsoft.com/office/drawing/2014/main" id="{DDD270DF-F387-0EC7-61AD-425CA7C0E84A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886669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DC8E67-30B4-2608-574B-F9388395A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8500FB4-E7B9-DC48-FBC7-AE1209842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33E46950-3024-0399-694C-F57107401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4002" cy="10287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4D425251-3534-73A1-7214-AA5E09E1DC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28055" cy="10287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BBE9420-B0FE-3D53-9AA1-3A1E3BC08DC3}"/>
              </a:ext>
            </a:extLst>
          </p:cNvPr>
          <p:cNvSpPr txBox="1"/>
          <p:nvPr/>
        </p:nvSpPr>
        <p:spPr>
          <a:xfrm>
            <a:off x="658369" y="1289304"/>
            <a:ext cx="7249203" cy="17556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100" b="1" spc="191" dirty="0">
                <a:latin typeface="Montserrat" panose="00000500000000000000" pitchFamily="2" charset="0"/>
                <a:ea typeface="+mj-ea"/>
                <a:cs typeface="+mj-cs"/>
                <a:sym typeface="Montserrat Classic Bold"/>
              </a:rPr>
              <a:t>PCA Use Case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97061E-F940-567F-E379-AE7097E84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54854" y="545084"/>
            <a:ext cx="109728" cy="822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229DA2-1D93-5978-D1E2-2B7F074FC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8238" y="3277593"/>
            <a:ext cx="740664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514A94-E753-ABF6-4591-AA2DA254503A}"/>
              </a:ext>
            </a:extLst>
          </p:cNvPr>
          <p:cNvSpPr txBox="1"/>
          <p:nvPr/>
        </p:nvSpPr>
        <p:spPr>
          <a:xfrm>
            <a:off x="658368" y="3768916"/>
            <a:ext cx="7799832" cy="549652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514350" indent="-228600" algn="just" fontAlgn="base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Montserrat" panose="00000500000000000000" pitchFamily="2" charset="0"/>
              </a:rPr>
              <a:t>Mengurangi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beban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komputasi</a:t>
            </a:r>
            <a:r>
              <a:rPr lang="en-US" sz="2400" dirty="0">
                <a:latin typeface="Montserrat" panose="00000500000000000000" pitchFamily="2" charset="0"/>
              </a:rPr>
              <a:t> dengan </a:t>
            </a:r>
            <a:r>
              <a:rPr lang="en-US" sz="2400" dirty="0" err="1">
                <a:latin typeface="Montserrat" panose="00000500000000000000" pitchFamily="2" charset="0"/>
              </a:rPr>
              <a:t>melakukan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pengurangan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fitur</a:t>
            </a:r>
            <a:endParaRPr lang="en-US" sz="2400" dirty="0">
              <a:latin typeface="Montserrat" panose="00000500000000000000" pitchFamily="2" charset="0"/>
            </a:endParaRPr>
          </a:p>
          <a:p>
            <a:pPr marL="514350" indent="-228600" algn="just" fontAlgn="base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Montserrat" panose="00000500000000000000" pitchFamily="2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US" sz="2400" b="1" dirty="0">
                <a:highlight>
                  <a:srgbClr val="FFFF00"/>
                </a:highlight>
                <a:latin typeface="Montserrat" panose="00000500000000000000" pitchFamily="2" charset="0"/>
              </a:rPr>
              <a:t>Masalah</a:t>
            </a:r>
            <a:r>
              <a:rPr lang="en-US" sz="2400" dirty="0">
                <a:highlight>
                  <a:srgbClr val="FFFF00"/>
                </a:highlight>
                <a:latin typeface="Montserrat" panose="00000500000000000000" pitchFamily="2" charset="0"/>
              </a:rPr>
              <a:t>: </a:t>
            </a:r>
            <a:r>
              <a:rPr lang="en-US" sz="2400" dirty="0">
                <a:latin typeface="Montserrat" panose="00000500000000000000" pitchFamily="2" charset="0"/>
              </a:rPr>
              <a:t>Model machine learning </a:t>
            </a:r>
            <a:r>
              <a:rPr lang="en-US" sz="2400" dirty="0" err="1">
                <a:latin typeface="Montserrat" panose="00000500000000000000" pitchFamily="2" charset="0"/>
              </a:rPr>
              <a:t>bisa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lambat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atau</a:t>
            </a:r>
            <a:r>
              <a:rPr lang="en-US" sz="2400" dirty="0">
                <a:latin typeface="Montserrat" panose="00000500000000000000" pitchFamily="2" charset="0"/>
              </a:rPr>
              <a:t> overfitting kalau terlalu </a:t>
            </a:r>
            <a:r>
              <a:rPr lang="en-US" sz="2400" dirty="0" err="1">
                <a:latin typeface="Montserrat" panose="00000500000000000000" pitchFamily="2" charset="0"/>
              </a:rPr>
              <a:t>banyak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fitur</a:t>
            </a:r>
            <a:r>
              <a:rPr lang="en-US" sz="2400" dirty="0">
                <a:latin typeface="Montserrat" panose="00000500000000000000" pitchFamily="2" charset="0"/>
              </a:rPr>
              <a:t>.</a:t>
            </a:r>
            <a:br>
              <a:rPr lang="en-US" sz="2400" dirty="0">
                <a:latin typeface="Montserrat" panose="00000500000000000000" pitchFamily="2" charset="0"/>
              </a:rPr>
            </a:br>
            <a:r>
              <a:rPr lang="en-US" sz="2400" b="1" dirty="0">
                <a:highlight>
                  <a:srgbClr val="FFFF00"/>
                </a:highlight>
                <a:latin typeface="Montserrat" panose="00000500000000000000" pitchFamily="2" charset="0"/>
              </a:rPr>
              <a:t>Solusi dengan PCA</a:t>
            </a:r>
            <a:r>
              <a:rPr lang="en-US" sz="2400" dirty="0">
                <a:highlight>
                  <a:srgbClr val="FFFF00"/>
                </a:highlight>
                <a:latin typeface="Montserrat" panose="00000500000000000000" pitchFamily="2" charset="0"/>
              </a:rPr>
              <a:t>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Dari 100 </a:t>
            </a:r>
            <a:r>
              <a:rPr lang="en-US" sz="2400" dirty="0" err="1">
                <a:latin typeface="Montserrat" panose="00000500000000000000" pitchFamily="2" charset="0"/>
              </a:rPr>
              <a:t>fitur</a:t>
            </a:r>
            <a:r>
              <a:rPr lang="en-US" sz="2400" dirty="0">
                <a:latin typeface="Montserrat" panose="00000500000000000000" pitchFamily="2" charset="0"/>
              </a:rPr>
              <a:t> → </a:t>
            </a:r>
            <a:r>
              <a:rPr lang="en-US" sz="2400" dirty="0" err="1">
                <a:latin typeface="Montserrat" panose="00000500000000000000" pitchFamily="2" charset="0"/>
              </a:rPr>
              <a:t>ambil</a:t>
            </a:r>
            <a:r>
              <a:rPr lang="en-US" sz="2400" dirty="0">
                <a:latin typeface="Montserrat" panose="00000500000000000000" pitchFamily="2" charset="0"/>
              </a:rPr>
              <a:t> 10 </a:t>
            </a:r>
            <a:r>
              <a:rPr lang="en-US" sz="2400" dirty="0" err="1">
                <a:latin typeface="Montserrat" panose="00000500000000000000" pitchFamily="2" charset="0"/>
              </a:rPr>
              <a:t>komponen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utama</a:t>
            </a:r>
            <a:r>
              <a:rPr lang="en-US" sz="2400" dirty="0">
                <a:latin typeface="Montserrat" panose="00000500000000000000" pitchFamily="2" charset="0"/>
              </a:rPr>
              <a:t> → </a:t>
            </a:r>
            <a:r>
              <a:rPr lang="en-US" sz="2400" dirty="0" err="1">
                <a:latin typeface="Montserrat" panose="00000500000000000000" pitchFamily="2" charset="0"/>
              </a:rPr>
              <a:t>waktu</a:t>
            </a:r>
            <a:r>
              <a:rPr lang="en-US" sz="2400" dirty="0">
                <a:latin typeface="Montserrat" panose="00000500000000000000" pitchFamily="2" charset="0"/>
              </a:rPr>
              <a:t> training </a:t>
            </a:r>
            <a:r>
              <a:rPr lang="en-US" sz="2400" dirty="0" err="1">
                <a:latin typeface="Montserrat" panose="00000500000000000000" pitchFamily="2" charset="0"/>
              </a:rPr>
              <a:t>jadi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lebih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cepat</a:t>
            </a:r>
            <a:r>
              <a:rPr lang="en-US" sz="2400" dirty="0">
                <a:latin typeface="Montserrat" panose="00000500000000000000" pitchFamily="2" charset="0"/>
              </a:rPr>
              <a:t>, </a:t>
            </a:r>
            <a:r>
              <a:rPr lang="en-US" sz="2400" dirty="0" err="1">
                <a:latin typeface="Montserrat" panose="00000500000000000000" pitchFamily="2" charset="0"/>
              </a:rPr>
              <a:t>hasil</a:t>
            </a:r>
            <a:r>
              <a:rPr lang="en-US" sz="2400" dirty="0">
                <a:latin typeface="Montserrat" panose="00000500000000000000" pitchFamily="2" charset="0"/>
              </a:rPr>
              <a:t> tetap bagus.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0"/>
              </a:rPr>
              <a:t>Ini </a:t>
            </a:r>
            <a:r>
              <a:rPr lang="en-US" sz="2400" dirty="0" err="1">
                <a:latin typeface="Montserrat" panose="00000500000000000000" pitchFamily="2" charset="0"/>
              </a:rPr>
              <a:t>disebut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b="1" dirty="0">
                <a:latin typeface="Montserrat" panose="00000500000000000000" pitchFamily="2" charset="0"/>
              </a:rPr>
              <a:t>dimensionality reduction</a:t>
            </a:r>
            <a:r>
              <a:rPr lang="en-US" sz="2400" dirty="0">
                <a:latin typeface="Montserrat" panose="00000500000000000000" pitchFamily="2" charset="0"/>
              </a:rPr>
              <a:t> (</a:t>
            </a:r>
            <a:r>
              <a:rPr lang="en-US" sz="2400" dirty="0" err="1">
                <a:latin typeface="Montserrat" panose="00000500000000000000" pitchFamily="2" charset="0"/>
              </a:rPr>
              <a:t>pengurangan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dimensi</a:t>
            </a:r>
            <a:r>
              <a:rPr lang="en-US" sz="2400" dirty="0">
                <a:latin typeface="Montserrat" panose="00000500000000000000" pitchFamily="2" charset="0"/>
              </a:rPr>
              <a:t>/</a:t>
            </a:r>
            <a:r>
              <a:rPr lang="en-US" sz="2400" dirty="0" err="1">
                <a:latin typeface="Montserrat" panose="00000500000000000000" pitchFamily="2" charset="0"/>
              </a:rPr>
              <a:t>fitur</a:t>
            </a:r>
            <a:r>
              <a:rPr lang="en-US" sz="2400" dirty="0">
                <a:latin typeface="Montserrat" panose="00000500000000000000" pitchFamily="2" charset="0"/>
              </a:rPr>
              <a:t>).</a:t>
            </a:r>
          </a:p>
          <a:p>
            <a:pPr marL="285750" algn="just" fontAlgn="base">
              <a:lnSpc>
                <a:spcPct val="150000"/>
              </a:lnSpc>
              <a:spcAft>
                <a:spcPts val="600"/>
              </a:spcAft>
            </a:pPr>
            <a:endParaRPr lang="en-US" sz="2400" dirty="0">
              <a:latin typeface="Montserrat" panose="00000500000000000000" pitchFamily="2" charset="0"/>
            </a:endParaRPr>
          </a:p>
        </p:txBody>
      </p:sp>
      <p:pic>
        <p:nvPicPr>
          <p:cNvPr id="6" name="Google Shape;180;g25d1a60db1d_0_1">
            <a:extLst>
              <a:ext uri="{FF2B5EF4-FFF2-40B4-BE49-F238E27FC236}">
                <a16:creationId xmlns:a16="http://schemas.microsoft.com/office/drawing/2014/main" id="{CB75F7AA-6FF4-6558-000B-A343DB5B6DD9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9930384" y="906702"/>
            <a:ext cx="7708392" cy="3854196"/>
          </a:xfrm>
          <a:prstGeom prst="rect">
            <a:avLst/>
          </a:prstGeom>
          <a:noFill/>
        </p:spPr>
      </p:pic>
      <p:pic>
        <p:nvPicPr>
          <p:cNvPr id="2" name="Google Shape;173;g293f49e2aa1_0_26">
            <a:extLst>
              <a:ext uri="{FF2B5EF4-FFF2-40B4-BE49-F238E27FC236}">
                <a16:creationId xmlns:a16="http://schemas.microsoft.com/office/drawing/2014/main" id="{7663E726-59D7-C591-3F18-F76DB5DBB172}"/>
              </a:ext>
            </a:extLst>
          </p:cNvPr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9930384" y="5312344"/>
            <a:ext cx="7708392" cy="3777112"/>
          </a:xfrm>
          <a:prstGeom prst="rect">
            <a:avLst/>
          </a:prstGeom>
          <a:noFill/>
        </p:spPr>
      </p:pic>
      <p:sp>
        <p:nvSpPr>
          <p:cNvPr id="5" name="Freeform 5">
            <a:extLst>
              <a:ext uri="{FF2B5EF4-FFF2-40B4-BE49-F238E27FC236}">
                <a16:creationId xmlns:a16="http://schemas.microsoft.com/office/drawing/2014/main" id="{97DA30C5-EFA0-023C-4390-EA070456D504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728159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58B5A-6C48-6FDD-9D6F-B379F54DF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1A6072A-8567-626B-B478-172190B0050B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688025D-8BD4-7FF9-30DE-A77AEC80F4B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73EDBB4-00C0-6BD8-2D4D-F3C00F2AD3E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A54D095-B040-0EFF-E0FC-EFD349B103C0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82B1F9A-E355-5606-3513-8E9CFF8AC55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B09790A-49DC-6D40-077D-91A7272581E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923F9710-21CE-5790-849B-23CA92E4FB26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6981D6EC-0892-2BEE-A157-2B39E525D576}"/>
              </a:ext>
            </a:extLst>
          </p:cNvPr>
          <p:cNvSpPr txBox="1"/>
          <p:nvPr/>
        </p:nvSpPr>
        <p:spPr>
          <a:xfrm>
            <a:off x="1277237" y="3371261"/>
            <a:ext cx="15773400" cy="25780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6600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Clustering</a:t>
            </a:r>
          </a:p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endParaRPr lang="en-US" sz="4400" b="1" spc="191" dirty="0">
              <a:solidFill>
                <a:srgbClr val="08377C"/>
              </a:solidFill>
              <a:latin typeface="Montserrat Classic Bold"/>
              <a:sym typeface="Montserrat Classic Bold"/>
            </a:endParaRPr>
          </a:p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4400" b="1" spc="191" dirty="0">
                <a:solidFill>
                  <a:srgbClr val="08377C"/>
                </a:solidFill>
                <a:latin typeface="Montserrat Classic Bold"/>
                <a:sym typeface="Montserrat Classic Bold"/>
              </a:rPr>
              <a:t>K-MEANS and DBSCAN</a:t>
            </a:r>
            <a:endParaRPr lang="en-US" sz="4400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9" name="AutoShape 20">
            <a:extLst>
              <a:ext uri="{FF2B5EF4-FFF2-40B4-BE49-F238E27FC236}">
                <a16:creationId xmlns:a16="http://schemas.microsoft.com/office/drawing/2014/main" id="{160D142D-3984-104C-C261-0EB30FCA4878}"/>
              </a:ext>
            </a:extLst>
          </p:cNvPr>
          <p:cNvSpPr/>
          <p:nvPr/>
        </p:nvSpPr>
        <p:spPr>
          <a:xfrm>
            <a:off x="4389120" y="4838700"/>
            <a:ext cx="9509760" cy="0"/>
          </a:xfrm>
          <a:prstGeom prst="line">
            <a:avLst/>
          </a:prstGeom>
          <a:ln w="38100" cap="flat">
            <a:solidFill>
              <a:srgbClr val="0837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06628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F1015-F9D8-0AED-4FB1-1CCDBEE80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8922576-84AD-F2A8-B4D3-C16B31DD6975}"/>
              </a:ext>
            </a:extLst>
          </p:cNvPr>
          <p:cNvGrpSpPr/>
          <p:nvPr/>
        </p:nvGrpSpPr>
        <p:grpSpPr>
          <a:xfrm>
            <a:off x="17016492" y="-180826"/>
            <a:ext cx="1271508" cy="10467826"/>
            <a:chOff x="0" y="-47625"/>
            <a:chExt cx="334883" cy="27569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8933BDC-A698-C462-4C22-39E974B7E13C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9943AD9-8321-E8D7-A82F-5C9465311A2D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6D5FF604-7D70-F11D-564C-9383329819CC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9CEBD9B-694A-9130-1DE6-B46767268F10}"/>
              </a:ext>
            </a:extLst>
          </p:cNvPr>
          <p:cNvSpPr txBox="1"/>
          <p:nvPr/>
        </p:nvSpPr>
        <p:spPr>
          <a:xfrm>
            <a:off x="1981200" y="1104918"/>
            <a:ext cx="13103580" cy="817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K-MEANS &amp; DBSCAN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7113850-C86C-1693-A09E-689381E8F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2524125"/>
            <a:ext cx="8917021" cy="52387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F5C8B3D1-6C80-F5D8-B695-D3DEEDDD9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771900"/>
            <a:ext cx="6991978" cy="31813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09FABC-6AB4-07A5-B3A2-EC09853DBE28}"/>
              </a:ext>
            </a:extLst>
          </p:cNvPr>
          <p:cNvSpPr txBox="1"/>
          <p:nvPr/>
        </p:nvSpPr>
        <p:spPr>
          <a:xfrm>
            <a:off x="759884" y="7062334"/>
            <a:ext cx="6533045" cy="665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2540" algn="ctr">
              <a:lnSpc>
                <a:spcPct val="150000"/>
              </a:lnSpc>
              <a:buSzPts val="2400"/>
            </a:pPr>
            <a:r>
              <a:rPr lang="en-US" sz="2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KMEANS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90BC45-E11A-9F45-9C42-134D122368A4}"/>
              </a:ext>
            </a:extLst>
          </p:cNvPr>
          <p:cNvSpPr txBox="1"/>
          <p:nvPr/>
        </p:nvSpPr>
        <p:spPr>
          <a:xfrm>
            <a:off x="9118600" y="7886700"/>
            <a:ext cx="6533045" cy="665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2540" algn="ctr">
              <a:lnSpc>
                <a:spcPct val="150000"/>
              </a:lnSpc>
              <a:buSzPts val="2400"/>
            </a:pPr>
            <a:r>
              <a:rPr lang="en-US" sz="2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DBSCAN</a:t>
            </a:r>
          </a:p>
        </p:txBody>
      </p:sp>
    </p:spTree>
    <p:extLst>
      <p:ext uri="{BB962C8B-B14F-4D97-AF65-F5344CB8AC3E}">
        <p14:creationId xmlns:p14="http://schemas.microsoft.com/office/powerpoint/2010/main" val="2795652131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09944-EF56-43CE-4FD6-1534DB98B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856635D-EC31-4CB4-F01D-1525E522A39A}"/>
              </a:ext>
            </a:extLst>
          </p:cNvPr>
          <p:cNvGrpSpPr/>
          <p:nvPr/>
        </p:nvGrpSpPr>
        <p:grpSpPr>
          <a:xfrm>
            <a:off x="17016492" y="-180826"/>
            <a:ext cx="1271508" cy="10467826"/>
            <a:chOff x="0" y="-47625"/>
            <a:chExt cx="334883" cy="27569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52D3AB6-5505-09BF-C9F7-757EFD73678D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E21A553-C4BB-8CFC-9952-126728ECD0EA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739346CB-BF8E-89BF-9D79-AE8894FE2C21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E702E7E-FE35-8412-9195-98C2AA911789}"/>
              </a:ext>
            </a:extLst>
          </p:cNvPr>
          <p:cNvSpPr txBox="1"/>
          <p:nvPr/>
        </p:nvSpPr>
        <p:spPr>
          <a:xfrm>
            <a:off x="2968011" y="1104918"/>
            <a:ext cx="11583628" cy="817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K-MEANS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2BCC09-5E34-6835-F34E-381615652BF3}"/>
              </a:ext>
            </a:extLst>
          </p:cNvPr>
          <p:cNvSpPr txBox="1"/>
          <p:nvPr/>
        </p:nvSpPr>
        <p:spPr>
          <a:xfrm>
            <a:off x="8305800" y="4201232"/>
            <a:ext cx="8040608" cy="2604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3550" marR="2540" indent="-457200" algn="just">
              <a:lnSpc>
                <a:spcPct val="150000"/>
              </a:lnSpc>
              <a:buSzPts val="2400"/>
              <a:buFont typeface="Arial" panose="020B0604020202020204" pitchFamily="34" charset="0"/>
              <a:buChar char="•"/>
            </a:pP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Melakukan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pengelompokkan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data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berdasarkan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i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 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jumlah centroid.</a:t>
            </a:r>
          </a:p>
          <a:p>
            <a:pPr marL="463550" marR="2540" indent="-457200" algn="just">
              <a:lnSpc>
                <a:spcPct val="150000"/>
              </a:lnSpc>
              <a:buSzPts val="2400"/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Centroid adalah titik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pusat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dari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suatu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kluster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07E0D86-965D-79E2-BBF0-1BE569423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417" y="2781300"/>
            <a:ext cx="6743325" cy="655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6604077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5FAE11-8658-468F-F2A9-D575261AA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3C5FD4B-8739-8359-E715-330B06CF8D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2B8033D-DF19-35CC-3576-7B160CFC2B3C}"/>
              </a:ext>
            </a:extLst>
          </p:cNvPr>
          <p:cNvSpPr txBox="1"/>
          <p:nvPr/>
        </p:nvSpPr>
        <p:spPr>
          <a:xfrm>
            <a:off x="958321" y="685800"/>
            <a:ext cx="16364460" cy="2052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9900" b="1" spc="191" dirty="0">
                <a:solidFill>
                  <a:srgbClr val="08377C"/>
                </a:solidFill>
                <a:latin typeface="+mj-lt"/>
                <a:ea typeface="+mj-ea"/>
                <a:cs typeface="+mj-cs"/>
                <a:sym typeface="Montserrat Classic Bold"/>
              </a:rPr>
              <a:t>K-MEANS ALGORITHM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F0E72285-8AF6-BD3D-ABB4-9B7E8ADB6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75120" y="2776024"/>
            <a:ext cx="4937760" cy="27432"/>
          </a:xfrm>
          <a:custGeom>
            <a:avLst/>
            <a:gdLst>
              <a:gd name="connsiteX0" fmla="*/ 0 w 4937760"/>
              <a:gd name="connsiteY0" fmla="*/ 0 h 27432"/>
              <a:gd name="connsiteX1" fmla="*/ 567842 w 4937760"/>
              <a:gd name="connsiteY1" fmla="*/ 0 h 27432"/>
              <a:gd name="connsiteX2" fmla="*/ 1135685 w 4937760"/>
              <a:gd name="connsiteY2" fmla="*/ 0 h 27432"/>
              <a:gd name="connsiteX3" fmla="*/ 1851660 w 4937760"/>
              <a:gd name="connsiteY3" fmla="*/ 0 h 27432"/>
              <a:gd name="connsiteX4" fmla="*/ 2370125 w 4937760"/>
              <a:gd name="connsiteY4" fmla="*/ 0 h 27432"/>
              <a:gd name="connsiteX5" fmla="*/ 2888590 w 4937760"/>
              <a:gd name="connsiteY5" fmla="*/ 0 h 27432"/>
              <a:gd name="connsiteX6" fmla="*/ 3505810 w 4937760"/>
              <a:gd name="connsiteY6" fmla="*/ 0 h 27432"/>
              <a:gd name="connsiteX7" fmla="*/ 4024274 w 4937760"/>
              <a:gd name="connsiteY7" fmla="*/ 0 h 27432"/>
              <a:gd name="connsiteX8" fmla="*/ 4937760 w 4937760"/>
              <a:gd name="connsiteY8" fmla="*/ 0 h 27432"/>
              <a:gd name="connsiteX9" fmla="*/ 4937760 w 4937760"/>
              <a:gd name="connsiteY9" fmla="*/ 27432 h 27432"/>
              <a:gd name="connsiteX10" fmla="*/ 4419295 w 4937760"/>
              <a:gd name="connsiteY10" fmla="*/ 27432 h 27432"/>
              <a:gd name="connsiteX11" fmla="*/ 3900830 w 4937760"/>
              <a:gd name="connsiteY11" fmla="*/ 27432 h 27432"/>
              <a:gd name="connsiteX12" fmla="*/ 3283610 w 4937760"/>
              <a:gd name="connsiteY12" fmla="*/ 27432 h 27432"/>
              <a:gd name="connsiteX13" fmla="*/ 2765146 w 4937760"/>
              <a:gd name="connsiteY13" fmla="*/ 27432 h 27432"/>
              <a:gd name="connsiteX14" fmla="*/ 2296058 w 4937760"/>
              <a:gd name="connsiteY14" fmla="*/ 27432 h 27432"/>
              <a:gd name="connsiteX15" fmla="*/ 1678838 w 4937760"/>
              <a:gd name="connsiteY15" fmla="*/ 27432 h 27432"/>
              <a:gd name="connsiteX16" fmla="*/ 1061618 w 4937760"/>
              <a:gd name="connsiteY16" fmla="*/ 27432 h 27432"/>
              <a:gd name="connsiteX17" fmla="*/ 0 w 4937760"/>
              <a:gd name="connsiteY17" fmla="*/ 27432 h 27432"/>
              <a:gd name="connsiteX18" fmla="*/ 0 w 4937760"/>
              <a:gd name="connsiteY18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937760" h="27432" fill="none" extrusionOk="0">
                <a:moveTo>
                  <a:pt x="0" y="0"/>
                </a:moveTo>
                <a:cubicBezTo>
                  <a:pt x="151071" y="898"/>
                  <a:pt x="414304" y="10355"/>
                  <a:pt x="567842" y="0"/>
                </a:cubicBezTo>
                <a:cubicBezTo>
                  <a:pt x="721380" y="-10355"/>
                  <a:pt x="913955" y="23592"/>
                  <a:pt x="1135685" y="0"/>
                </a:cubicBezTo>
                <a:cubicBezTo>
                  <a:pt x="1357415" y="-23592"/>
                  <a:pt x="1656179" y="-14359"/>
                  <a:pt x="1851660" y="0"/>
                </a:cubicBezTo>
                <a:cubicBezTo>
                  <a:pt x="2047142" y="14359"/>
                  <a:pt x="2259566" y="-14455"/>
                  <a:pt x="2370125" y="0"/>
                </a:cubicBezTo>
                <a:cubicBezTo>
                  <a:pt x="2480684" y="14455"/>
                  <a:pt x="2753992" y="22579"/>
                  <a:pt x="2888590" y="0"/>
                </a:cubicBezTo>
                <a:cubicBezTo>
                  <a:pt x="3023188" y="-22579"/>
                  <a:pt x="3354327" y="24296"/>
                  <a:pt x="3505810" y="0"/>
                </a:cubicBezTo>
                <a:cubicBezTo>
                  <a:pt x="3657293" y="-24296"/>
                  <a:pt x="3767649" y="3652"/>
                  <a:pt x="4024274" y="0"/>
                </a:cubicBezTo>
                <a:cubicBezTo>
                  <a:pt x="4280899" y="-3652"/>
                  <a:pt x="4541928" y="-14384"/>
                  <a:pt x="4937760" y="0"/>
                </a:cubicBezTo>
                <a:cubicBezTo>
                  <a:pt x="4938470" y="9050"/>
                  <a:pt x="4937122" y="21151"/>
                  <a:pt x="4937760" y="27432"/>
                </a:cubicBezTo>
                <a:cubicBezTo>
                  <a:pt x="4792365" y="10076"/>
                  <a:pt x="4528041" y="17663"/>
                  <a:pt x="4419295" y="27432"/>
                </a:cubicBezTo>
                <a:cubicBezTo>
                  <a:pt x="4310549" y="37201"/>
                  <a:pt x="4126500" y="10618"/>
                  <a:pt x="3900830" y="27432"/>
                </a:cubicBezTo>
                <a:cubicBezTo>
                  <a:pt x="3675160" y="44246"/>
                  <a:pt x="3409924" y="31425"/>
                  <a:pt x="3283610" y="27432"/>
                </a:cubicBezTo>
                <a:cubicBezTo>
                  <a:pt x="3157296" y="23439"/>
                  <a:pt x="3011610" y="15782"/>
                  <a:pt x="2765146" y="27432"/>
                </a:cubicBezTo>
                <a:cubicBezTo>
                  <a:pt x="2518682" y="39082"/>
                  <a:pt x="2505970" y="40710"/>
                  <a:pt x="2296058" y="27432"/>
                </a:cubicBezTo>
                <a:cubicBezTo>
                  <a:pt x="2086146" y="14154"/>
                  <a:pt x="1890404" y="35142"/>
                  <a:pt x="1678838" y="27432"/>
                </a:cubicBezTo>
                <a:cubicBezTo>
                  <a:pt x="1467272" y="19722"/>
                  <a:pt x="1210839" y="46081"/>
                  <a:pt x="1061618" y="27432"/>
                </a:cubicBezTo>
                <a:cubicBezTo>
                  <a:pt x="912397" y="8783"/>
                  <a:pt x="424920" y="11180"/>
                  <a:pt x="0" y="27432"/>
                </a:cubicBezTo>
                <a:cubicBezTo>
                  <a:pt x="-1228" y="21145"/>
                  <a:pt x="-815" y="8816"/>
                  <a:pt x="0" y="0"/>
                </a:cubicBezTo>
                <a:close/>
              </a:path>
              <a:path w="4937760" h="27432" stroke="0" extrusionOk="0">
                <a:moveTo>
                  <a:pt x="0" y="0"/>
                </a:moveTo>
                <a:cubicBezTo>
                  <a:pt x="158580" y="-21299"/>
                  <a:pt x="375366" y="-9205"/>
                  <a:pt x="518465" y="0"/>
                </a:cubicBezTo>
                <a:cubicBezTo>
                  <a:pt x="661564" y="9205"/>
                  <a:pt x="901414" y="-31895"/>
                  <a:pt x="1234440" y="0"/>
                </a:cubicBezTo>
                <a:cubicBezTo>
                  <a:pt x="1567467" y="31895"/>
                  <a:pt x="1525818" y="3722"/>
                  <a:pt x="1703527" y="0"/>
                </a:cubicBezTo>
                <a:cubicBezTo>
                  <a:pt x="1881236" y="-3722"/>
                  <a:pt x="1964350" y="10238"/>
                  <a:pt x="2172614" y="0"/>
                </a:cubicBezTo>
                <a:cubicBezTo>
                  <a:pt x="2380878" y="-10238"/>
                  <a:pt x="2652196" y="-22475"/>
                  <a:pt x="2789834" y="0"/>
                </a:cubicBezTo>
                <a:cubicBezTo>
                  <a:pt x="2927472" y="22475"/>
                  <a:pt x="3160003" y="7911"/>
                  <a:pt x="3357677" y="0"/>
                </a:cubicBezTo>
                <a:cubicBezTo>
                  <a:pt x="3555351" y="-7911"/>
                  <a:pt x="3723575" y="-14515"/>
                  <a:pt x="4024274" y="0"/>
                </a:cubicBezTo>
                <a:cubicBezTo>
                  <a:pt x="4324973" y="14515"/>
                  <a:pt x="4666192" y="-31217"/>
                  <a:pt x="4937760" y="0"/>
                </a:cubicBezTo>
                <a:cubicBezTo>
                  <a:pt x="4937817" y="6776"/>
                  <a:pt x="4936595" y="20935"/>
                  <a:pt x="4937760" y="27432"/>
                </a:cubicBezTo>
                <a:cubicBezTo>
                  <a:pt x="4605662" y="51747"/>
                  <a:pt x="4434779" y="15280"/>
                  <a:pt x="4221785" y="27432"/>
                </a:cubicBezTo>
                <a:cubicBezTo>
                  <a:pt x="4008791" y="39584"/>
                  <a:pt x="3840732" y="43619"/>
                  <a:pt x="3653942" y="27432"/>
                </a:cubicBezTo>
                <a:cubicBezTo>
                  <a:pt x="3467152" y="11245"/>
                  <a:pt x="3368269" y="7352"/>
                  <a:pt x="3086100" y="27432"/>
                </a:cubicBezTo>
                <a:cubicBezTo>
                  <a:pt x="2803931" y="47512"/>
                  <a:pt x="2806928" y="31440"/>
                  <a:pt x="2567635" y="27432"/>
                </a:cubicBezTo>
                <a:cubicBezTo>
                  <a:pt x="2328342" y="23424"/>
                  <a:pt x="2237209" y="34202"/>
                  <a:pt x="1999793" y="27432"/>
                </a:cubicBezTo>
                <a:cubicBezTo>
                  <a:pt x="1762377" y="20662"/>
                  <a:pt x="1753212" y="30829"/>
                  <a:pt x="1530706" y="27432"/>
                </a:cubicBezTo>
                <a:cubicBezTo>
                  <a:pt x="1308200" y="24035"/>
                  <a:pt x="1164917" y="444"/>
                  <a:pt x="962863" y="27432"/>
                </a:cubicBezTo>
                <a:cubicBezTo>
                  <a:pt x="760809" y="54420"/>
                  <a:pt x="232406" y="72726"/>
                  <a:pt x="0" y="27432"/>
                </a:cubicBezTo>
                <a:cubicBezTo>
                  <a:pt x="-234" y="21031"/>
                  <a:pt x="-921" y="632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2174C61-4C2C-0C3C-A2D8-BDF4AF9BAC1B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6" name="Picture 2" descr="Flowchart of k-means clustering algorithm | Download ...">
            <a:extLst>
              <a:ext uri="{FF2B5EF4-FFF2-40B4-BE49-F238E27FC236}">
                <a16:creationId xmlns:a16="http://schemas.microsoft.com/office/drawing/2014/main" id="{9D055A41-E4D0-8A04-E034-189806041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5151" y="3078939"/>
            <a:ext cx="9677400" cy="650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C13A1E-D813-AEC9-925A-E0A38879180F}"/>
              </a:ext>
            </a:extLst>
          </p:cNvPr>
          <p:cNvSpPr txBox="1"/>
          <p:nvPr/>
        </p:nvSpPr>
        <p:spPr>
          <a:xfrm>
            <a:off x="958321" y="3267558"/>
            <a:ext cx="7560714" cy="612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 dirty="0" err="1">
                <a:latin typeface="Montserrat" panose="00000500000000000000" pitchFamily="2" charset="0"/>
              </a:rPr>
              <a:t>Menentukan</a:t>
            </a:r>
            <a:r>
              <a:rPr lang="en-US" sz="2400" dirty="0">
                <a:latin typeface="Montserrat" panose="00000500000000000000" pitchFamily="2" charset="0"/>
              </a:rPr>
              <a:t> jumlah cluster (</a:t>
            </a:r>
            <a:r>
              <a:rPr lang="en-US" sz="2400" b="1" dirty="0">
                <a:latin typeface="Montserrat" panose="00000500000000000000" pitchFamily="2" charset="0"/>
              </a:rPr>
              <a:t>k</a:t>
            </a:r>
            <a:r>
              <a:rPr lang="en-US" sz="2400" dirty="0">
                <a:latin typeface="Montserrat" panose="00000500000000000000" pitchFamily="2" charset="0"/>
              </a:rPr>
              <a:t>) dan </a:t>
            </a:r>
            <a:r>
              <a:rPr lang="en-US" sz="2400" dirty="0" err="1">
                <a:latin typeface="Montserrat" panose="00000500000000000000" pitchFamily="2" charset="0"/>
              </a:rPr>
              <a:t>memilih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b="1" dirty="0">
                <a:latin typeface="Montserrat" panose="00000500000000000000" pitchFamily="2" charset="0"/>
              </a:rPr>
              <a:t>centroid </a:t>
            </a:r>
            <a:r>
              <a:rPr lang="en-US" sz="2400" b="1" dirty="0" err="1">
                <a:latin typeface="Montserrat" panose="00000500000000000000" pitchFamily="2" charset="0"/>
              </a:rPr>
              <a:t>awal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secara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dirty="0" err="1">
                <a:latin typeface="Montserrat" panose="00000500000000000000" pitchFamily="2" charset="0"/>
              </a:rPr>
              <a:t>acak</a:t>
            </a:r>
            <a:r>
              <a:rPr lang="en-US" sz="2400" dirty="0">
                <a:latin typeface="Montserrat" panose="00000500000000000000" pitchFamily="2" charset="0"/>
              </a:rPr>
              <a:t>. 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 dirty="0">
                <a:latin typeface="Montserrat" panose="00000500000000000000" pitchFamily="2" charset="0"/>
              </a:rPr>
              <a:t>Setiap data </a:t>
            </a:r>
            <a:r>
              <a:rPr lang="en-US" sz="2400" dirty="0" err="1">
                <a:latin typeface="Montserrat" panose="00000500000000000000" pitchFamily="2" charset="0"/>
              </a:rPr>
              <a:t>diberi</a:t>
            </a:r>
            <a:r>
              <a:rPr lang="en-US" sz="2400" dirty="0">
                <a:latin typeface="Montserrat" panose="00000500000000000000" pitchFamily="2" charset="0"/>
              </a:rPr>
              <a:t> label </a:t>
            </a:r>
            <a:r>
              <a:rPr lang="en-US" sz="2400" dirty="0" err="1">
                <a:latin typeface="Montserrat" panose="00000500000000000000" pitchFamily="2" charset="0"/>
              </a:rPr>
              <a:t>berdasarkan</a:t>
            </a:r>
            <a:r>
              <a:rPr lang="en-US" sz="2400" dirty="0">
                <a:latin typeface="Montserrat" panose="00000500000000000000" pitchFamily="2" charset="0"/>
              </a:rPr>
              <a:t> </a:t>
            </a:r>
            <a:r>
              <a:rPr lang="en-US" sz="2400" b="1" dirty="0">
                <a:latin typeface="Montserrat" panose="00000500000000000000" pitchFamily="2" charset="0"/>
              </a:rPr>
              <a:t>centroid </a:t>
            </a:r>
            <a:r>
              <a:rPr lang="en-US" sz="2400" b="1" dirty="0" err="1">
                <a:latin typeface="Montserrat" panose="00000500000000000000" pitchFamily="2" charset="0"/>
              </a:rPr>
              <a:t>terdekat</a:t>
            </a:r>
            <a:r>
              <a:rPr lang="en-US" sz="2400" dirty="0">
                <a:latin typeface="Montserrat" panose="00000500000000000000" pitchFamily="2" charset="0"/>
              </a:rPr>
              <a:t> menggunakan </a:t>
            </a:r>
            <a:r>
              <a:rPr lang="en-US" sz="2400" dirty="0" err="1">
                <a:latin typeface="Montserrat" panose="00000500000000000000" pitchFamily="2" charset="0"/>
              </a:rPr>
              <a:t>jarak</a:t>
            </a:r>
            <a:r>
              <a:rPr lang="en-US" sz="2400" dirty="0">
                <a:latin typeface="Montserrat" panose="00000500000000000000" pitchFamily="2" charset="0"/>
              </a:rPr>
              <a:t> (biasanya Euclidean). </a:t>
            </a:r>
          </a:p>
          <a:p>
            <a:pPr marL="457200" indent="-457200" algn="just">
              <a:lnSpc>
                <a:spcPct val="150000"/>
              </a:lnSpc>
              <a:buAutoNum type="arabicPeriod"/>
            </a:pPr>
            <a:r>
              <a:rPr lang="en-US" sz="2400" dirty="0" err="1">
                <a:latin typeface="Montserrat" panose="00000500000000000000" pitchFamily="2" charset="0"/>
              </a:rPr>
              <a:t>Setelah</a:t>
            </a:r>
            <a:r>
              <a:rPr lang="en-US" sz="2400" dirty="0">
                <a:latin typeface="Montserrat" panose="00000500000000000000" pitchFamily="2" charset="0"/>
              </a:rPr>
              <a:t> itu, </a:t>
            </a:r>
            <a:r>
              <a:rPr lang="en-US" sz="2400" b="1" dirty="0">
                <a:latin typeface="Montserrat" panose="00000500000000000000" pitchFamily="2" charset="0"/>
              </a:rPr>
              <a:t>centroid baru </a:t>
            </a:r>
            <a:r>
              <a:rPr lang="en-US" sz="2400" b="1" dirty="0" err="1">
                <a:latin typeface="Montserrat" panose="00000500000000000000" pitchFamily="2" charset="0"/>
              </a:rPr>
              <a:t>dihitung</a:t>
            </a:r>
            <a:r>
              <a:rPr lang="en-US" sz="2400" dirty="0">
                <a:latin typeface="Montserrat" panose="00000500000000000000" pitchFamily="2" charset="0"/>
              </a:rPr>
              <a:t> sebagai rata-rata titik dalam masing-masing cluster. </a:t>
            </a:r>
            <a:r>
              <a:rPr lang="en-US" sz="2400" i="1" dirty="0">
                <a:latin typeface="Montserrat" panose="00000500000000000000" pitchFamily="2" charset="0"/>
              </a:rPr>
              <a:t>Proses ini </a:t>
            </a:r>
            <a:r>
              <a:rPr lang="en-US" sz="2400" i="1" dirty="0" err="1">
                <a:latin typeface="Montserrat" panose="00000500000000000000" pitchFamily="2" charset="0"/>
              </a:rPr>
              <a:t>diulang</a:t>
            </a:r>
            <a:r>
              <a:rPr lang="en-US" sz="2400" i="1" dirty="0">
                <a:latin typeface="Montserrat" panose="00000500000000000000" pitchFamily="2" charset="0"/>
              </a:rPr>
              <a:t>—</a:t>
            </a:r>
            <a:r>
              <a:rPr lang="en-US" sz="2400" i="1" dirty="0" err="1">
                <a:latin typeface="Montserrat" panose="00000500000000000000" pitchFamily="2" charset="0"/>
              </a:rPr>
              <a:t>menetapkan</a:t>
            </a:r>
            <a:r>
              <a:rPr lang="en-US" sz="2400" i="1" dirty="0">
                <a:latin typeface="Montserrat" panose="00000500000000000000" pitchFamily="2" charset="0"/>
              </a:rPr>
              <a:t> ulang data ke cluster </a:t>
            </a:r>
            <a:r>
              <a:rPr lang="en-US" sz="2400" i="1" dirty="0" err="1">
                <a:latin typeface="Montserrat" panose="00000500000000000000" pitchFamily="2" charset="0"/>
              </a:rPr>
              <a:t>terdekat</a:t>
            </a:r>
            <a:r>
              <a:rPr lang="en-US" sz="2400" i="1" dirty="0">
                <a:latin typeface="Montserrat" panose="00000500000000000000" pitchFamily="2" charset="0"/>
              </a:rPr>
              <a:t> </a:t>
            </a:r>
            <a:r>
              <a:rPr lang="en-US" sz="2400" i="1" dirty="0" err="1">
                <a:latin typeface="Montserrat" panose="00000500000000000000" pitchFamily="2" charset="0"/>
              </a:rPr>
              <a:t>lalu</a:t>
            </a:r>
            <a:r>
              <a:rPr lang="en-US" sz="2400" i="1" dirty="0">
                <a:latin typeface="Montserrat" panose="00000500000000000000" pitchFamily="2" charset="0"/>
              </a:rPr>
              <a:t> menghitung ulang centroid—</a:t>
            </a:r>
            <a:r>
              <a:rPr lang="en-US" sz="2400" i="1" dirty="0" err="1">
                <a:latin typeface="Montserrat" panose="00000500000000000000" pitchFamily="2" charset="0"/>
              </a:rPr>
              <a:t>hingga</a:t>
            </a:r>
            <a:r>
              <a:rPr lang="en-US" sz="2400" i="1" dirty="0">
                <a:latin typeface="Montserrat" panose="00000500000000000000" pitchFamily="2" charset="0"/>
              </a:rPr>
              <a:t> </a:t>
            </a:r>
            <a:r>
              <a:rPr lang="en-US" sz="2400" b="1" i="1" dirty="0">
                <a:latin typeface="Montserrat" panose="00000500000000000000" pitchFamily="2" charset="0"/>
              </a:rPr>
              <a:t>centroid tidak lagi berubah</a:t>
            </a:r>
            <a:r>
              <a:rPr lang="en-US" sz="2400" i="1" dirty="0">
                <a:latin typeface="Montserrat" panose="00000500000000000000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57002189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85B5C6-1B71-94E3-114B-26CBBFDD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7998" cy="102860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824895"/>
            <a:ext cx="1097278" cy="101019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118" y="920931"/>
            <a:ext cx="16361231" cy="284117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053F31D-C1D5-AE3D-13A6-74CE888A2E4D}"/>
              </a:ext>
            </a:extLst>
          </p:cNvPr>
          <p:cNvSpPr txBox="1"/>
          <p:nvPr/>
        </p:nvSpPr>
        <p:spPr>
          <a:xfrm>
            <a:off x="1565446" y="1214847"/>
            <a:ext cx="14914074" cy="2331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b="1" kern="1200" spc="191">
                <a:solidFill>
                  <a:schemeClr val="tx1"/>
                </a:solidFill>
                <a:latin typeface="+mj-lt"/>
                <a:ea typeface="+mj-ea"/>
                <a:cs typeface="+mj-cs"/>
                <a:sym typeface="Montserrat Classic Bold"/>
              </a:rPr>
              <a:t>K-MEANS Use Case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6220BF-871E-2EA8-0606-AB5C696AD28D}"/>
              </a:ext>
            </a:extLst>
          </p:cNvPr>
          <p:cNvSpPr txBox="1"/>
          <p:nvPr/>
        </p:nvSpPr>
        <p:spPr>
          <a:xfrm>
            <a:off x="1567542" y="4526283"/>
            <a:ext cx="14911978" cy="46869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just">
              <a:lnSpc>
                <a:spcPct val="160000"/>
              </a:lnSpc>
              <a:spcAft>
                <a:spcPts val="600"/>
              </a:spcAft>
            </a:pPr>
            <a:r>
              <a:rPr lang="en-US" sz="2000" b="1" dirty="0">
                <a:latin typeface="Montserrat" panose="00000500000000000000" pitchFamily="2" charset="0"/>
              </a:rPr>
              <a:t>1. Customer Segmentation</a:t>
            </a:r>
          </a:p>
          <a:p>
            <a:pPr algn="just">
              <a:lnSpc>
                <a:spcPct val="160000"/>
              </a:lnSpc>
              <a:spcAft>
                <a:spcPts val="600"/>
              </a:spcAft>
            </a:pPr>
            <a:r>
              <a:rPr lang="en-US" sz="2000" dirty="0">
                <a:latin typeface="Montserrat" panose="00000500000000000000" pitchFamily="2" charset="0"/>
              </a:rPr>
              <a:t>K-Means </a:t>
            </a:r>
            <a:r>
              <a:rPr lang="en-US" sz="2000" dirty="0" err="1">
                <a:latin typeface="Montserrat" panose="00000500000000000000" pitchFamily="2" charset="0"/>
              </a:rPr>
              <a:t>digunakan</a:t>
            </a:r>
            <a:r>
              <a:rPr lang="en-US" sz="2000" dirty="0">
                <a:latin typeface="Montserrat" panose="00000500000000000000" pitchFamily="2" charset="0"/>
              </a:rPr>
              <a:t> untuk </a:t>
            </a:r>
            <a:r>
              <a:rPr lang="en-US" sz="2000" b="1" dirty="0" err="1">
                <a:latin typeface="Montserrat" panose="00000500000000000000" pitchFamily="2" charset="0"/>
              </a:rPr>
              <a:t>mengelompokkan</a:t>
            </a:r>
            <a:r>
              <a:rPr lang="en-US" sz="2000" b="1" dirty="0">
                <a:latin typeface="Montserrat" panose="00000500000000000000" pitchFamily="2" charset="0"/>
              </a:rPr>
              <a:t> </a:t>
            </a:r>
            <a:r>
              <a:rPr lang="en-US" sz="2000" b="1" dirty="0" err="1">
                <a:latin typeface="Montserrat" panose="00000500000000000000" pitchFamily="2" charset="0"/>
              </a:rPr>
              <a:t>pelanggan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berdasarkan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perilaku</a:t>
            </a:r>
            <a:r>
              <a:rPr lang="en-US" sz="2000" dirty="0">
                <a:latin typeface="Montserrat" panose="00000500000000000000" pitchFamily="2" charset="0"/>
              </a:rPr>
              <a:t>, seperti </a:t>
            </a:r>
            <a:r>
              <a:rPr lang="en-US" sz="2000" dirty="0" err="1">
                <a:latin typeface="Montserrat" panose="00000500000000000000" pitchFamily="2" charset="0"/>
              </a:rPr>
              <a:t>kebiasaan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belanja</a:t>
            </a:r>
            <a:r>
              <a:rPr lang="en-US" sz="2000" dirty="0">
                <a:latin typeface="Montserrat" panose="00000500000000000000" pitchFamily="2" charset="0"/>
              </a:rPr>
              <a:t>, </a:t>
            </a:r>
            <a:r>
              <a:rPr lang="en-US" sz="2000" dirty="0" err="1">
                <a:latin typeface="Montserrat" panose="00000500000000000000" pitchFamily="2" charset="0"/>
              </a:rPr>
              <a:t>usia</a:t>
            </a:r>
            <a:r>
              <a:rPr lang="en-US" sz="2000" dirty="0">
                <a:latin typeface="Montserrat" panose="00000500000000000000" pitchFamily="2" charset="0"/>
              </a:rPr>
              <a:t>, </a:t>
            </a:r>
            <a:r>
              <a:rPr lang="en-US" sz="2000" dirty="0" err="1">
                <a:latin typeface="Montserrat" panose="00000500000000000000" pitchFamily="2" charset="0"/>
              </a:rPr>
              <a:t>atau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penghasilan</a:t>
            </a:r>
            <a:r>
              <a:rPr lang="en-US" sz="2000" dirty="0">
                <a:latin typeface="Montserrat" panose="00000500000000000000" pitchFamily="2" charset="0"/>
              </a:rPr>
              <a:t>. </a:t>
            </a:r>
            <a:r>
              <a:rPr lang="en-US" sz="2000" dirty="0" err="1">
                <a:latin typeface="Montserrat" panose="00000500000000000000" pitchFamily="2" charset="0"/>
              </a:rPr>
              <a:t>Misalnya</a:t>
            </a:r>
            <a:r>
              <a:rPr lang="en-US" sz="2000" dirty="0">
                <a:latin typeface="Montserrat" panose="00000500000000000000" pitchFamily="2" charset="0"/>
              </a:rPr>
              <a:t>, </a:t>
            </a:r>
            <a:r>
              <a:rPr lang="en-US" sz="2000" dirty="0" err="1">
                <a:latin typeface="Montserrat" panose="00000500000000000000" pitchFamily="2" charset="0"/>
              </a:rPr>
              <a:t>toko</a:t>
            </a:r>
            <a:r>
              <a:rPr lang="en-US" sz="2000" dirty="0">
                <a:latin typeface="Montserrat" panose="00000500000000000000" pitchFamily="2" charset="0"/>
              </a:rPr>
              <a:t> online dapat </a:t>
            </a:r>
            <a:r>
              <a:rPr lang="en-US" sz="2000" dirty="0" err="1">
                <a:latin typeface="Montserrat" panose="00000500000000000000" pitchFamily="2" charset="0"/>
              </a:rPr>
              <a:t>mengelompokkan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pelanggannya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menjadi</a:t>
            </a:r>
            <a:r>
              <a:rPr lang="en-US" sz="2000" dirty="0">
                <a:latin typeface="Montserrat" panose="00000500000000000000" pitchFamily="2" charset="0"/>
              </a:rPr>
              <a:t> "</a:t>
            </a:r>
            <a:r>
              <a:rPr lang="en-US" sz="2000" dirty="0" err="1">
                <a:latin typeface="Montserrat" panose="00000500000000000000" pitchFamily="2" charset="0"/>
              </a:rPr>
              <a:t>pembeli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aktif</a:t>
            </a:r>
            <a:r>
              <a:rPr lang="en-US" sz="2000" dirty="0">
                <a:latin typeface="Montserrat" panose="00000500000000000000" pitchFamily="2" charset="0"/>
              </a:rPr>
              <a:t>", "</a:t>
            </a:r>
            <a:r>
              <a:rPr lang="en-US" sz="2000" dirty="0" err="1">
                <a:latin typeface="Montserrat" panose="00000500000000000000" pitchFamily="2" charset="0"/>
              </a:rPr>
              <a:t>pembeli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musiman</a:t>
            </a:r>
            <a:r>
              <a:rPr lang="en-US" sz="2000" dirty="0">
                <a:latin typeface="Montserrat" panose="00000500000000000000" pitchFamily="2" charset="0"/>
              </a:rPr>
              <a:t>", dan "</a:t>
            </a:r>
            <a:r>
              <a:rPr lang="en-US" sz="2000" dirty="0" err="1">
                <a:latin typeface="Montserrat" panose="00000500000000000000" pitchFamily="2" charset="0"/>
              </a:rPr>
              <a:t>pembeli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pasif</a:t>
            </a:r>
            <a:r>
              <a:rPr lang="en-US" sz="2000" dirty="0">
                <a:latin typeface="Montserrat" panose="00000500000000000000" pitchFamily="2" charset="0"/>
              </a:rPr>
              <a:t>".</a:t>
            </a:r>
          </a:p>
          <a:p>
            <a:pPr algn="just">
              <a:lnSpc>
                <a:spcPct val="160000"/>
              </a:lnSpc>
              <a:spcAft>
                <a:spcPts val="600"/>
              </a:spcAft>
            </a:pPr>
            <a:r>
              <a:rPr lang="en-US" sz="2000" b="1" dirty="0">
                <a:latin typeface="Montserrat" panose="00000500000000000000" pitchFamily="2" charset="0"/>
              </a:rPr>
              <a:t>2. Market Segmentation</a:t>
            </a:r>
          </a:p>
          <a:p>
            <a:pPr algn="just">
              <a:lnSpc>
                <a:spcPct val="160000"/>
              </a:lnSpc>
              <a:spcAft>
                <a:spcPts val="600"/>
              </a:spcAft>
            </a:pPr>
            <a:r>
              <a:rPr lang="en-US" sz="2000" dirty="0">
                <a:latin typeface="Montserrat" panose="00000500000000000000" pitchFamily="2" charset="0"/>
              </a:rPr>
              <a:t>Perusahaan dapat </a:t>
            </a:r>
            <a:r>
              <a:rPr lang="en-US" sz="2000" dirty="0" err="1">
                <a:latin typeface="Montserrat" panose="00000500000000000000" pitchFamily="2" charset="0"/>
              </a:rPr>
              <a:t>membagi</a:t>
            </a:r>
            <a:r>
              <a:rPr lang="en-US" sz="2000" dirty="0">
                <a:latin typeface="Montserrat" panose="00000500000000000000" pitchFamily="2" charset="0"/>
              </a:rPr>
              <a:t> pasar </a:t>
            </a:r>
            <a:r>
              <a:rPr lang="en-US" sz="2000" dirty="0" err="1">
                <a:latin typeface="Montserrat" panose="00000500000000000000" pitchFamily="2" charset="0"/>
              </a:rPr>
              <a:t>menjadi</a:t>
            </a:r>
            <a:r>
              <a:rPr lang="en-US" sz="2000" dirty="0">
                <a:latin typeface="Montserrat" panose="00000500000000000000" pitchFamily="2" charset="0"/>
              </a:rPr>
              <a:t> beberapa </a:t>
            </a:r>
            <a:r>
              <a:rPr lang="en-US" sz="2000" b="1" dirty="0" err="1">
                <a:latin typeface="Montserrat" panose="00000500000000000000" pitchFamily="2" charset="0"/>
              </a:rPr>
              <a:t>segmen</a:t>
            </a:r>
            <a:r>
              <a:rPr lang="en-US" sz="2000" b="1" dirty="0">
                <a:latin typeface="Montserrat" panose="00000500000000000000" pitchFamily="2" charset="0"/>
              </a:rPr>
              <a:t> target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berdasarkan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preferensi</a:t>
            </a:r>
            <a:r>
              <a:rPr lang="en-US" sz="2000" dirty="0">
                <a:latin typeface="Montserrat" panose="00000500000000000000" pitchFamily="2" charset="0"/>
              </a:rPr>
              <a:t>, wilayah </a:t>
            </a:r>
            <a:r>
              <a:rPr lang="en-US" sz="2000" dirty="0" err="1">
                <a:latin typeface="Montserrat" panose="00000500000000000000" pitchFamily="2" charset="0"/>
              </a:rPr>
              <a:t>geografis</a:t>
            </a:r>
            <a:r>
              <a:rPr lang="en-US" sz="2000" dirty="0">
                <a:latin typeface="Montserrat" panose="00000500000000000000" pitchFamily="2" charset="0"/>
              </a:rPr>
              <a:t>, </a:t>
            </a:r>
            <a:r>
              <a:rPr lang="en-US" sz="2000" dirty="0" err="1">
                <a:latin typeface="Montserrat" panose="00000500000000000000" pitchFamily="2" charset="0"/>
              </a:rPr>
              <a:t>atau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kebutuhan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konsumen</a:t>
            </a:r>
            <a:r>
              <a:rPr lang="en-US" sz="2000" dirty="0">
                <a:latin typeface="Montserrat" panose="00000500000000000000" pitchFamily="2" charset="0"/>
              </a:rPr>
              <a:t>, sehingga strategi </a:t>
            </a:r>
            <a:r>
              <a:rPr lang="en-US" sz="2000" dirty="0" err="1">
                <a:latin typeface="Montserrat" panose="00000500000000000000" pitchFamily="2" charset="0"/>
              </a:rPr>
              <a:t>pemasaran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bisa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lebih</a:t>
            </a:r>
            <a:r>
              <a:rPr lang="en-US" sz="2000" dirty="0">
                <a:latin typeface="Montserrat" panose="00000500000000000000" pitchFamily="2" charset="0"/>
              </a:rPr>
              <a:t> tepat </a:t>
            </a:r>
            <a:r>
              <a:rPr lang="en-US" sz="2000" dirty="0" err="1">
                <a:latin typeface="Montserrat" panose="00000500000000000000" pitchFamily="2" charset="0"/>
              </a:rPr>
              <a:t>sasaran</a:t>
            </a:r>
            <a:r>
              <a:rPr lang="en-US" sz="2000" dirty="0">
                <a:latin typeface="Montserrat" panose="00000500000000000000" pitchFamily="2" charset="0"/>
              </a:rPr>
              <a:t>.</a:t>
            </a:r>
          </a:p>
          <a:p>
            <a:pPr algn="just">
              <a:lnSpc>
                <a:spcPct val="160000"/>
              </a:lnSpc>
              <a:spcAft>
                <a:spcPts val="600"/>
              </a:spcAft>
            </a:pPr>
            <a:r>
              <a:rPr lang="en-US" sz="2000" b="1" dirty="0">
                <a:latin typeface="Montserrat" panose="00000500000000000000" pitchFamily="2" charset="0"/>
              </a:rPr>
              <a:t>3. Image Compression</a:t>
            </a:r>
          </a:p>
          <a:p>
            <a:pPr algn="just">
              <a:lnSpc>
                <a:spcPct val="160000"/>
              </a:lnSpc>
              <a:spcAft>
                <a:spcPts val="600"/>
              </a:spcAft>
            </a:pPr>
            <a:r>
              <a:rPr lang="en-US" sz="2000" dirty="0">
                <a:latin typeface="Montserrat" panose="00000500000000000000" pitchFamily="2" charset="0"/>
              </a:rPr>
              <a:t>Dengan </a:t>
            </a:r>
            <a:r>
              <a:rPr lang="en-US" sz="2000" dirty="0" err="1">
                <a:latin typeface="Montserrat" panose="00000500000000000000" pitchFamily="2" charset="0"/>
              </a:rPr>
              <a:t>mengelompokkan</a:t>
            </a:r>
            <a:r>
              <a:rPr lang="en-US" sz="2000" dirty="0">
                <a:latin typeface="Montserrat" panose="00000500000000000000" pitchFamily="2" charset="0"/>
              </a:rPr>
              <a:t> warna-warna </a:t>
            </a:r>
            <a:r>
              <a:rPr lang="en-US" sz="2000" dirty="0" err="1">
                <a:latin typeface="Montserrat" panose="00000500000000000000" pitchFamily="2" charset="0"/>
              </a:rPr>
              <a:t>piksel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gambar</a:t>
            </a:r>
            <a:r>
              <a:rPr lang="en-US" sz="2000" dirty="0">
                <a:latin typeface="Montserrat" panose="00000500000000000000" pitchFamily="2" charset="0"/>
              </a:rPr>
              <a:t> ke dalam beberapa </a:t>
            </a:r>
            <a:r>
              <a:rPr lang="en-US" sz="2000" b="1" dirty="0">
                <a:latin typeface="Montserrat" panose="00000500000000000000" pitchFamily="2" charset="0"/>
              </a:rPr>
              <a:t>cluster warna </a:t>
            </a:r>
            <a:r>
              <a:rPr lang="en-US" sz="2000" b="1" dirty="0" err="1">
                <a:latin typeface="Montserrat" panose="00000500000000000000" pitchFamily="2" charset="0"/>
              </a:rPr>
              <a:t>utama</a:t>
            </a:r>
            <a:r>
              <a:rPr lang="en-US" sz="2000" dirty="0">
                <a:latin typeface="Montserrat" panose="00000500000000000000" pitchFamily="2" charset="0"/>
              </a:rPr>
              <a:t>, K-Means dapat membantu </a:t>
            </a:r>
            <a:r>
              <a:rPr lang="en-US" sz="2000" b="1" dirty="0" err="1">
                <a:latin typeface="Montserrat" panose="00000500000000000000" pitchFamily="2" charset="0"/>
              </a:rPr>
              <a:t>mengurangi</a:t>
            </a:r>
            <a:r>
              <a:rPr lang="en-US" sz="2000" b="1" dirty="0">
                <a:latin typeface="Montserrat" panose="00000500000000000000" pitchFamily="2" charset="0"/>
              </a:rPr>
              <a:t> </a:t>
            </a:r>
            <a:r>
              <a:rPr lang="en-US" sz="2000" b="1" dirty="0" err="1">
                <a:latin typeface="Montserrat" panose="00000500000000000000" pitchFamily="2" charset="0"/>
              </a:rPr>
              <a:t>ukuran</a:t>
            </a:r>
            <a:r>
              <a:rPr lang="en-US" sz="2000" b="1" dirty="0">
                <a:latin typeface="Montserrat" panose="00000500000000000000" pitchFamily="2" charset="0"/>
              </a:rPr>
              <a:t> </a:t>
            </a:r>
            <a:r>
              <a:rPr lang="en-US" sz="2000" b="1" dirty="0" err="1">
                <a:latin typeface="Montserrat" panose="00000500000000000000" pitchFamily="2" charset="0"/>
              </a:rPr>
              <a:t>gambar</a:t>
            </a:r>
            <a:r>
              <a:rPr lang="en-US" sz="2000" dirty="0">
                <a:latin typeface="Montserrat" panose="00000500000000000000" pitchFamily="2" charset="0"/>
              </a:rPr>
              <a:t> tanpa </a:t>
            </a:r>
            <a:r>
              <a:rPr lang="en-US" sz="2000" dirty="0" err="1">
                <a:latin typeface="Montserrat" panose="00000500000000000000" pitchFamily="2" charset="0"/>
              </a:rPr>
              <a:t>mengorbankan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banyak</a:t>
            </a:r>
            <a:r>
              <a:rPr lang="en-US" sz="2000" dirty="0">
                <a:latin typeface="Montserrat" panose="00000500000000000000" pitchFamily="2" charset="0"/>
              </a:rPr>
              <a:t> </a:t>
            </a:r>
            <a:r>
              <a:rPr lang="en-US" sz="2000" dirty="0" err="1">
                <a:latin typeface="Montserrat" panose="00000500000000000000" pitchFamily="2" charset="0"/>
              </a:rPr>
              <a:t>kualitas</a:t>
            </a:r>
            <a:r>
              <a:rPr lang="en-US" sz="2000" dirty="0">
                <a:latin typeface="Montserrat" panose="00000500000000000000" pitchFamily="2" charset="0"/>
              </a:rPr>
              <a:t> visual.</a:t>
            </a:r>
          </a:p>
          <a:p>
            <a:pPr indent="-228600" algn="just">
              <a:lnSpc>
                <a:spcPct val="16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Montserrat" panose="00000500000000000000" pitchFamily="2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57300" y="9727969"/>
            <a:ext cx="157734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 5">
            <a:extLst>
              <a:ext uri="{FF2B5EF4-FFF2-40B4-BE49-F238E27FC236}">
                <a16:creationId xmlns:a16="http://schemas.microsoft.com/office/drawing/2014/main" id="{C960C1D2-2B1E-BFB2-490A-9BB5464110AF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02849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6463C-0A27-0E29-9B8D-F895D94EC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923F937-14D8-439D-C587-BE0C88F36233}"/>
              </a:ext>
            </a:extLst>
          </p:cNvPr>
          <p:cNvGrpSpPr/>
          <p:nvPr/>
        </p:nvGrpSpPr>
        <p:grpSpPr>
          <a:xfrm>
            <a:off x="17016492" y="-180826"/>
            <a:ext cx="1271508" cy="10467826"/>
            <a:chOff x="0" y="-47625"/>
            <a:chExt cx="334883" cy="27569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288DAC4-1853-9BEC-256F-674D4CAE8A75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4F5C7D2-5AFC-AA6F-C290-F7C550827A71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C031CB18-7BC5-F269-5261-D9C423A79B5D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2AC36AE-AC0F-AB3E-ABA0-7E583FEED866}"/>
              </a:ext>
            </a:extLst>
          </p:cNvPr>
          <p:cNvSpPr txBox="1"/>
          <p:nvPr/>
        </p:nvSpPr>
        <p:spPr>
          <a:xfrm>
            <a:off x="2968011" y="1104918"/>
            <a:ext cx="11583628" cy="8173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5792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DBSCAN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A2DEBF-6C55-1A5E-A672-B5A1069B6C3A}"/>
              </a:ext>
            </a:extLst>
          </p:cNvPr>
          <p:cNvSpPr txBox="1"/>
          <p:nvPr/>
        </p:nvSpPr>
        <p:spPr>
          <a:xfrm>
            <a:off x="751417" y="2400300"/>
            <a:ext cx="15660608" cy="4464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sz="2400" b="1" i="0" dirty="0">
                <a:effectLst/>
                <a:latin typeface="Montserrat" panose="00000500000000000000" pitchFamily="2" charset="0"/>
              </a:rPr>
              <a:t>DBSCAN (</a:t>
            </a:r>
            <a:r>
              <a:rPr lang="en-US" sz="2400" b="1" i="1" dirty="0">
                <a:effectLst/>
                <a:latin typeface="Montserrat" panose="00000500000000000000" pitchFamily="2" charset="0"/>
              </a:rPr>
              <a:t>density-based spatial clustering of applications with noise</a:t>
            </a:r>
            <a:r>
              <a:rPr lang="en-US" sz="2400" b="1" i="0" dirty="0">
                <a:effectLst/>
                <a:latin typeface="Montserrat" panose="00000500000000000000" pitchFamily="2" charset="0"/>
              </a:rPr>
              <a:t>) 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adalah algoritma clustering yang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mengelompokkan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data </a:t>
            </a:r>
            <a:r>
              <a:rPr lang="en-US" sz="2400" b="1" i="0" dirty="0" err="1">
                <a:effectLst/>
                <a:latin typeface="Montserrat" panose="00000500000000000000" pitchFamily="2" charset="0"/>
              </a:rPr>
              <a:t>berdasarkan</a:t>
            </a:r>
            <a:r>
              <a:rPr lang="en-US" sz="2400" b="1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Montserrat" panose="00000500000000000000" pitchFamily="2" charset="0"/>
              </a:rPr>
              <a:t>kepadatan</a:t>
            </a:r>
            <a:r>
              <a:rPr lang="en-US" sz="2400" b="1" i="0" dirty="0">
                <a:effectLst/>
                <a:latin typeface="Montserrat" panose="00000500000000000000" pitchFamily="2" charset="0"/>
              </a:rPr>
              <a:t> titik-titik di </a:t>
            </a:r>
            <a:r>
              <a:rPr lang="en-US" sz="2400" b="1" i="0" dirty="0" err="1">
                <a:effectLst/>
                <a:latin typeface="Montserrat" panose="00000500000000000000" pitchFamily="2" charset="0"/>
              </a:rPr>
              <a:t>ruang</a:t>
            </a:r>
            <a:r>
              <a:rPr lang="en-US" sz="2400" b="1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Montserrat" panose="00000500000000000000" pitchFamily="2" charset="0"/>
              </a:rPr>
              <a:t>fitur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 tanpa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memerlukan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jumlah cluster yang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ditentukan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sebelumnya. </a:t>
            </a:r>
          </a:p>
          <a:p>
            <a:pPr algn="l">
              <a:lnSpc>
                <a:spcPct val="150000"/>
              </a:lnSpc>
              <a:buNone/>
            </a:pPr>
            <a:endParaRPr lang="en-US" sz="2400" b="0" i="0" dirty="0">
              <a:effectLst/>
              <a:latin typeface="Montserrat" panose="00000500000000000000" pitchFamily="2" charset="0"/>
            </a:endParaRPr>
          </a:p>
          <a:p>
            <a:pPr algn="l">
              <a:lnSpc>
                <a:spcPct val="150000"/>
              </a:lnSpc>
            </a:pPr>
            <a:r>
              <a:rPr lang="en-US" sz="2400" b="0" i="0" dirty="0">
                <a:effectLst/>
                <a:latin typeface="Montserrat" panose="00000500000000000000" pitchFamily="2" charset="0"/>
              </a:rPr>
              <a:t>Algoritma ini menggunakan dua parameter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utama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:</a:t>
            </a:r>
            <a:r>
              <a:rPr lang="en-US" sz="2400" b="1" i="0" dirty="0">
                <a:effectLst/>
                <a:latin typeface="Montserrat" panose="00000500000000000000" pitchFamily="2" charset="0"/>
              </a:rPr>
              <a:t> </a:t>
            </a:r>
            <a:r>
              <a:rPr lang="en-US" sz="2400" b="1" i="1" dirty="0">
                <a:effectLst/>
                <a:latin typeface="Montserrat" panose="00000500000000000000" pitchFamily="2" charset="0"/>
              </a:rPr>
              <a:t>Epsilon </a:t>
            </a:r>
            <a:r>
              <a:rPr lang="en-US" sz="2400" b="1" i="0" dirty="0">
                <a:effectLst/>
                <a:latin typeface="Montserrat" panose="00000500000000000000" pitchFamily="2" charset="0"/>
              </a:rPr>
              <a:t>(</a:t>
            </a:r>
            <a:r>
              <a:rPr lang="el-GR" sz="2400" b="1" i="0" dirty="0">
                <a:effectLst/>
                <a:latin typeface="Open Sans" panose="020B0606030504020204" pitchFamily="34" charset="0"/>
              </a:rPr>
              <a:t>ε) </a:t>
            </a:r>
            <a:r>
              <a:rPr lang="en-US" sz="2400" b="1" i="0" dirty="0">
                <a:effectLst/>
                <a:latin typeface="Montserrat" panose="00000500000000000000" pitchFamily="2" charset="0"/>
              </a:rPr>
              <a:t>dan </a:t>
            </a:r>
            <a:r>
              <a:rPr lang="en-US" sz="2400" b="1" i="0" dirty="0" err="1">
                <a:effectLst/>
                <a:latin typeface="Montserrat" panose="00000500000000000000" pitchFamily="2" charset="0"/>
              </a:rPr>
              <a:t>MinPts</a:t>
            </a:r>
            <a:r>
              <a:rPr lang="en-US" sz="2400" b="1" i="0" dirty="0">
                <a:effectLst/>
                <a:latin typeface="Montserrat" panose="00000500000000000000" pitchFamily="2" charset="0"/>
              </a:rPr>
              <a:t>. 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Epsilon adalah</a:t>
            </a:r>
            <a:r>
              <a:rPr lang="en-US" sz="2400" b="1" i="0" dirty="0">
                <a:effectLst/>
                <a:latin typeface="Montserrat" panose="00000500000000000000" pitchFamily="2" charset="0"/>
              </a:rPr>
              <a:t> </a:t>
            </a:r>
            <a:r>
              <a:rPr lang="en-US" sz="2400" b="1" i="0" dirty="0" err="1">
                <a:effectLst/>
                <a:latin typeface="Montserrat" panose="00000500000000000000" pitchFamily="2" charset="0"/>
              </a:rPr>
              <a:t>jarak</a:t>
            </a:r>
            <a:r>
              <a:rPr lang="en-US" sz="2400" b="1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1" i="0" dirty="0" err="1">
                <a:effectLst/>
                <a:latin typeface="Montserrat" panose="00000500000000000000" pitchFamily="2" charset="0"/>
              </a:rPr>
              <a:t>maksimum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 yang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digunakan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untuk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menentukan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bahwa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dua titik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dianggap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saling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berdekatan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dan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berada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dalam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satu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cluster. Adapun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MinPts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adalah </a:t>
            </a:r>
            <a:r>
              <a:rPr lang="en-US" sz="2400" b="1" i="0" dirty="0">
                <a:effectLst/>
                <a:latin typeface="Montserrat" panose="00000500000000000000" pitchFamily="2" charset="0"/>
              </a:rPr>
              <a:t>jumlah minimum titik 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yang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diperlukan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di dalam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lingkaran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</a:t>
            </a:r>
            <a:r>
              <a:rPr lang="el-GR" sz="2400" b="0" i="0" dirty="0">
                <a:effectLst/>
                <a:latin typeface="Open Sans" panose="020B0606030504020204" pitchFamily="34" charset="0"/>
              </a:rPr>
              <a:t>ε 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untuk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membentuk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cluster </a:t>
            </a:r>
            <a:r>
              <a:rPr lang="en-US" sz="2400" b="0" i="0" dirty="0" err="1">
                <a:effectLst/>
                <a:latin typeface="Montserrat" panose="00000500000000000000" pitchFamily="2" charset="0"/>
              </a:rPr>
              <a:t>secara</a:t>
            </a:r>
            <a:r>
              <a:rPr lang="en-US" sz="2400" b="0" i="0" dirty="0">
                <a:effectLst/>
                <a:latin typeface="Montserrat" panose="00000500000000000000" pitchFamily="2" charset="0"/>
              </a:rPr>
              <a:t> valid.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0ED71F9-B46C-A2FD-5631-E1832DC68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0" y="6682910"/>
            <a:ext cx="5029200" cy="295465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260824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70CF55-3986-C4A0-5E33-5DB087186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1849D1C-DAF3-5563-2E1A-AEDF8AA3052C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1D819A8-C75E-6FD0-DF32-587ED2CC102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8F3FEB2-0787-94AA-8063-837184A4E54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7E05747-448D-6B11-EF14-D53B80FC5DD5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4C14C21-E07D-85A0-0E68-3BC64A80233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287112B-A302-C442-9A90-E52FEE2CC5A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5887A997-68A2-62CB-66FD-A5929FEE23F1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19C9DA4A-AA77-4AD3-72BF-12935A1FCD48}"/>
              </a:ext>
            </a:extLst>
          </p:cNvPr>
          <p:cNvSpPr txBox="1"/>
          <p:nvPr/>
        </p:nvSpPr>
        <p:spPr>
          <a:xfrm>
            <a:off x="1277237" y="3371261"/>
            <a:ext cx="15773400" cy="2609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6600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Clustering Evaluation</a:t>
            </a:r>
          </a:p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endParaRPr lang="en-US" sz="4400" b="1" spc="191" dirty="0">
              <a:solidFill>
                <a:srgbClr val="08377C"/>
              </a:solidFill>
              <a:latin typeface="Montserrat Classic Bold"/>
              <a:sym typeface="Montserrat Classic Bold"/>
            </a:endParaRPr>
          </a:p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4400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Elbow Method and </a:t>
            </a:r>
            <a:r>
              <a:rPr lang="en-US" sz="4400" b="1" dirty="0">
                <a:solidFill>
                  <a:srgbClr val="08377C"/>
                </a:solidFill>
                <a:latin typeface="Montserrat" panose="00000500000000000000" pitchFamily="2" charset="0"/>
              </a:rPr>
              <a:t>Silhouette Score</a:t>
            </a:r>
            <a:endParaRPr lang="en-US" sz="4400" b="1" spc="191" dirty="0">
              <a:solidFill>
                <a:srgbClr val="08377C"/>
              </a:solidFill>
              <a:latin typeface="Montserrat" panose="00000500000000000000" pitchFamily="2" charset="0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9" name="AutoShape 20">
            <a:extLst>
              <a:ext uri="{FF2B5EF4-FFF2-40B4-BE49-F238E27FC236}">
                <a16:creationId xmlns:a16="http://schemas.microsoft.com/office/drawing/2014/main" id="{33A41A3E-BC32-6B30-7D82-A5EE84033ECF}"/>
              </a:ext>
            </a:extLst>
          </p:cNvPr>
          <p:cNvSpPr/>
          <p:nvPr/>
        </p:nvSpPr>
        <p:spPr>
          <a:xfrm>
            <a:off x="4389120" y="4838700"/>
            <a:ext cx="9509760" cy="0"/>
          </a:xfrm>
          <a:prstGeom prst="line">
            <a:avLst/>
          </a:prstGeom>
          <a:ln w="38100" cap="flat">
            <a:solidFill>
              <a:srgbClr val="0837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748316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B1C28D-9055-00F2-0443-6E6014EB1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1624" y="547687"/>
            <a:ext cx="16751170" cy="3133976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F5C58FF-0763-AC03-D3A4-16CF13A4E4E3}"/>
              </a:ext>
            </a:extLst>
          </p:cNvPr>
          <p:cNvSpPr txBox="1"/>
          <p:nvPr/>
        </p:nvSpPr>
        <p:spPr>
          <a:xfrm>
            <a:off x="1577340" y="880233"/>
            <a:ext cx="5486400" cy="2468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spc="191" dirty="0">
                <a:latin typeface="Montserrat" panose="00000500000000000000" pitchFamily="2" charset="0"/>
                <a:ea typeface="+mj-ea"/>
                <a:cs typeface="+mj-cs"/>
                <a:sym typeface="Montserrat Classic Bold"/>
              </a:rPr>
              <a:t>WHAT Is Elbow Method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5612" y="1586608"/>
            <a:ext cx="192024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365312" y="2100957"/>
            <a:ext cx="219456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8DDA79-C272-5BF2-B8FA-9E2FBA7DAC5B}"/>
              </a:ext>
            </a:extLst>
          </p:cNvPr>
          <p:cNvSpPr txBox="1"/>
          <p:nvPr/>
        </p:nvSpPr>
        <p:spPr>
          <a:xfrm>
            <a:off x="7875159" y="880233"/>
            <a:ext cx="9160113" cy="2468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6350" marR="2540">
              <a:lnSpc>
                <a:spcPct val="150000"/>
              </a:lnSpc>
              <a:buSzPts val="2400"/>
            </a:pPr>
            <a:r>
              <a:rPr lang="en-US" sz="26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Mencari</a:t>
            </a:r>
            <a:r>
              <a:rPr lang="en-US" sz="26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</a:t>
            </a:r>
            <a:r>
              <a:rPr lang="en-US" sz="26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nilai</a:t>
            </a:r>
            <a:r>
              <a:rPr lang="en-US" sz="26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</a:t>
            </a:r>
            <a:r>
              <a:rPr lang="en-US" sz="2600" i="1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k </a:t>
            </a:r>
            <a:r>
              <a:rPr lang="en-US" sz="26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yang optimal dengan </a:t>
            </a:r>
            <a:r>
              <a:rPr lang="en-US" sz="26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cara</a:t>
            </a:r>
            <a:r>
              <a:rPr lang="en-US" sz="26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</a:t>
            </a:r>
            <a:r>
              <a:rPr lang="en-US" sz="26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melakukan</a:t>
            </a:r>
            <a:r>
              <a:rPr lang="en-US" sz="26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plotting </a:t>
            </a:r>
            <a:r>
              <a:rPr lang="en-US" sz="26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nilai</a:t>
            </a:r>
            <a:r>
              <a:rPr lang="en-US" sz="26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</a:t>
            </a:r>
            <a:r>
              <a:rPr lang="en-US" sz="26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varians</a:t>
            </a:r>
            <a:r>
              <a:rPr lang="en-US" sz="26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yang </a:t>
            </a:r>
            <a:r>
              <a:rPr lang="en-US" sz="26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dilingkupi</a:t>
            </a:r>
            <a:r>
              <a:rPr lang="en-US" sz="26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oleh jumlah </a:t>
            </a:r>
            <a:r>
              <a:rPr lang="en-US" sz="26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dari</a:t>
            </a:r>
            <a:r>
              <a:rPr lang="en-US" sz="26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 setiap </a:t>
            </a:r>
            <a:r>
              <a:rPr lang="en-US" sz="2600" i="1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k</a:t>
            </a:r>
            <a:r>
              <a:rPr lang="en-US" sz="26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-</a:t>
            </a:r>
            <a:r>
              <a:rPr lang="en-US" sz="2600" dirty="0" err="1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klaster</a:t>
            </a:r>
            <a:r>
              <a:rPr lang="en-US" sz="2600" dirty="0">
                <a:latin typeface="Montserrat" panose="00000500000000000000" pitchFamily="2" charset="0"/>
                <a:ea typeface="Trebuchet MS"/>
                <a:cs typeface="Trebuchet MS"/>
                <a:sym typeface="Wingdings" pitchFamily="2" charset="2"/>
              </a:rPr>
              <a:t>.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12A94E6-67FF-57E2-6391-32F4D3A4E870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821CC418-8769-C811-30E9-60072AF2DD15}"/>
              </a:ext>
            </a:extLst>
          </p:cNvPr>
          <p:cNvGrpSpPr/>
          <p:nvPr/>
        </p:nvGrpSpPr>
        <p:grpSpPr>
          <a:xfrm>
            <a:off x="4630422" y="4094095"/>
            <a:ext cx="634768" cy="5225796"/>
            <a:chOff x="0" y="-47625"/>
            <a:chExt cx="334883" cy="27569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8C981F4-2517-6D4B-E414-31F81D2E0664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C861031-17EB-B448-1DF6-3C0F061729C9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6146" name="Picture 2">
            <a:extLst>
              <a:ext uri="{FF2B5EF4-FFF2-40B4-BE49-F238E27FC236}">
                <a16:creationId xmlns:a16="http://schemas.microsoft.com/office/drawing/2014/main" id="{9FA76660-166D-5DD9-AE8D-64C447B855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81" t="16667" r="13098" b="5324"/>
          <a:stretch/>
        </p:blipFill>
        <p:spPr bwMode="auto">
          <a:xfrm>
            <a:off x="7527108" y="4098328"/>
            <a:ext cx="7696200" cy="5819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3368221"/>
      </p:ext>
    </p:extLst>
  </p:cSld>
  <p:clrMapOvr>
    <a:masterClrMapping/>
  </p:clrMapOvr>
  <p:transition spd="slow">
    <p:cover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2F1D8B-0E72-88A4-C264-461995930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127606D-9578-3CA4-04E3-4BCFA22AB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342057F-AF47-9BFD-F492-32A2A2EFA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1624" y="547687"/>
            <a:ext cx="16751170" cy="3133976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0CD16F4-25FD-93A3-5908-605EB76C121F}"/>
              </a:ext>
            </a:extLst>
          </p:cNvPr>
          <p:cNvSpPr txBox="1"/>
          <p:nvPr/>
        </p:nvSpPr>
        <p:spPr>
          <a:xfrm>
            <a:off x="1577340" y="880233"/>
            <a:ext cx="5486400" cy="2468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spc="191" dirty="0">
                <a:latin typeface="Montserrat" panose="00000500000000000000" pitchFamily="2" charset="0"/>
                <a:ea typeface="+mj-ea"/>
                <a:cs typeface="+mj-cs"/>
                <a:sym typeface="Montserrat Classic Bold"/>
              </a:rPr>
              <a:t>WHAT Is </a:t>
            </a:r>
            <a:r>
              <a:rPr lang="en-US" sz="4800" b="1" dirty="0">
                <a:latin typeface="Montserrat" panose="00000500000000000000" pitchFamily="2" charset="0"/>
              </a:rPr>
              <a:t>Silhouette Score</a:t>
            </a:r>
            <a:endParaRPr lang="en-US" sz="4800" b="1" spc="191" dirty="0">
              <a:latin typeface="Montserrat" panose="00000500000000000000" pitchFamily="2" charset="0"/>
              <a:ea typeface="+mj-ea"/>
              <a:cs typeface="+mj-cs"/>
              <a:sym typeface="Montserrat Classic Bold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37D568-E75F-30B5-7BF4-49EBEDBEF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5612" y="1586608"/>
            <a:ext cx="192024" cy="10561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BA90E5-3843-D385-4DA7-3FD494F91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365312" y="2100957"/>
            <a:ext cx="219456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28C331-FFF0-D8D1-2148-8B8C0D14573C}"/>
              </a:ext>
            </a:extLst>
          </p:cNvPr>
          <p:cNvSpPr txBox="1"/>
          <p:nvPr/>
        </p:nvSpPr>
        <p:spPr>
          <a:xfrm>
            <a:off x="7875159" y="880233"/>
            <a:ext cx="9160113" cy="2468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marL="6350" marR="2540">
              <a:lnSpc>
                <a:spcPct val="170000"/>
              </a:lnSpc>
              <a:buSzPts val="2400"/>
            </a:pPr>
            <a:r>
              <a:rPr lang="en-US" sz="2800" b="1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Silhoutte</a:t>
            </a:r>
            <a:r>
              <a:rPr lang="en-US" sz="2800" b="1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score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menjelaskan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ukuran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kemiripan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suatu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data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poin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terhadap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klasternya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dengan data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poin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tersebut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terhadap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klaster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lain</a:t>
            </a:r>
          </a:p>
          <a:p>
            <a:pPr marL="6350" marR="2540">
              <a:lnSpc>
                <a:spcPct val="170000"/>
              </a:lnSpc>
              <a:buSzPts val="2400"/>
            </a:pPr>
            <a:endParaRPr lang="en-US" sz="2800" dirty="0">
              <a:latin typeface="Montserrat" panose="00000500000000000000" pitchFamily="2" charset="0"/>
              <a:ea typeface="Trebuchet MS"/>
              <a:cs typeface="Trebuchet MS"/>
              <a:sym typeface="Trebuchet MS"/>
            </a:endParaRPr>
          </a:p>
          <a:p>
            <a:pPr marL="6350" marR="2540">
              <a:lnSpc>
                <a:spcPct val="170000"/>
              </a:lnSpc>
              <a:buSzPts val="2400"/>
            </a:pP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Nilainya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berada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di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rentang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[-1,1]</a:t>
            </a:r>
          </a:p>
          <a:p>
            <a:pPr marL="6350" marR="2540">
              <a:lnSpc>
                <a:spcPct val="170000"/>
              </a:lnSpc>
              <a:buSzPts val="2400"/>
            </a:pP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-1 paling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jelek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, 1 paling bagus, 0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menandakan</a:t>
            </a:r>
            <a:r>
              <a:rPr lang="en-US" sz="2800" dirty="0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 salah </a:t>
            </a:r>
            <a:r>
              <a:rPr lang="en-US" sz="2800" dirty="0" err="1">
                <a:latin typeface="Montserrat" panose="00000500000000000000" pitchFamily="2" charset="0"/>
                <a:ea typeface="Trebuchet MS"/>
                <a:cs typeface="Trebuchet MS"/>
                <a:sym typeface="Trebuchet MS"/>
              </a:rPr>
              <a:t>klaster</a:t>
            </a:r>
            <a:endParaRPr lang="en-US" sz="2800" dirty="0">
              <a:latin typeface="Montserrat" panose="00000500000000000000" pitchFamily="2" charset="0"/>
              <a:ea typeface="Trebuchet MS"/>
              <a:cs typeface="Trebuchet MS"/>
              <a:sym typeface="Wingdings" pitchFamily="2" charset="2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E2B6CAC-73D9-6E83-BEA1-F00E3781BB95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0C636BB9-1DDE-7A76-BB76-9DDFB9FEB53A}"/>
              </a:ext>
            </a:extLst>
          </p:cNvPr>
          <p:cNvGrpSpPr/>
          <p:nvPr/>
        </p:nvGrpSpPr>
        <p:grpSpPr>
          <a:xfrm>
            <a:off x="1577340" y="3985572"/>
            <a:ext cx="634768" cy="5225796"/>
            <a:chOff x="0" y="-47625"/>
            <a:chExt cx="334883" cy="275695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0111B04-7016-7D0F-051B-0F6C727A5275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649CC07-F969-BD39-5893-170D847DEBA8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6FEED13-9A03-6E16-8EE2-F24B424E4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4309783"/>
            <a:ext cx="3881573" cy="14061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D8251A-3D1F-D2B0-73A2-D07FF24F27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4622538"/>
            <a:ext cx="5447835" cy="8984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6CDE04-0CB2-0AAF-3221-1A3497C24F8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9720"/>
          <a:stretch/>
        </p:blipFill>
        <p:spPr>
          <a:xfrm>
            <a:off x="2658765" y="6226984"/>
            <a:ext cx="14488324" cy="28027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32365839"/>
      </p:ext>
    </p:extLst>
  </p:cSld>
  <p:clrMapOvr>
    <a:masterClrMapping/>
  </p:clrMapOvr>
  <p:transition spd="slow">
    <p:cover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E399E7-D87B-2339-7C42-5D02D83AD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BACF047-8B52-1CA2-1A2E-703FB3A635E0}"/>
              </a:ext>
            </a:extLst>
          </p:cNvPr>
          <p:cNvGrpSpPr/>
          <p:nvPr/>
        </p:nvGrpSpPr>
        <p:grpSpPr>
          <a:xfrm>
            <a:off x="15238003" y="8290589"/>
            <a:ext cx="7523780" cy="752378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502F501-0D70-40B0-C17C-E50EFD920B0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5F5DE94-3AE8-F46F-EE4C-EFCD01AC304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35FF0DE-F169-9166-2135-8ED2BD6363EA}"/>
              </a:ext>
            </a:extLst>
          </p:cNvPr>
          <p:cNvGrpSpPr/>
          <p:nvPr/>
        </p:nvGrpSpPr>
        <p:grpSpPr>
          <a:xfrm>
            <a:off x="-3724222" y="-4507687"/>
            <a:ext cx="5924489" cy="5924489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4BE9859-0D61-F42C-8B43-D7141AC70D0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FA941CA-2B67-F506-2D86-8B9B36BAEBE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C5C21DA0-FBA0-F089-54A8-BB5D27C5A36E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9F442D38-7AF6-3E7C-C1A9-40F09004DF3A}"/>
              </a:ext>
            </a:extLst>
          </p:cNvPr>
          <p:cNvSpPr txBox="1"/>
          <p:nvPr/>
        </p:nvSpPr>
        <p:spPr>
          <a:xfrm>
            <a:off x="1277237" y="3371261"/>
            <a:ext cx="15773400" cy="2544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6600" b="1" spc="19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Practice and Assignment</a:t>
            </a:r>
          </a:p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endParaRPr lang="en-US" sz="6600" b="1" spc="191" dirty="0">
              <a:solidFill>
                <a:srgbClr val="08377C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  <a:p>
            <a:pPr marL="0" lvl="0" indent="0" algn="ctr">
              <a:lnSpc>
                <a:spcPts val="6951"/>
              </a:lnSpc>
              <a:spcBef>
                <a:spcPct val="0"/>
              </a:spcBef>
            </a:pPr>
            <a:r>
              <a:rPr lang="en-US" sz="2400" spc="191" dirty="0">
                <a:solidFill>
                  <a:srgbClr val="08377C"/>
                </a:solidFill>
                <a:latin typeface="Montserrat" panose="00000500000000000000" pitchFamily="2" charset="0"/>
                <a:ea typeface="Montserrat Classic Bold"/>
                <a:cs typeface="Montserrat Classic Bold"/>
                <a:sym typeface="Montserrat Classic Bold"/>
              </a:rPr>
              <a:t>do the practice and do the assignments that are attached in the e-learning</a:t>
            </a:r>
          </a:p>
        </p:txBody>
      </p:sp>
      <p:sp>
        <p:nvSpPr>
          <p:cNvPr id="9" name="AutoShape 20">
            <a:extLst>
              <a:ext uri="{FF2B5EF4-FFF2-40B4-BE49-F238E27FC236}">
                <a16:creationId xmlns:a16="http://schemas.microsoft.com/office/drawing/2014/main" id="{953D52CB-6CCF-6735-B64F-2DF842649641}"/>
              </a:ext>
            </a:extLst>
          </p:cNvPr>
          <p:cNvSpPr/>
          <p:nvPr/>
        </p:nvSpPr>
        <p:spPr>
          <a:xfrm>
            <a:off x="4389120" y="4838700"/>
            <a:ext cx="9509760" cy="0"/>
          </a:xfrm>
          <a:prstGeom prst="line">
            <a:avLst/>
          </a:prstGeom>
          <a:ln w="38100" cap="flat">
            <a:solidFill>
              <a:srgbClr val="0837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03169"/>
      </p:ext>
    </p:extLst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D9CB6-F362-4BE6-70E8-9376BF2D2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FEFF1E9-5E3B-21ED-E895-D82661911A28}"/>
              </a:ext>
            </a:extLst>
          </p:cNvPr>
          <p:cNvGrpSpPr/>
          <p:nvPr/>
        </p:nvGrpSpPr>
        <p:grpSpPr>
          <a:xfrm>
            <a:off x="17016492" y="0"/>
            <a:ext cx="1271508" cy="10287000"/>
            <a:chOff x="0" y="0"/>
            <a:chExt cx="33488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F9DE36D-1CA3-032A-0F40-FB01839AC4FE}"/>
                </a:ext>
              </a:extLst>
            </p:cNvPr>
            <p:cNvSpPr/>
            <p:nvPr/>
          </p:nvSpPr>
          <p:spPr>
            <a:xfrm>
              <a:off x="0" y="0"/>
              <a:ext cx="334883" cy="2709333"/>
            </a:xfrm>
            <a:custGeom>
              <a:avLst/>
              <a:gdLst/>
              <a:ahLst/>
              <a:cxnLst/>
              <a:rect l="l" t="t" r="r" b="b"/>
              <a:pathLst>
                <a:path w="334883" h="2709333">
                  <a:moveTo>
                    <a:pt x="0" y="0"/>
                  </a:moveTo>
                  <a:lnTo>
                    <a:pt x="334883" y="0"/>
                  </a:lnTo>
                  <a:lnTo>
                    <a:pt x="33488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8377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14571C7-A5F5-6477-2667-903A3A80D6EF}"/>
                </a:ext>
              </a:extLst>
            </p:cNvPr>
            <p:cNvSpPr txBox="1"/>
            <p:nvPr/>
          </p:nvSpPr>
          <p:spPr>
            <a:xfrm>
              <a:off x="0" y="-47625"/>
              <a:ext cx="33488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ACB24A5-DD46-7222-03CA-34FFF1BAB37C}"/>
              </a:ext>
            </a:extLst>
          </p:cNvPr>
          <p:cNvSpPr/>
          <p:nvPr/>
        </p:nvSpPr>
        <p:spPr>
          <a:xfrm>
            <a:off x="225597" y="158093"/>
            <a:ext cx="1051640" cy="946825"/>
          </a:xfrm>
          <a:custGeom>
            <a:avLst/>
            <a:gdLst/>
            <a:ahLst/>
            <a:cxnLst/>
            <a:rect l="l" t="t" r="r" b="b"/>
            <a:pathLst>
              <a:path w="1051640" h="946825">
                <a:moveTo>
                  <a:pt x="0" y="0"/>
                </a:moveTo>
                <a:lnTo>
                  <a:pt x="1051639" y="0"/>
                </a:lnTo>
                <a:lnTo>
                  <a:pt x="1051639" y="946825"/>
                </a:lnTo>
                <a:lnTo>
                  <a:pt x="0" y="946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62" r="-396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53C7402-6F0C-520A-AF8D-99EC42A560EE}"/>
              </a:ext>
            </a:extLst>
          </p:cNvPr>
          <p:cNvGrpSpPr/>
          <p:nvPr/>
        </p:nvGrpSpPr>
        <p:grpSpPr>
          <a:xfrm>
            <a:off x="17237944" y="9368759"/>
            <a:ext cx="825370" cy="807782"/>
            <a:chOff x="0" y="0"/>
            <a:chExt cx="936822" cy="916859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E609F7F-7DCF-B8B5-C1C5-FDDA30D2E701}"/>
                </a:ext>
              </a:extLst>
            </p:cNvPr>
            <p:cNvSpPr/>
            <p:nvPr/>
          </p:nvSpPr>
          <p:spPr>
            <a:xfrm>
              <a:off x="0" y="0"/>
              <a:ext cx="936822" cy="916859"/>
            </a:xfrm>
            <a:custGeom>
              <a:avLst/>
              <a:gdLst/>
              <a:ahLst/>
              <a:cxnLst/>
              <a:rect l="l" t="t" r="r" b="b"/>
              <a:pathLst>
                <a:path w="936822" h="916859">
                  <a:moveTo>
                    <a:pt x="468411" y="0"/>
                  </a:moveTo>
                  <a:cubicBezTo>
                    <a:pt x="209715" y="0"/>
                    <a:pt x="0" y="205246"/>
                    <a:pt x="0" y="458430"/>
                  </a:cubicBezTo>
                  <a:cubicBezTo>
                    <a:pt x="0" y="711613"/>
                    <a:pt x="209715" y="916859"/>
                    <a:pt x="468411" y="916859"/>
                  </a:cubicBezTo>
                  <a:cubicBezTo>
                    <a:pt x="727107" y="916859"/>
                    <a:pt x="936822" y="711613"/>
                    <a:pt x="936822" y="458430"/>
                  </a:cubicBezTo>
                  <a:cubicBezTo>
                    <a:pt x="936822" y="205246"/>
                    <a:pt x="727107" y="0"/>
                    <a:pt x="468411" y="0"/>
                  </a:cubicBezTo>
                  <a:close/>
                </a:path>
              </a:pathLst>
            </a:custGeom>
            <a:solidFill>
              <a:srgbClr val="0063A1"/>
            </a:solidFill>
            <a:ln w="66675" cap="sq">
              <a:solidFill>
                <a:srgbClr val="FDFDF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29B0794-8037-8164-3419-DBE92A41ACD4}"/>
                </a:ext>
              </a:extLst>
            </p:cNvPr>
            <p:cNvSpPr txBox="1"/>
            <p:nvPr/>
          </p:nvSpPr>
          <p:spPr>
            <a:xfrm>
              <a:off x="87827" y="47856"/>
              <a:ext cx="761168" cy="783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dirty="0">
                  <a:solidFill>
                    <a:srgbClr val="FDFDFD"/>
                  </a:solidFill>
                  <a:latin typeface="Open Sans Extra Bold"/>
                  <a:ea typeface="Open Sans Extra Bold"/>
                  <a:cs typeface="Open Sans Extra Bold"/>
                  <a:sym typeface="Open Sans Extra Bold"/>
                </a:rPr>
                <a:t>21</a:t>
              </a:r>
            </a:p>
          </p:txBody>
        </p:sp>
      </p:grpSp>
      <p:sp>
        <p:nvSpPr>
          <p:cNvPr id="10" name="TextBox 8">
            <a:extLst>
              <a:ext uri="{FF2B5EF4-FFF2-40B4-BE49-F238E27FC236}">
                <a16:creationId xmlns:a16="http://schemas.microsoft.com/office/drawing/2014/main" id="{97E01675-4D66-4F94-805A-F00AC34F87CF}"/>
              </a:ext>
            </a:extLst>
          </p:cNvPr>
          <p:cNvSpPr txBox="1"/>
          <p:nvPr/>
        </p:nvSpPr>
        <p:spPr>
          <a:xfrm>
            <a:off x="6083684" y="1257300"/>
            <a:ext cx="5211826" cy="933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311"/>
              </a:lnSpc>
              <a:spcBef>
                <a:spcPct val="0"/>
              </a:spcBef>
            </a:pPr>
            <a:r>
              <a:rPr lang="en-US" sz="6092" b="1" spc="201" dirty="0">
                <a:solidFill>
                  <a:srgbClr val="08377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Reference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46B2E8D7-FBE4-16BA-BBCF-92EE3826DAC6}"/>
              </a:ext>
            </a:extLst>
          </p:cNvPr>
          <p:cNvSpPr txBox="1"/>
          <p:nvPr/>
        </p:nvSpPr>
        <p:spPr>
          <a:xfrm>
            <a:off x="767595" y="2919347"/>
            <a:ext cx="15844005" cy="2747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Font typeface="+mj-lt"/>
              <a:buAutoNum type="arabicPeriod"/>
            </a:pPr>
            <a:r>
              <a:rPr lang="en-US" sz="2800" b="0" i="0" dirty="0">
                <a:solidFill>
                  <a:srgbClr val="074364"/>
                </a:solidFill>
                <a:effectLst/>
                <a:latin typeface="Raleway" pitchFamily="2" charset="0"/>
                <a:hlinkClick r:id="rId3"/>
              </a:rPr>
              <a:t>https://www.dicoding.com/blog/supervised-vs-unsupervised-learning-mana-yang-sesuai-untuk-data-kamu/</a:t>
            </a:r>
            <a:endParaRPr lang="en-US" sz="2800" b="0" i="0" dirty="0">
              <a:solidFill>
                <a:srgbClr val="074364"/>
              </a:solidFill>
              <a:effectLst/>
              <a:latin typeface="Raleway" pitchFamily="2" charset="0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Font typeface="+mj-lt"/>
              <a:buAutoNum type="arabicPeriod"/>
            </a:pPr>
            <a:r>
              <a:rPr lang="en-US" sz="2800" b="0" dirty="0">
                <a:solidFill>
                  <a:srgbClr val="074364"/>
                </a:solidFill>
                <a:effectLst/>
                <a:latin typeface="Raleway" pitchFamily="2" charset="0"/>
                <a:hlinkClick r:id="rId4"/>
              </a:rPr>
              <a:t>https://tyangluhtu.wordpress.com/2013/04/19/langkah-umum-principal-component-analysis/</a:t>
            </a:r>
            <a:endParaRPr lang="en-US" sz="2800" dirty="0">
              <a:solidFill>
                <a:srgbClr val="074364"/>
              </a:solidFill>
              <a:latin typeface="Raleway" pitchFamily="2" charset="0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  <a:buFont typeface="+mj-lt"/>
              <a:buAutoNum type="arabicPeriod"/>
            </a:pPr>
            <a:endParaRPr lang="en-US" sz="2800" b="0" dirty="0">
              <a:solidFill>
                <a:srgbClr val="074364"/>
              </a:solidFill>
              <a:effectLst/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454684"/>
      </p:ext>
    </p:extLst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65651E-1151-844A-6B1B-56FCF577A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DE8CEC6-418C-E4AF-357F-3805B8E55B11}"/>
              </a:ext>
            </a:extLst>
          </p:cNvPr>
          <p:cNvGrpSpPr/>
          <p:nvPr/>
        </p:nvGrpSpPr>
        <p:grpSpPr>
          <a:xfrm>
            <a:off x="1" y="9791700"/>
            <a:ext cx="18288000" cy="495300"/>
            <a:chOff x="0" y="0"/>
            <a:chExt cx="6110362" cy="26513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584C945-D063-D83F-EF83-BCD4040DF6E2}"/>
                </a:ext>
              </a:extLst>
            </p:cNvPr>
            <p:cNvSpPr/>
            <p:nvPr/>
          </p:nvSpPr>
          <p:spPr>
            <a:xfrm>
              <a:off x="0" y="0"/>
              <a:ext cx="6110362" cy="265132"/>
            </a:xfrm>
            <a:custGeom>
              <a:avLst/>
              <a:gdLst/>
              <a:ahLst/>
              <a:cxnLst/>
              <a:rect l="l" t="t" r="r" b="b"/>
              <a:pathLst>
                <a:path w="6110362" h="265132">
                  <a:moveTo>
                    <a:pt x="0" y="0"/>
                  </a:moveTo>
                  <a:lnTo>
                    <a:pt x="6110362" y="0"/>
                  </a:lnTo>
                  <a:lnTo>
                    <a:pt x="6110362" y="265132"/>
                  </a:lnTo>
                  <a:lnTo>
                    <a:pt x="0" y="26513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15E530F-4D57-E19B-13D6-FA0D4A75B307}"/>
                </a:ext>
              </a:extLst>
            </p:cNvPr>
            <p:cNvSpPr txBox="1"/>
            <p:nvPr/>
          </p:nvSpPr>
          <p:spPr>
            <a:xfrm>
              <a:off x="0" y="-38100"/>
              <a:ext cx="6110362" cy="303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E692EF2-E34C-51B4-8577-1DDACBC2C2F9}"/>
              </a:ext>
            </a:extLst>
          </p:cNvPr>
          <p:cNvGrpSpPr/>
          <p:nvPr/>
        </p:nvGrpSpPr>
        <p:grpSpPr>
          <a:xfrm>
            <a:off x="1" y="0"/>
            <a:ext cx="18288000" cy="566476"/>
            <a:chOff x="0" y="0"/>
            <a:chExt cx="6110362" cy="49365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DD44FC5-F6E0-D90E-A112-81E802B58314}"/>
                </a:ext>
              </a:extLst>
            </p:cNvPr>
            <p:cNvSpPr/>
            <p:nvPr/>
          </p:nvSpPr>
          <p:spPr>
            <a:xfrm>
              <a:off x="0" y="0"/>
              <a:ext cx="6110362" cy="493651"/>
            </a:xfrm>
            <a:custGeom>
              <a:avLst/>
              <a:gdLst/>
              <a:ahLst/>
              <a:cxnLst/>
              <a:rect l="l" t="t" r="r" b="b"/>
              <a:pathLst>
                <a:path w="6110362" h="493651">
                  <a:moveTo>
                    <a:pt x="0" y="0"/>
                  </a:moveTo>
                  <a:lnTo>
                    <a:pt x="6110362" y="0"/>
                  </a:lnTo>
                  <a:lnTo>
                    <a:pt x="6110362" y="493651"/>
                  </a:lnTo>
                  <a:lnTo>
                    <a:pt x="0" y="493651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93D5E564-4AEC-6CB8-5F3D-4BA2472F3C31}"/>
                </a:ext>
              </a:extLst>
            </p:cNvPr>
            <p:cNvSpPr txBox="1"/>
            <p:nvPr/>
          </p:nvSpPr>
          <p:spPr>
            <a:xfrm>
              <a:off x="0" y="-38100"/>
              <a:ext cx="6110362" cy="531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5A1B7F6B-1D3B-6D68-F767-8A297E98107D}"/>
              </a:ext>
            </a:extLst>
          </p:cNvPr>
          <p:cNvSpPr txBox="1"/>
          <p:nvPr/>
        </p:nvSpPr>
        <p:spPr>
          <a:xfrm>
            <a:off x="4734204" y="3627935"/>
            <a:ext cx="8819592" cy="1771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510"/>
              </a:lnSpc>
              <a:spcBef>
                <a:spcPct val="0"/>
              </a:spcBef>
            </a:pPr>
            <a:r>
              <a:rPr lang="en-US" sz="10364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563200179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2272</TotalTime>
  <Words>1129</Words>
  <Application>Microsoft Office PowerPoint</Application>
  <PresentationFormat>Custom</PresentationFormat>
  <Paragraphs>155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Montserrat Classic Bold</vt:lpstr>
      <vt:lpstr>Arial</vt:lpstr>
      <vt:lpstr>Open Sans</vt:lpstr>
      <vt:lpstr>Georgia</vt:lpstr>
      <vt:lpstr>Calibri</vt:lpstr>
      <vt:lpstr>Montserrat</vt:lpstr>
      <vt:lpstr>Montserrat Classic</vt:lpstr>
      <vt:lpstr>Raleway</vt:lpstr>
      <vt:lpstr>Open Sans Extra Bold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</dc:title>
  <dc:creator>M S I</dc:creator>
  <cp:lastModifiedBy>Naura Nazhifah</cp:lastModifiedBy>
  <cp:revision>28</cp:revision>
  <dcterms:created xsi:type="dcterms:W3CDTF">2006-08-16T00:00:00Z</dcterms:created>
  <dcterms:modified xsi:type="dcterms:W3CDTF">2025-05-17T10:41:29Z</dcterms:modified>
  <dc:identifier>DAGWy-tLfhM</dc:identifier>
</cp:coreProperties>
</file>